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  <p:sldMasterId id="2147483653" r:id="rId3"/>
  </p:sldMasterIdLst>
  <p:notesMasterIdLst>
    <p:notesMasterId r:id="rId64"/>
  </p:notesMasterIdLst>
  <p:handoutMasterIdLst>
    <p:handoutMasterId r:id="rId65"/>
  </p:handoutMasterIdLst>
  <p:sldIdLst>
    <p:sldId id="256" r:id="rId4"/>
    <p:sldId id="257" r:id="rId5"/>
    <p:sldId id="258" r:id="rId6"/>
    <p:sldId id="287" r:id="rId7"/>
    <p:sldId id="288" r:id="rId8"/>
    <p:sldId id="289" r:id="rId9"/>
    <p:sldId id="290" r:id="rId10"/>
    <p:sldId id="291" r:id="rId11"/>
    <p:sldId id="296" r:id="rId12"/>
    <p:sldId id="297" r:id="rId13"/>
    <p:sldId id="298" r:id="rId14"/>
    <p:sldId id="299" r:id="rId15"/>
    <p:sldId id="300" r:id="rId16"/>
    <p:sldId id="302" r:id="rId17"/>
    <p:sldId id="305" r:id="rId18"/>
    <p:sldId id="308" r:id="rId19"/>
    <p:sldId id="309" r:id="rId20"/>
    <p:sldId id="736" r:id="rId21"/>
    <p:sldId id="315" r:id="rId22"/>
    <p:sldId id="316" r:id="rId23"/>
    <p:sldId id="739" r:id="rId24"/>
    <p:sldId id="740" r:id="rId25"/>
    <p:sldId id="741" r:id="rId26"/>
    <p:sldId id="317" r:id="rId27"/>
    <p:sldId id="319" r:id="rId28"/>
    <p:sldId id="320" r:id="rId29"/>
    <p:sldId id="321" r:id="rId30"/>
    <p:sldId id="322" r:id="rId31"/>
    <p:sldId id="737" r:id="rId32"/>
    <p:sldId id="324" r:id="rId33"/>
    <p:sldId id="325" r:id="rId34"/>
    <p:sldId id="326" r:id="rId35"/>
    <p:sldId id="327" r:id="rId36"/>
    <p:sldId id="745" r:id="rId37"/>
    <p:sldId id="265" r:id="rId38"/>
    <p:sldId id="747" r:id="rId39"/>
    <p:sldId id="292" r:id="rId40"/>
    <p:sldId id="293" r:id="rId41"/>
    <p:sldId id="294" r:id="rId42"/>
    <p:sldId id="735" r:id="rId43"/>
    <p:sldId id="311" r:id="rId44"/>
    <p:sldId id="312" r:id="rId45"/>
    <p:sldId id="313" r:id="rId46"/>
    <p:sldId id="314" r:id="rId47"/>
    <p:sldId id="295" r:id="rId48"/>
    <p:sldId id="742" r:id="rId49"/>
    <p:sldId id="301" r:id="rId50"/>
    <p:sldId id="743" r:id="rId51"/>
    <p:sldId id="303" r:id="rId52"/>
    <p:sldId id="304" r:id="rId53"/>
    <p:sldId id="306" r:id="rId54"/>
    <p:sldId id="307" r:id="rId55"/>
    <p:sldId id="310" r:id="rId56"/>
    <p:sldId id="744" r:id="rId57"/>
    <p:sldId id="746" r:id="rId58"/>
    <p:sldId id="733" r:id="rId59"/>
    <p:sldId id="328" r:id="rId60"/>
    <p:sldId id="329" r:id="rId61"/>
    <p:sldId id="330" r:id="rId62"/>
    <p:sldId id="331" r:id="rId6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32" userDrawn="1">
          <p15:clr>
            <a:srgbClr val="000000"/>
          </p15:clr>
        </p15:guide>
        <p15:guide id="2" pos="3840" userDrawn="1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69" roundtripDataSignature="AMtx7mg0nrocm0Z62gqA7XT9Y7BV9heC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23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7" Type="http://schemas.openxmlformats.org/officeDocument/2006/relationships/slide" Target="slides/slide4.xml"/><Relationship Id="rId71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microsoft.com/office/2016/11/relationships/changesInfo" Target="changesInfos/changesInfo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notesMaster" Target="notesMasters/notesMaster1.xml"/><Relationship Id="rId69" Type="http://customschemas.google.com/relationships/presentationmetadata" Target="meta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handoutMaster" Target="handoutMasters/handoutMaster1.xml"/><Relationship Id="rId73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o viet" userId="759546f8-a692-42db-84b1-8d919408b887" providerId="ADAL" clId="{910CBCD4-A795-418D-935E-C356D333AA63}"/>
    <pc:docChg chg="custSel modSld modMainMaster">
      <pc:chgData name="ngo viet" userId="759546f8-a692-42db-84b1-8d919408b887" providerId="ADAL" clId="{910CBCD4-A795-418D-935E-C356D333AA63}" dt="2026-01-08T07:52:17.928" v="26" actId="478"/>
      <pc:docMkLst>
        <pc:docMk/>
      </pc:docMkLst>
      <pc:sldMasterChg chg="delSp modSp mod">
        <pc:chgData name="ngo viet" userId="759546f8-a692-42db-84b1-8d919408b887" providerId="ADAL" clId="{910CBCD4-A795-418D-935E-C356D333AA63}" dt="2026-01-08T07:52:01.524" v="16" actId="20577"/>
        <pc:sldMasterMkLst>
          <pc:docMk/>
          <pc:sldMasterMk cId="0" sldId="2147483648"/>
        </pc:sldMasterMkLst>
        <pc:spChg chg="del">
          <ac:chgData name="ngo viet" userId="759546f8-a692-42db-84b1-8d919408b887" providerId="ADAL" clId="{910CBCD4-A795-418D-935E-C356D333AA63}" dt="2026-01-08T07:51:45.945" v="4" actId="478"/>
          <ac:spMkLst>
            <pc:docMk/>
            <pc:sldMasterMk cId="0" sldId="2147483648"/>
            <ac:spMk id="12" creationId="{00000000-0000-0000-0000-000000000000}"/>
          </ac:spMkLst>
        </pc:spChg>
        <pc:spChg chg="mod">
          <ac:chgData name="ngo viet" userId="759546f8-a692-42db-84b1-8d919408b887" providerId="ADAL" clId="{910CBCD4-A795-418D-935E-C356D333AA63}" dt="2026-01-08T07:52:01.524" v="16" actId="20577"/>
          <ac:spMkLst>
            <pc:docMk/>
            <pc:sldMasterMk cId="0" sldId="2147483648"/>
            <ac:spMk id="15" creationId="{00000000-0000-0000-0000-000000000000}"/>
          </ac:spMkLst>
        </pc:spChg>
        <pc:picChg chg="del mod">
          <ac:chgData name="ngo viet" userId="759546f8-a692-42db-84b1-8d919408b887" providerId="ADAL" clId="{910CBCD4-A795-418D-935E-C356D333AA63}" dt="2026-01-08T07:51:44.223" v="3" actId="478"/>
          <ac:picMkLst>
            <pc:docMk/>
            <pc:sldMasterMk cId="0" sldId="2147483648"/>
            <ac:picMk id="16" creationId="{00000000-0000-0000-0000-000000000000}"/>
          </ac:picMkLst>
        </pc:picChg>
      </pc:sldMasterChg>
      <pc:sldMasterChg chg="delSp modSp mod">
        <pc:chgData name="ngo viet" userId="759546f8-a692-42db-84b1-8d919408b887" providerId="ADAL" clId="{910CBCD4-A795-418D-935E-C356D333AA63}" dt="2026-01-08T07:52:17.928" v="26" actId="478"/>
        <pc:sldMasterMkLst>
          <pc:docMk/>
          <pc:sldMasterMk cId="0" sldId="2147483650"/>
        </pc:sldMasterMkLst>
        <pc:spChg chg="mod">
          <ac:chgData name="ngo viet" userId="759546f8-a692-42db-84b1-8d919408b887" providerId="ADAL" clId="{910CBCD4-A795-418D-935E-C356D333AA63}" dt="2026-01-08T07:52:15.666" v="25" actId="20577"/>
          <ac:spMkLst>
            <pc:docMk/>
            <pc:sldMasterMk cId="0" sldId="2147483650"/>
            <ac:spMk id="24" creationId="{00000000-0000-0000-0000-000000000000}"/>
          </ac:spMkLst>
        </pc:spChg>
        <pc:spChg chg="del">
          <ac:chgData name="ngo viet" userId="759546f8-a692-42db-84b1-8d919408b887" providerId="ADAL" clId="{910CBCD4-A795-418D-935E-C356D333AA63}" dt="2026-01-08T07:52:17.928" v="26" actId="478"/>
          <ac:spMkLst>
            <pc:docMk/>
            <pc:sldMasterMk cId="0" sldId="2147483650"/>
            <ac:spMk id="26" creationId="{00000000-0000-0000-0000-000000000000}"/>
          </ac:spMkLst>
        </pc:spChg>
        <pc:picChg chg="del">
          <ac:chgData name="ngo viet" userId="759546f8-a692-42db-84b1-8d919408b887" providerId="ADAL" clId="{910CBCD4-A795-418D-935E-C356D333AA63}" dt="2026-01-08T07:52:08.020" v="17" actId="478"/>
          <ac:picMkLst>
            <pc:docMk/>
            <pc:sldMasterMk cId="0" sldId="2147483650"/>
            <ac:picMk id="23" creationId="{00000000-0000-0000-0000-000000000000}"/>
          </ac:picMkLst>
        </pc:pic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8D2A9E-4F0D-4163-863B-F4C4EB93ACE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B7001-7F0D-4932-9D83-16454C0BE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9544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" name="Google Shape;1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E6CE5971-ADCA-AF43-B9E4-80522D139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B6DBE081-5357-B61E-AA8A-C77C2F9F7F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06D1CDA6-0C6B-B034-529F-7DCC9460E1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46253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5FCB496A-002E-8E55-264F-41B7F5F6C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1BE25FA8-AF9E-915F-5A04-F782F8A749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837895C7-CDF9-93BA-6542-581C7127E8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0707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9EC0C061-FB4B-C6BC-04B2-31B504BAF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E3978B4D-32E5-1937-C3C8-8BBDBF8A82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0E60EEC1-AAEB-7567-35BD-696E96C3D7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0279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5FCC9C0A-7CD6-BE4A-8693-70AA4F177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44419336-0AB4-A322-4F51-95008120B8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3E4D6537-6DCD-8811-9FC7-CE8243F49D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3506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4BED20D1-B97A-B77D-A388-CABE53F18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706B27B7-C5C0-07AD-7A7D-B4671A3A09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0BE175D0-0D70-E962-F4D6-5F3D90B672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3643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DEAB2311-6251-212F-9FD4-8FF612B0B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333DBEED-2B86-431D-AF0E-A5426AED1A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B5A29197-97CF-72BF-BD79-294CF4CBD7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80313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23CDB415-4AE0-CE87-6194-DAF5630C6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A1EF2880-8E4C-923E-4DF5-F4555CF24C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D7BBB411-B372-206E-DDCB-DD5A8B11A6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5887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DF016F96-084E-85DD-BE59-7609FD280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85048AF6-FF7E-C7A5-75A0-15D3B8B252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959A8401-CBD7-54DE-673B-696DB101A2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5042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32F4BF2A-B713-6740-81B2-A3EC261B0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6F19E4DA-96A4-A8B8-A775-7CEA2683DC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508654AB-EC18-3B62-6C2A-46E26FDEB1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24211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12FD580E-963B-F945-8942-F75A197A7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DBC07A8B-4240-9ED9-B507-502B693D69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C5B7A0DF-663F-3583-D322-C4EF4572EB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83331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37EC04C3-87DB-00BF-C322-240E82938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9241BFC4-4DAA-366A-EBB6-CDD63A09B0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DEA50EB0-B53A-7ADE-8398-DFF4C0063E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5367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2EE3CD22-B7D9-4B2D-2BE0-E7F7B1042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1FDE1542-86D1-7A67-EA65-0B61443954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05A40E43-AE8E-D139-527E-6A18FECE16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55660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EBBA8044-14EE-10AE-2DFA-023DEAB87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CF2C63A9-8CD0-00CB-F1B3-9EF440E5E2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BC3567C0-0369-6850-285D-31A6EBAEAB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28040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233CE419-557E-D9D1-93F7-BD7D0422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07047446-5245-1239-7064-2A7D1BF1C2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A778E7B4-9EDA-EA86-AE23-E418AFFF54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53648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2EC7514F-2934-CC3A-86E1-9C9953D30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6A50FA79-E041-D727-3F4E-6FACFDB3C1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BC59D0AF-7ED8-552B-CA36-36F07BB929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41299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E1D2B115-4B36-2159-5C13-0148DCE28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42621CD4-B39D-362A-AD90-467BFC6E15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5F8EC091-3FC9-CA36-33E4-0CA9CE13DC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13388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095704AB-88B9-21AC-7D91-1214A96E6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946FB90D-2DA2-858A-22ED-1E298B175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D6A9449C-1704-E4C5-0E2B-CEB65044B0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93206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06D376E1-EAFC-9519-BE6B-85172E415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58BB4AAE-2C0E-5260-D899-ED28D44775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896C3183-B5A9-803D-33D9-4E511D154A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87759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BBDA6BA6-1437-A4CB-9734-2090F9BB1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C6326B3A-9F0B-BF95-5C1C-85A854DBE7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C8D15AA6-DCB6-FD7E-E2A4-708E30337F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55619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8F635166-921B-AF21-9024-7F7411CB5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8BC667FF-4ABF-2089-AD4A-D464D76479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65F87C2F-F186-5D34-90D4-A22A8E5144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74045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DFDF4202-454D-6714-C6F9-41BCA17A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DF55E829-E651-E63E-D079-313C8302E1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FF7067E7-2281-7863-220C-6F939A8482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67157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336A9C18-8F56-23E8-5824-A6EC10F29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5F052920-E97B-C7C9-81C2-907F5D8B0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F74BF2BA-6C66-6801-41B9-99028C8911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56598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83901A86-528C-70E9-42F8-0EB9863C0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227497FA-BD5E-F006-9765-EF64DDEA21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51DE9559-DB50-0E9E-4DAC-6BDAEAB1DC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17868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B4349B48-4C28-8CD9-DBF2-6CC575EF3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E7023239-1B9A-5004-2022-72AAC4A07A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A4ED7EE7-605C-7B50-650B-7E2707C0E3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6433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55FC5442-3F1A-B233-83F0-E3DCD7C5E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3CD0B5D3-E5C2-8DCC-183F-A26CC927AA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904756C5-AE69-99A3-A818-B7800F4D80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33750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54EC025C-5B57-7C7C-54BF-ED756E81E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B7362B50-DBC7-A460-BBF0-DF82D13AAB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14C5DE60-3A6F-DEA8-B90A-19C2CF8536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42872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C94494A7-1BEE-26BE-E5A4-67C57F76C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569A5D3B-D07F-CFBC-519A-2492405142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3E8D5057-8D31-F176-AD55-98E754B34B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67331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D0A37325-BE9F-2177-36CE-C3753B037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195AC107-BB0A-187A-6684-50A467B44D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BFB29A34-97C9-360F-7696-AD29F39F51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74287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DCCC2A9B-786A-D758-7989-6B1C4839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A1A87591-78D6-B03C-6FA5-7E8A56B8E2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9956BDD8-F81C-54F3-DF8E-4CB4CD7E2D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27954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DBC496B1-C586-035B-A0C9-825B13470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6DADBC64-C437-E8A7-DD08-DB9C1D66E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26295DF6-D920-A816-B969-8CFA578DB0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08312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883391B6-9E68-5DB0-57FA-D6F3CEF0A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1760D52C-1ABA-AF87-AE81-ED7B22B0F7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FEF51853-CE57-B3D5-140D-015270E986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47479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84C4BFC5-01A8-FE48-F55D-67248A455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3E26DDB0-1828-330E-8823-E71CCC53D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9D3822CD-F60B-A2CA-B91E-48650D4690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28961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88FC8669-562A-2A14-77D2-C358F6247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E688C942-A61F-5007-DFB1-6B4DC6D842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B2B9F669-8E00-61DB-C2FA-CD3643203D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27810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F173AFD6-5BA4-B826-D0EE-9A5A6581B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344F3859-1B0B-462D-901B-DEE7B009FE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6AC39A44-95B0-276D-A6F9-F64ACCA286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95138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615205F8-AA8A-97FD-98AA-2937C6189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F52DA6A7-5441-297B-C45F-5BE1E5601D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9EFFF7D0-A519-3BB9-6862-FD6D8F14D4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36613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0A965EC3-CE75-F94C-73A7-6F92F7282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F1217629-4BCC-B8D7-D464-4C710123E3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0C645180-B32C-2375-1957-F23828224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08789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29A8AB40-A07F-22D5-C77C-A0764AC58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64395E19-1F14-988D-ED60-0EE0C1C361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26F22025-0E12-9068-12E3-B868ED49C3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778807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D8281504-8235-4762-DDF2-5C2BCAE28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06FFFCD9-5B8A-BAAC-E36B-CFB380993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2457008D-6BE5-8AFE-BC7B-6D8A34746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63702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C0CF8339-2A36-1D5E-9C0C-5ED1794E5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ECF1B4B7-598F-1488-92A1-9E8916A41E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1ACF3BE9-E829-EB25-1616-2CE8BC8AA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51605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12FD580E-963B-F945-8942-F75A197A7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DBC07A8B-4240-9ED9-B507-502B693D69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C5B7A0DF-663F-3583-D322-C4EF4572EB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833311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1160E923-5EF9-1F93-0966-F59FE5787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FAC2A582-1986-EC23-30E0-5C8551B19E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BDB83A66-5B6C-1075-E7B8-877BDFABB6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358905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37EC04C3-87DB-00BF-C322-240E82938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9241BFC4-4DAA-366A-EBB6-CDD63A09B0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DEA50EB0-B53A-7ADE-8398-DFF4C0063E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536785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B478B72F-38FC-A363-B0E1-F4E7FA9C3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7297E684-BA81-E6D6-E77F-93DDEEFB83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4F2CBBE8-7C03-200D-E1D3-BA9A893A61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754710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60A14ED2-2BA0-FE5D-22E2-73D28895D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B2F0D9C1-5844-DA06-097C-0D59D4AD03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41E574B6-FB07-6525-43B1-A54385BC8E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890821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7368BB66-228A-0783-F8B0-3807E75DF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D7DD5620-A9B4-D94E-7FB2-55BED614C3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A1A2166D-49A2-D06B-AD49-F562B65225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857940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AB610F35-ACF6-E168-DC42-15551C944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A78D2F8E-9829-B32C-7BDE-E6F61F12E2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3FAAD1D1-6051-ABB7-8497-38ABE04DC3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36346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6685FDD9-C464-E734-E765-55826F8CE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9821ACE4-8B35-FD5E-90FE-9BD86D0C1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6A2503D0-DDEC-2089-4DEF-2ED704045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9116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userDrawn="1">
  <p:cSld name="1_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508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914400" y="274638"/>
            <a:ext cx="106680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914400" y="990600"/>
            <a:ext cx="10668000" cy="513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vi-VN"/>
              <a:t>Ngô Ngọc Đại Việt</a:t>
            </a:r>
            <a:endParaRPr lang="en-US"/>
          </a:p>
        </p:txBody>
      </p:sp>
      <p:sp>
        <p:nvSpPr>
          <p:cNvPr id="38" name="Google Shape;38;p14"/>
          <p:cNvSpPr txBox="1">
            <a:spLocks noGrp="1"/>
          </p:cNvSpPr>
          <p:nvPr>
            <p:ph type="sldNum" idx="12"/>
          </p:nvPr>
        </p:nvSpPr>
        <p:spPr>
          <a:xfrm>
            <a:off x="9347200" y="64928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80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 rot="5400000">
            <a:off x="7285039" y="1828801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800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5962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2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0" y="381000"/>
            <a:ext cx="12175067" cy="914400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1"/>
          <p:cNvSpPr/>
          <p:nvPr/>
        </p:nvSpPr>
        <p:spPr>
          <a:xfrm>
            <a:off x="0" y="6346826"/>
            <a:ext cx="12175067" cy="511175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 txBox="1"/>
          <p:nvPr/>
        </p:nvSpPr>
        <p:spPr>
          <a:xfrm>
            <a:off x="4470400" y="6096001"/>
            <a:ext cx="38608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 txBox="1"/>
          <p:nvPr/>
        </p:nvSpPr>
        <p:spPr>
          <a:xfrm>
            <a:off x="4563686" y="6453188"/>
            <a:ext cx="7628313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ACB"/>
              </a:buClr>
              <a:buSzPts val="1400"/>
              <a:buFont typeface="Arial"/>
              <a:buNone/>
            </a:pPr>
            <a:r>
              <a:rPr lang="en-US" sz="1400" b="1" i="0" u="none" dirty="0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Ho Chi Minh City, </a:t>
            </a:r>
            <a:r>
              <a:rPr lang="vi-VN" sz="1400" b="1" i="0" u="none" dirty="0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400" b="1" i="0" u="none" dirty="0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5/</a:t>
            </a:r>
            <a:r>
              <a:rPr lang="vi-VN" sz="1400" b="1" i="0" u="none" dirty="0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r>
              <a:rPr lang="en-US" sz="1400" b="1" i="0" u="none" dirty="0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/2025</a:t>
            </a:r>
            <a:endParaRPr sz="1400" dirty="0"/>
          </a:p>
        </p:txBody>
      </p:sp>
      <p:sp>
        <p:nvSpPr>
          <p:cNvPr id="15" name="Google Shape;15;p11"/>
          <p:cNvSpPr txBox="1"/>
          <p:nvPr/>
        </p:nvSpPr>
        <p:spPr>
          <a:xfrm>
            <a:off x="0" y="2438400"/>
            <a:ext cx="12192000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2000"/>
              <a:buFont typeface="Arial"/>
              <a:buNone/>
            </a:pPr>
            <a:r>
              <a:rPr lang="vi-VN" sz="28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GB" sz="28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esign</a:t>
            </a:r>
            <a:r>
              <a:rPr lang="en-GB" sz="28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of a 12-bit </a:t>
            </a:r>
            <a:r>
              <a:rPr lang="vi-VN" sz="28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500MSPS</a:t>
            </a:r>
            <a:r>
              <a:rPr lang="en-GB" sz="28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digital-to-</a:t>
            </a:r>
            <a:r>
              <a:rPr lang="en-GB" sz="28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analog</a:t>
            </a:r>
            <a:r>
              <a:rPr lang="en-GB" sz="28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converter </a:t>
            </a:r>
            <a:br>
              <a:rPr lang="en-GB" sz="28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8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for high-speed application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n-GB" sz="2000" b="1" i="0" u="none" dirty="0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Viet Ngo</a:t>
            </a:r>
            <a:endParaRPr lang="en-US" sz="1400" dirty="0"/>
          </a:p>
        </p:txBody>
      </p:sp>
      <p:sp>
        <p:nvSpPr>
          <p:cNvPr id="19" name="Google Shape;19;p11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508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/>
        </p:nvSpPr>
        <p:spPr>
          <a:xfrm>
            <a:off x="6617045" y="6520051"/>
            <a:ext cx="2032000" cy="338137"/>
          </a:xfrm>
          <a:prstGeom prst="rect">
            <a:avLst/>
          </a:prstGeom>
          <a:noFill/>
          <a:ln>
            <a:noFill/>
          </a:ln>
          <a:effectLst>
            <a:outerShdw blurRad="63500" dist="17960" dir="2700000">
              <a:srgbClr val="2F4D7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sz="1600" b="1" i="0" u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Viet Ngo</a:t>
            </a:r>
            <a:endParaRPr sz="1400" dirty="0"/>
          </a:p>
        </p:txBody>
      </p:sp>
      <p:cxnSp>
        <p:nvCxnSpPr>
          <p:cNvPr id="25" name="Google Shape;25;p13"/>
          <p:cNvCxnSpPr/>
          <p:nvPr/>
        </p:nvCxnSpPr>
        <p:spPr>
          <a:xfrm>
            <a:off x="203200" y="990600"/>
            <a:ext cx="11785600" cy="0"/>
          </a:xfrm>
          <a:prstGeom prst="straightConnector1">
            <a:avLst/>
          </a:prstGeom>
          <a:noFill/>
          <a:ln w="50800" cap="flat" cmpd="sng">
            <a:solidFill>
              <a:srgbClr val="0070C0"/>
            </a:solidFill>
            <a:prstDash val="solid"/>
            <a:bevel/>
            <a:headEnd type="diamond" w="med" len="med"/>
            <a:tailEnd type="none" w="med" len="med"/>
          </a:ln>
        </p:spPr>
      </p:cxnSp>
      <p:sp>
        <p:nvSpPr>
          <p:cNvPr id="27" name="Google Shape;27;p13"/>
          <p:cNvSpPr txBox="1"/>
          <p:nvPr/>
        </p:nvSpPr>
        <p:spPr>
          <a:xfrm>
            <a:off x="9629947" y="6506369"/>
            <a:ext cx="1617173" cy="338137"/>
          </a:xfrm>
          <a:prstGeom prst="rect">
            <a:avLst/>
          </a:prstGeom>
          <a:noFill/>
          <a:ln>
            <a:noFill/>
          </a:ln>
          <a:effectLst>
            <a:outerShdw blurRad="63500" dist="17960" dir="2700000">
              <a:srgbClr val="2F4D7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vi-VN" sz="1600" b="0" i="0" u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600" b="0" i="0" u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5/</a:t>
            </a:r>
            <a:r>
              <a:rPr lang="vi-VN" sz="1600" b="0" i="0" u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r>
              <a:rPr lang="en-US" sz="1600" b="0" i="0" u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/2025</a:t>
            </a:r>
            <a:endParaRPr sz="1400" dirty="0"/>
          </a:p>
        </p:txBody>
      </p:sp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9347200" y="64928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 dirty="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7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3.png"/><Relationship Id="rId5" Type="http://schemas.openxmlformats.org/officeDocument/2006/relationships/image" Target="../media/image39.png"/><Relationship Id="rId10" Type="http://schemas.openxmlformats.org/officeDocument/2006/relationships/image" Target="../media/image42.png"/><Relationship Id="rId4" Type="http://schemas.openxmlformats.org/officeDocument/2006/relationships/image" Target="../media/image38.png"/><Relationship Id="rId9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ietro-caragiulo/survey-DAC" TargetMode="Externa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72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4.png"/><Relationship Id="rId10" Type="http://schemas.openxmlformats.org/officeDocument/2006/relationships/image" Target="../media/image81.png"/><Relationship Id="rId4" Type="http://schemas.openxmlformats.org/officeDocument/2006/relationships/image" Target="../media/image73.png"/><Relationship Id="rId9" Type="http://schemas.openxmlformats.org/officeDocument/2006/relationships/image" Target="../media/image8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eg"/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"/>
          <p:cNvSpPr txBox="1"/>
          <p:nvPr/>
        </p:nvSpPr>
        <p:spPr>
          <a:xfrm>
            <a:off x="11715564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000"/>
            </a:pPr>
            <a:fld id="{00000000-1234-1234-1234-123412341234}" type="slidenum">
              <a:rPr lang="en-US" sz="1000">
                <a:solidFill>
                  <a:schemeClr val="dk1"/>
                </a:solidFill>
              </a:rPr>
              <a:pPr algn="r">
                <a:buClr>
                  <a:schemeClr val="dk1"/>
                </a:buClr>
                <a:buSzPts val="1000"/>
              </a:pPr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"/>
          <p:cNvSpPr txBox="1">
            <a:spLocks noGrp="1"/>
          </p:cNvSpPr>
          <p:nvPr>
            <p:ph type="title"/>
          </p:nvPr>
        </p:nvSpPr>
        <p:spPr>
          <a:xfrm>
            <a:off x="2209800" y="274637"/>
            <a:ext cx="80010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3376C7"/>
              </a:buClr>
              <a:buSzPts val="4400"/>
            </a:pPr>
            <a:r>
              <a:rPr lang="en-US" b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CONTENTS</a:t>
            </a:r>
            <a:endParaRPr/>
          </a:p>
        </p:txBody>
      </p:sp>
      <p:sp>
        <p:nvSpPr>
          <p:cNvPr id="170" name="Google Shape;170;p2"/>
          <p:cNvSpPr txBox="1"/>
          <p:nvPr/>
        </p:nvSpPr>
        <p:spPr>
          <a:xfrm>
            <a:off x="1981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898989"/>
              </a:buClr>
              <a:buSzPts val="1200"/>
            </a:pPr>
            <a:r>
              <a:rPr lang="en-US" sz="1200">
                <a:solidFill>
                  <a:srgbClr val="898989"/>
                </a:solidFill>
              </a:rPr>
              <a:t>*</a:t>
            </a:r>
            <a:endParaRPr/>
          </a:p>
        </p:txBody>
      </p:sp>
      <p:sp>
        <p:nvSpPr>
          <p:cNvPr id="172" name="Google Shape;172;p2"/>
          <p:cNvSpPr txBox="1"/>
          <p:nvPr/>
        </p:nvSpPr>
        <p:spPr>
          <a:xfrm>
            <a:off x="10058400" y="653891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2</a:t>
            </a:fld>
            <a:endParaRPr/>
          </a:p>
        </p:txBody>
      </p:sp>
      <p:sp>
        <p:nvSpPr>
          <p:cNvPr id="6" name="Google Shape;169;p2">
            <a:extLst>
              <a:ext uri="{FF2B5EF4-FFF2-40B4-BE49-F238E27FC236}">
                <a16:creationId xmlns:a16="http://schemas.microsoft.com/office/drawing/2014/main" id="{F230C4A2-D90E-1254-499F-56E0333A58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990600"/>
            <a:ext cx="8001000" cy="51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vi-VN" dirty="0"/>
              <a:t>I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ntroduction</a:t>
            </a:r>
            <a:endParaRPr lang="vi-VN"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indent="-514350">
              <a:spcBef>
                <a:spcPts val="0"/>
              </a:spcBef>
              <a:buSzPts val="3200"/>
              <a:buFont typeface="Calibri"/>
              <a:buAutoNum type="arabicPeriod"/>
            </a:pPr>
            <a:r>
              <a:rPr lang="vi-VN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r>
              <a:rPr lang="vi-VN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vi-VN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Specifications</a:t>
            </a:r>
            <a:endParaRPr lang="vi-VN"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vi-VN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DAC </a:t>
            </a:r>
            <a:r>
              <a:rPr lang="vi-VN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Theory</a:t>
            </a:r>
            <a:endParaRPr lang="vi-VN"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vi-VN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r>
              <a:rPr lang="vi-VN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Procedure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vi-VN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lang="vi-VN"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vi-VN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&amp; Future works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/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3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B77D6DAF-E04E-125A-121F-B9C6684B03B8}"/>
              </a:ext>
            </a:extLst>
          </p:cNvPr>
          <p:cNvSpPr txBox="1">
            <a:spLocks/>
          </p:cNvSpPr>
          <p:nvPr/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en-US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lang="en-US"/>
          </a:p>
        </p:txBody>
      </p:sp>
      <p:sp>
        <p:nvSpPr>
          <p:cNvPr id="7" name="Google Shape;179;p3">
            <a:extLst>
              <a:ext uri="{FF2B5EF4-FFF2-40B4-BE49-F238E27FC236}">
                <a16:creationId xmlns:a16="http://schemas.microsoft.com/office/drawing/2014/main" id="{AEEEDF1B-27BF-3025-3B2A-8CDF0204F926}"/>
              </a:ext>
            </a:extLst>
          </p:cNvPr>
          <p:cNvSpPr txBox="1"/>
          <p:nvPr/>
        </p:nvSpPr>
        <p:spPr>
          <a:xfrm>
            <a:off x="390525" y="1123950"/>
            <a:ext cx="6257925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vi-VN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converter </a:t>
            </a:r>
            <a:r>
              <a:rPr lang="vi-VN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lang="vi-VN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2400" dirty="0">
                <a:solidFill>
                  <a:schemeClr val="dk1"/>
                </a:solidFill>
              </a:rPr>
              <a:t>f</a:t>
            </a:r>
            <a:r>
              <a:rPr lang="en-GB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ound</a:t>
            </a:r>
            <a:r>
              <a:rPr lang="en-GB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applications ranging from high-end computing systems to smart mobile devices</a:t>
            </a:r>
            <a:r>
              <a:rPr lang="vi-VN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</p:txBody>
      </p:sp>
      <p:pic>
        <p:nvPicPr>
          <p:cNvPr id="9" name="Picture 8" descr="A diagram of a digital converter&#10;&#10;AI-generated content may be incorrect.">
            <a:extLst>
              <a:ext uri="{FF2B5EF4-FFF2-40B4-BE49-F238E27FC236}">
                <a16:creationId xmlns:a16="http://schemas.microsoft.com/office/drawing/2014/main" id="{95655A24-5476-5FB1-B62A-BD0225B39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343" y="1084599"/>
            <a:ext cx="4270132" cy="2775586"/>
          </a:xfrm>
          <a:prstGeom prst="rect">
            <a:avLst/>
          </a:prstGeom>
        </p:spPr>
      </p:pic>
      <p:sp>
        <p:nvSpPr>
          <p:cNvPr id="12" name="Google Shape;179;p3">
            <a:extLst>
              <a:ext uri="{FF2B5EF4-FFF2-40B4-BE49-F238E27FC236}">
                <a16:creationId xmlns:a16="http://schemas.microsoft.com/office/drawing/2014/main" id="{A23BAA32-9027-4E0F-52C9-2FE9036FCFA7}"/>
              </a:ext>
            </a:extLst>
          </p:cNvPr>
          <p:cNvSpPr txBox="1"/>
          <p:nvPr/>
        </p:nvSpPr>
        <p:spPr>
          <a:xfrm>
            <a:off x="390525" y="2548394"/>
            <a:ext cx="6257925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vi-VN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DAC </a:t>
            </a:r>
            <a:r>
              <a:rPr lang="vi-VN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vi-VN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ADC </a:t>
            </a:r>
            <a:r>
              <a:rPr lang="vi-VN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lang="vi-VN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vi-VN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lang="vi-VN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</a:t>
            </a:r>
            <a:r>
              <a:rPr lang="vi-VN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vi-VN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lang="vi-VN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converter</a:t>
            </a:r>
            <a:endParaRPr dirty="0"/>
          </a:p>
        </p:txBody>
      </p:sp>
      <p:sp>
        <p:nvSpPr>
          <p:cNvPr id="13" name="Google Shape;179;p3">
            <a:extLst>
              <a:ext uri="{FF2B5EF4-FFF2-40B4-BE49-F238E27FC236}">
                <a16:creationId xmlns:a16="http://schemas.microsoft.com/office/drawing/2014/main" id="{9EE7C352-FC64-0081-F21D-9E59CEEBDA00}"/>
              </a:ext>
            </a:extLst>
          </p:cNvPr>
          <p:cNvSpPr txBox="1"/>
          <p:nvPr/>
        </p:nvSpPr>
        <p:spPr>
          <a:xfrm>
            <a:off x="390525" y="3702807"/>
            <a:ext cx="6257925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vi-VN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DAC </a:t>
            </a:r>
            <a:r>
              <a:rPr lang="vi-VN" sz="2400" b="0" i="0" u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</a:t>
            </a:r>
            <a:r>
              <a:rPr lang="vi-VN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vi-VN" sz="2400" b="0" i="0" u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</a:t>
            </a:r>
            <a:r>
              <a:rPr lang="vi-VN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2400" b="0" i="0" u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r>
              <a:rPr lang="vi-VN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2400" b="0" i="0" u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lang="vi-VN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lang="vi-VN" sz="2400" b="0" i="0" u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analog</a:t>
            </a:r>
            <a:r>
              <a:rPr lang="vi-VN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2400" b="0" i="0" u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vi-VN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lang="vi-VN" sz="2400" b="0" i="0" u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</a:t>
            </a:r>
            <a:r>
              <a:rPr lang="vi-VN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lang="vi-VN" sz="2400" b="0" i="0" u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r>
              <a:rPr lang="vi-VN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2400" b="0" i="0" u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world</a:t>
            </a: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BE5F5C-064B-D911-8CD0-E07EF38A63E7}"/>
              </a:ext>
            </a:extLst>
          </p:cNvPr>
          <p:cNvSpPr txBox="1"/>
          <p:nvPr/>
        </p:nvSpPr>
        <p:spPr>
          <a:xfrm>
            <a:off x="390525" y="4630083"/>
            <a:ext cx="61245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• </a:t>
            </a:r>
            <a:r>
              <a:rPr lang="vi-VN" sz="2400" dirty="0"/>
              <a:t> </a:t>
            </a:r>
            <a:r>
              <a:rPr lang="en-GB" sz="2400" dirty="0"/>
              <a:t>A</a:t>
            </a:r>
            <a:r>
              <a:rPr lang="vi-VN" sz="2400" dirty="0" err="1"/>
              <a:t>pplications</a:t>
            </a:r>
            <a:r>
              <a:rPr lang="vi-VN" sz="2400" dirty="0"/>
              <a:t>:</a:t>
            </a:r>
            <a:endParaRPr lang="en-GB" sz="2400" dirty="0"/>
          </a:p>
          <a:p>
            <a:r>
              <a:rPr lang="en-GB" sz="2400" dirty="0"/>
              <a:t>     • Storage media</a:t>
            </a:r>
          </a:p>
          <a:p>
            <a:r>
              <a:rPr lang="en-GB" sz="2400" dirty="0"/>
              <a:t>     • Audio</a:t>
            </a:r>
          </a:p>
          <a:p>
            <a:r>
              <a:rPr lang="en-GB" sz="2400" dirty="0"/>
              <a:t>     • Mobile phone</a:t>
            </a:r>
          </a:p>
          <a:p>
            <a:r>
              <a:rPr lang="en-GB" sz="2400" dirty="0"/>
              <a:t>     • Routers</a:t>
            </a:r>
          </a:p>
        </p:txBody>
      </p:sp>
      <p:pic>
        <p:nvPicPr>
          <p:cNvPr id="1026" name="Picture 2" descr="Mobile phone - Free technology icons">
            <a:extLst>
              <a:ext uri="{FF2B5EF4-FFF2-40B4-BE49-F238E27FC236}">
                <a16:creationId xmlns:a16="http://schemas.microsoft.com/office/drawing/2014/main" id="{1547F0BA-5464-0FB3-AD0C-435BF2212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479" y="4533763"/>
            <a:ext cx="1777402" cy="1777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L-MR100 | Router Wi-Fi 4G LTE Chuẩn N 300 Mbps | TP-Link Việt Nam">
            <a:extLst>
              <a:ext uri="{FF2B5EF4-FFF2-40B4-BE49-F238E27FC236}">
                <a16:creationId xmlns:a16="http://schemas.microsoft.com/office/drawing/2014/main" id="{B24CF702-2BAD-5E11-EF57-61C6326F2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4582" y="425746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3.1 Storage devices and media – IGCSE ICT">
            <a:extLst>
              <a:ext uri="{FF2B5EF4-FFF2-40B4-BE49-F238E27FC236}">
                <a16:creationId xmlns:a16="http://schemas.microsoft.com/office/drawing/2014/main" id="{DACC689E-0BC6-3D48-07DC-67B721BEF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1" y="3741077"/>
            <a:ext cx="1682152" cy="158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2EAF782C-6DB6-9AC7-84E9-53B2A9CB1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92E875F4-8F6E-CBBB-066E-AFD4B773F30C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4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E761C249-9ADF-D295-32B9-5A93DC55F45B}"/>
              </a:ext>
            </a:extLst>
          </p:cNvPr>
          <p:cNvSpPr txBox="1">
            <a:spLocks/>
          </p:cNvSpPr>
          <p:nvPr/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State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art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DAC</a:t>
            </a:r>
            <a:endParaRPr lang="en-US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B169CC4A-0371-8490-1441-346A975C9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75" y="1018526"/>
            <a:ext cx="6953250" cy="2704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9D227027-903B-5E06-9F20-79D30893F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825" y="3722870"/>
            <a:ext cx="6400800" cy="2598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Hộp Văn bản 2">
            <a:extLst>
              <a:ext uri="{FF2B5EF4-FFF2-40B4-BE49-F238E27FC236}">
                <a16:creationId xmlns:a16="http://schemas.microsoft.com/office/drawing/2014/main" id="{7005E6DD-0CBC-E427-5535-4EC6ABAF1456}"/>
              </a:ext>
            </a:extLst>
          </p:cNvPr>
          <p:cNvSpPr txBox="1"/>
          <p:nvPr/>
        </p:nvSpPr>
        <p:spPr>
          <a:xfrm>
            <a:off x="-9525" y="5461315"/>
            <a:ext cx="349567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P. </a:t>
            </a:r>
            <a:r>
              <a:rPr lang="vi-VN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Caragiulo</a:t>
            </a:r>
            <a:r>
              <a:rPr lang="vi-VN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, C. </a:t>
            </a:r>
            <a:r>
              <a:rPr lang="vi-VN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Daigle</a:t>
            </a:r>
            <a:r>
              <a:rPr lang="vi-VN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and</a:t>
            </a:r>
            <a:r>
              <a:rPr lang="vi-VN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B. </a:t>
            </a:r>
            <a:r>
              <a:rPr lang="vi-VN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Murmann</a:t>
            </a:r>
            <a:r>
              <a:rPr lang="vi-VN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, DAC </a:t>
            </a:r>
            <a:r>
              <a:rPr lang="vi-VN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Performance</a:t>
            </a:r>
            <a:r>
              <a:rPr lang="vi-VN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Survey</a:t>
            </a:r>
            <a:r>
              <a:rPr lang="vi-VN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1996-2020,” [</a:t>
            </a:r>
            <a:r>
              <a:rPr lang="vi-VN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Online</a:t>
            </a:r>
            <a:r>
              <a:rPr lang="vi-VN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]. </a:t>
            </a:r>
            <a:r>
              <a:rPr lang="vi-VN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Available</a:t>
            </a:r>
            <a:r>
              <a:rPr lang="vi-VN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: https://github.com/pietro-caragiulo/survey-DAC</a:t>
            </a:r>
            <a:endParaRPr lang="vi-VN" dirty="0">
              <a:latin typeface="+mn-lt"/>
            </a:endParaRPr>
          </a:p>
        </p:txBody>
      </p:sp>
      <p:sp>
        <p:nvSpPr>
          <p:cNvPr id="5" name="Hộp Văn bản 2">
            <a:extLst>
              <a:ext uri="{FF2B5EF4-FFF2-40B4-BE49-F238E27FC236}">
                <a16:creationId xmlns:a16="http://schemas.microsoft.com/office/drawing/2014/main" id="{B1F8F48C-1009-0F58-5F62-0752DDEDB54E}"/>
              </a:ext>
            </a:extLst>
          </p:cNvPr>
          <p:cNvSpPr txBox="1"/>
          <p:nvPr/>
        </p:nvSpPr>
        <p:spPr>
          <a:xfrm>
            <a:off x="9377362" y="1911337"/>
            <a:ext cx="28146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Higher</a:t>
            </a:r>
            <a:r>
              <a:rPr lang="vi-VN" sz="18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8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Power</a:t>
            </a:r>
            <a:r>
              <a:rPr lang="vi-VN" sz="18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sz="18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Higher</a:t>
            </a:r>
            <a:r>
              <a:rPr lang="vi-VN" sz="18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8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Speed</a:t>
            </a:r>
            <a:endParaRPr lang="vi-VN" sz="1800" dirty="0">
              <a:latin typeface="+mn-lt"/>
            </a:endParaRPr>
          </a:p>
        </p:txBody>
      </p:sp>
      <p:sp>
        <p:nvSpPr>
          <p:cNvPr id="7" name="Hộp Văn bản 2">
            <a:extLst>
              <a:ext uri="{FF2B5EF4-FFF2-40B4-BE49-F238E27FC236}">
                <a16:creationId xmlns:a16="http://schemas.microsoft.com/office/drawing/2014/main" id="{F124BC3A-DBF4-CE87-D48F-C45EEB80F5E0}"/>
              </a:ext>
            </a:extLst>
          </p:cNvPr>
          <p:cNvSpPr txBox="1"/>
          <p:nvPr/>
        </p:nvSpPr>
        <p:spPr>
          <a:xfrm>
            <a:off x="9377362" y="4509993"/>
            <a:ext cx="28146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Higher</a:t>
            </a:r>
            <a:r>
              <a:rPr lang="vi-VN" sz="18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8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speed</a:t>
            </a:r>
            <a:r>
              <a:rPr lang="vi-VN" sz="18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sz="18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lower</a:t>
            </a:r>
            <a:r>
              <a:rPr lang="vi-VN" sz="18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SFDR</a:t>
            </a:r>
            <a:endParaRPr lang="vi-VN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2666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99D0AD58-7B98-3A7D-5469-3920508ED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E0D938D0-3191-BC7F-8AD0-E8E4E268CBE9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5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F5B07967-21AE-CDB8-C96E-9021DC643AA2}"/>
              </a:ext>
            </a:extLst>
          </p:cNvPr>
          <p:cNvSpPr txBox="1">
            <a:spLocks/>
          </p:cNvSpPr>
          <p:nvPr/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State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art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DAC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97C681-DE60-69AC-C978-3CFC47406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867237"/>
              </p:ext>
            </p:extLst>
          </p:nvPr>
        </p:nvGraphicFramePr>
        <p:xfrm>
          <a:off x="2090737" y="1140239"/>
          <a:ext cx="7967663" cy="30963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33813">
                  <a:extLst>
                    <a:ext uri="{9D8B030D-6E8A-4147-A177-3AD203B41FA5}">
                      <a16:colId xmlns:a16="http://schemas.microsoft.com/office/drawing/2014/main" val="152576701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856884629"/>
                    </a:ext>
                  </a:extLst>
                </a:gridCol>
                <a:gridCol w="1009651">
                  <a:extLst>
                    <a:ext uri="{9D8B030D-6E8A-4147-A177-3AD203B41FA5}">
                      <a16:colId xmlns:a16="http://schemas.microsoft.com/office/drawing/2014/main" val="907053883"/>
                    </a:ext>
                  </a:extLst>
                </a:gridCol>
                <a:gridCol w="942974">
                  <a:extLst>
                    <a:ext uri="{9D8B030D-6E8A-4147-A177-3AD203B41FA5}">
                      <a16:colId xmlns:a16="http://schemas.microsoft.com/office/drawing/2014/main" val="420626137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98312897"/>
                    </a:ext>
                  </a:extLst>
                </a:gridCol>
              </a:tblGrid>
              <a:tr h="1747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>
                          <a:effectLst/>
                        </a:rPr>
                        <a:t> 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>
                          <a:effectLst/>
                        </a:rPr>
                        <a:t>[20]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>
                          <a:effectLst/>
                        </a:rPr>
                        <a:t>[21]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>
                          <a:effectLst/>
                        </a:rPr>
                        <a:t>[6]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>
                          <a:effectLst/>
                        </a:rPr>
                        <a:t>[22]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53241599"/>
                  </a:ext>
                </a:extLst>
              </a:tr>
              <a:tr h="838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 err="1">
                          <a:effectLst/>
                        </a:rPr>
                        <a:t>Year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>
                          <a:effectLst/>
                        </a:rPr>
                        <a:t>1999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200">
                          <a:effectLst/>
                        </a:rPr>
                        <a:t>2006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200">
                          <a:effectLst/>
                        </a:rPr>
                        <a:t>2010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>
                          <a:effectLst/>
                        </a:rPr>
                        <a:t>2021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3508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 err="1">
                          <a:effectLst/>
                        </a:rPr>
                        <a:t>Technology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200">
                          <a:effectLst/>
                        </a:rPr>
                        <a:t>0.5µm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>
                          <a:effectLst/>
                        </a:rPr>
                        <a:t>180nm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200">
                          <a:effectLst/>
                        </a:rPr>
                        <a:t>65</a:t>
                      </a:r>
                      <a:r>
                        <a:rPr lang="vi-VN" sz="2200" err="1">
                          <a:effectLst/>
                        </a:rPr>
                        <a:t>nm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>
                          <a:effectLst/>
                        </a:rPr>
                        <a:t>7nm 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5321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 dirty="0" err="1">
                          <a:effectLst/>
                        </a:rPr>
                        <a:t>Resolution</a:t>
                      </a:r>
                      <a:endParaRPr lang="en-GB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>
                          <a:effectLst/>
                        </a:rPr>
                        <a:t>12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>
                          <a:effectLst/>
                        </a:rPr>
                        <a:t>1</a:t>
                      </a:r>
                      <a:r>
                        <a:rPr lang="en-US" sz="2200">
                          <a:effectLst/>
                        </a:rPr>
                        <a:t>0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>
                          <a:effectLst/>
                        </a:rPr>
                        <a:t>12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>
                          <a:effectLst/>
                        </a:rPr>
                        <a:t>8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288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 err="1">
                          <a:effectLst/>
                        </a:rPr>
                        <a:t>Power</a:t>
                      </a:r>
                      <a:r>
                        <a:rPr lang="vi-VN" sz="2200">
                          <a:effectLst/>
                        </a:rPr>
                        <a:t> </a:t>
                      </a:r>
                      <a:r>
                        <a:rPr lang="vi-VN" sz="2200" err="1">
                          <a:effectLst/>
                        </a:rPr>
                        <a:t>Dissipation</a:t>
                      </a:r>
                      <a:r>
                        <a:rPr lang="vi-VN" sz="2200">
                          <a:effectLst/>
                        </a:rPr>
                        <a:t> (</a:t>
                      </a:r>
                      <a:r>
                        <a:rPr lang="vi-VN" sz="2200" err="1">
                          <a:effectLst/>
                        </a:rPr>
                        <a:t>mW</a:t>
                      </a:r>
                      <a:r>
                        <a:rPr lang="vi-VN" sz="2200">
                          <a:effectLst/>
                        </a:rPr>
                        <a:t>)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>
                          <a:effectLst/>
                        </a:rPr>
                        <a:t>1</a:t>
                      </a:r>
                      <a:r>
                        <a:rPr lang="en-US" sz="2200">
                          <a:effectLst/>
                        </a:rPr>
                        <a:t>40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>
                          <a:effectLst/>
                        </a:rPr>
                        <a:t>216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200">
                          <a:effectLst/>
                        </a:rPr>
                        <a:t>188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200">
                          <a:effectLst/>
                        </a:rPr>
                        <a:t>308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6203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 err="1">
                          <a:effectLst/>
                        </a:rPr>
                        <a:t>Sampling</a:t>
                      </a:r>
                      <a:r>
                        <a:rPr lang="vi-VN" sz="2200">
                          <a:effectLst/>
                        </a:rPr>
                        <a:t> </a:t>
                      </a:r>
                      <a:r>
                        <a:rPr lang="vi-VN" sz="2200" err="1">
                          <a:effectLst/>
                        </a:rPr>
                        <a:t>Rate</a:t>
                      </a:r>
                      <a:r>
                        <a:rPr lang="vi-VN" sz="2200">
                          <a:effectLst/>
                        </a:rPr>
                        <a:t> (MSPS)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200">
                          <a:effectLst/>
                        </a:rPr>
                        <a:t>200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200">
                          <a:effectLst/>
                        </a:rPr>
                        <a:t>250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>
                          <a:effectLst/>
                        </a:rPr>
                        <a:t>2,</a:t>
                      </a:r>
                      <a:r>
                        <a:rPr lang="en-US" sz="2200">
                          <a:effectLst/>
                        </a:rPr>
                        <a:t>900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>
                          <a:effectLst/>
                        </a:rPr>
                        <a:t>97,000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7815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>
                          <a:effectLst/>
                        </a:rPr>
                        <a:t>SFDR (</a:t>
                      </a:r>
                      <a:r>
                        <a:rPr lang="vi-VN" sz="2200" err="1">
                          <a:effectLst/>
                        </a:rPr>
                        <a:t>dB</a:t>
                      </a:r>
                      <a:r>
                        <a:rPr lang="vi-VN" sz="2200">
                          <a:effectLst/>
                        </a:rPr>
                        <a:t>)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200">
                          <a:effectLst/>
                        </a:rPr>
                        <a:t>70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200">
                          <a:effectLst/>
                        </a:rPr>
                        <a:t>62.3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200">
                          <a:effectLst/>
                        </a:rPr>
                        <a:t>56</a:t>
                      </a:r>
                      <a:endParaRPr lang="en-GB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200" dirty="0">
                          <a:effectLst/>
                        </a:rPr>
                        <a:t>40.76</a:t>
                      </a:r>
                      <a:endParaRPr lang="en-GB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100044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2C75187-833C-43BE-8DF8-220C71D52D93}"/>
              </a:ext>
            </a:extLst>
          </p:cNvPr>
          <p:cNvSpPr txBox="1"/>
          <p:nvPr/>
        </p:nvSpPr>
        <p:spPr>
          <a:xfrm>
            <a:off x="0" y="4663279"/>
            <a:ext cx="12192001" cy="2300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spcAft>
                <a:spcPts val="1000"/>
              </a:spcAft>
            </a:pP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[6]C. -H.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Lin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., "A 12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2.9 GS/s DAC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IM3 ≪− 60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dBc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Beyond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GHz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in 65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CMOS," in IEEE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Journal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Solid-State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Circuits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vol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. 44, no. 12,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pp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. 3285-3293,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. 2009.</a:t>
            </a:r>
          </a:p>
          <a:p>
            <a:pPr lvl="0">
              <a:spcBef>
                <a:spcPts val="600"/>
              </a:spcBef>
              <a:spcAft>
                <a:spcPts val="1000"/>
              </a:spcAft>
            </a:pP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[20] </a:t>
            </a:r>
            <a:r>
              <a:rPr lang="en-US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A. Van den Bosch et al., "A 12 bit 200 MHz low glitch CMOS D/A converter," Proceedings of the IEEE 1998 Custom Integrated Circuits Conference (Cat. No.98CH36143), Santa Clara, CA, USA, 1998.</a:t>
            </a:r>
            <a:endParaRPr lang="vi-VN" sz="1100">
              <a:solidFill>
                <a:srgbClr val="000000"/>
              </a:solidFill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[21] </a:t>
            </a:r>
            <a:r>
              <a:rPr lang="en-US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J. </a:t>
            </a:r>
            <a:r>
              <a:rPr lang="en-US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Deveugele</a:t>
            </a:r>
            <a:r>
              <a:rPr lang="en-US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and M. Steyaert, "A 10b 250MS/s binary-weighted current-steering DAC," 2004 IEEE International Solid-State Circuits Conference (IEEE Cat. No.04CH37519), San Francisco, CA, USA, 2004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[22] R. L.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Nguyen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., "8.6 A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Highly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Reconfigurable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40-97GS/s DAC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ADC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40GHz AFE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Bandwidth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Sub-35fJ/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conv-step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400Gb/s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Coherent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Optical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in 7nm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FinFET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," 2021 IEEE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International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Solid-State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Circuits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Conference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(ISSCC), San </a:t>
            </a:r>
            <a:r>
              <a:rPr lang="vi-VN" sz="110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Francisco</a:t>
            </a:r>
            <a:r>
              <a:rPr lang="vi-VN" sz="11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CA, USA, 2021.</a:t>
            </a:r>
          </a:p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1000"/>
              </a:spcAft>
            </a:pPr>
            <a:endParaRPr lang="en-GB" sz="1000">
              <a:effectLst/>
              <a:latin typeface="+mn-lt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091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FEDEFF9B-26A3-DA76-869F-C9CDA7E96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2FFCBBD4-C0CC-C910-B071-D434C7D64503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6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B75FA03A-6C07-F9F6-BD8D-FA345FEE98DC}"/>
              </a:ext>
            </a:extLst>
          </p:cNvPr>
          <p:cNvSpPr txBox="1">
            <a:spLocks/>
          </p:cNvSpPr>
          <p:nvPr/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Trending</a:t>
            </a:r>
            <a:r>
              <a:rPr lang="vi-VN" sz="4000" b="1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DAC </a:t>
            </a:r>
            <a:r>
              <a:rPr lang="vi-VN" sz="4000" b="1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topologies</a:t>
            </a:r>
            <a:endParaRPr lang="en-US" dirty="0"/>
          </a:p>
        </p:txBody>
      </p:sp>
      <p:pic>
        <p:nvPicPr>
          <p:cNvPr id="5" name="Hình ảnh 1" descr="Ảnh có chứa văn bản, ảnh chụp màn hình, Phông chữ, hàng&#10;&#10;Nội dung do AI tạo ra có thể không chính xác.">
            <a:extLst>
              <a:ext uri="{FF2B5EF4-FFF2-40B4-BE49-F238E27FC236}">
                <a16:creationId xmlns:a16="http://schemas.microsoft.com/office/drawing/2014/main" id="{5C177310-48F8-8A77-157C-20EB2D17AB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189"/>
          <a:stretch/>
        </p:blipFill>
        <p:spPr bwMode="auto">
          <a:xfrm>
            <a:off x="1152525" y="1045892"/>
            <a:ext cx="9886950" cy="520436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B9C430-785F-4D51-CEF5-AE6BC296A1A0}"/>
              </a:ext>
            </a:extLst>
          </p:cNvPr>
          <p:cNvSpPr txBox="1"/>
          <p:nvPr/>
        </p:nvSpPr>
        <p:spPr>
          <a:xfrm>
            <a:off x="8167688" y="1045892"/>
            <a:ext cx="4024312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1000"/>
              </a:spcAft>
            </a:pPr>
            <a:r>
              <a:rPr lang="vi-VN" sz="1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1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G. Manganaro, Advance Data Converters. </a:t>
            </a:r>
            <a:r>
              <a:rPr lang="en-US" sz="1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Cambridge University Press, 2012.  </a:t>
            </a:r>
            <a:endParaRPr lang="en-GB" sz="1400" dirty="0">
              <a:effectLst/>
              <a:latin typeface="+mn-lt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521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F89BD9B7-03BF-CA00-8085-37E0B1527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2FA80554-B1CB-EA78-0933-542DE83EA49E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7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94E47D30-F0EB-9476-F148-512874477D5A}"/>
              </a:ext>
            </a:extLst>
          </p:cNvPr>
          <p:cNvSpPr txBox="1">
            <a:spLocks/>
          </p:cNvSpPr>
          <p:nvPr/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Design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Specifications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Bảng 4">
            <a:extLst>
              <a:ext uri="{FF2B5EF4-FFF2-40B4-BE49-F238E27FC236}">
                <a16:creationId xmlns:a16="http://schemas.microsoft.com/office/drawing/2014/main" id="{D79A8C0E-CDD8-E548-F958-DADAF43F4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344910"/>
              </p:ext>
            </p:extLst>
          </p:nvPr>
        </p:nvGraphicFramePr>
        <p:xfrm>
          <a:off x="944251" y="1697355"/>
          <a:ext cx="10303497" cy="38481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071279">
                  <a:extLst>
                    <a:ext uri="{9D8B030D-6E8A-4147-A177-3AD203B41FA5}">
                      <a16:colId xmlns:a16="http://schemas.microsoft.com/office/drawing/2014/main" val="165304482"/>
                    </a:ext>
                  </a:extLst>
                </a:gridCol>
                <a:gridCol w="4116109">
                  <a:extLst>
                    <a:ext uri="{9D8B030D-6E8A-4147-A177-3AD203B41FA5}">
                      <a16:colId xmlns:a16="http://schemas.microsoft.com/office/drawing/2014/main" val="4082878032"/>
                    </a:ext>
                  </a:extLst>
                </a:gridCol>
                <a:gridCol w="4116109">
                  <a:extLst>
                    <a:ext uri="{9D8B030D-6E8A-4147-A177-3AD203B41FA5}">
                      <a16:colId xmlns:a16="http://schemas.microsoft.com/office/drawing/2014/main" val="1630497165"/>
                    </a:ext>
                  </a:extLst>
                </a:gridCol>
              </a:tblGrid>
              <a:tr h="262890">
                <a:tc gridSpan="2"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lang="en-US" sz="2400">
                          <a:effectLst/>
                          <a:latin typeface="+mj-lt"/>
                        </a:rPr>
                        <a:t>DESIGN</a:t>
                      </a:r>
                      <a:r>
                        <a:rPr lang="en-US" sz="2400" spc="-5">
                          <a:effectLst/>
                          <a:latin typeface="+mj-lt"/>
                        </a:rPr>
                        <a:t> </a:t>
                      </a:r>
                      <a:r>
                        <a:rPr lang="en-US" sz="2400">
                          <a:effectLst/>
                          <a:latin typeface="+mj-lt"/>
                        </a:rPr>
                        <a:t>PARAMETERS</a:t>
                      </a:r>
                      <a:endParaRPr lang="en-US" sz="2400"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lang="en-US" sz="2400">
                          <a:effectLst/>
                          <a:latin typeface="+mj-lt"/>
                        </a:rPr>
                        <a:t>SPECIFICATIONS</a:t>
                      </a:r>
                      <a:endParaRPr lang="en-US" sz="2400"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44886705"/>
                  </a:ext>
                </a:extLst>
              </a:tr>
              <a:tr h="262890">
                <a:tc gridSpan="2"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VDD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D0D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1.2V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75423"/>
                  </a:ext>
                </a:extLst>
              </a:tr>
              <a:tr h="262890">
                <a:tc gridSpan="2"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</a:pPr>
                      <a:r>
                        <a:rPr lang="vi-VN" sz="24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D0D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</a:pPr>
                      <a:r>
                        <a:rPr lang="vi-VN" sz="2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65nm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041244"/>
                  </a:ext>
                </a:extLst>
              </a:tr>
              <a:tr h="262255">
                <a:tc gridSpan="2"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</a:pPr>
                      <a:r>
                        <a:rPr lang="vi-VN" sz="24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Resolution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E9ED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</a:pPr>
                      <a:r>
                        <a:rPr lang="vi-VN" sz="24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2400" b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2538"/>
                  </a:ext>
                </a:extLst>
              </a:tr>
              <a:tr h="262890">
                <a:tc gridSpan="2"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lang="vi-VN" sz="240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Fsamp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D0D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lang="vi-VN" sz="24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500MS/s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04132"/>
                  </a:ext>
                </a:extLst>
              </a:tr>
              <a:tr h="262890">
                <a:tc gridSpan="2"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</a:pPr>
                      <a:r>
                        <a:rPr lang="vi-VN" sz="24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SFDR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D0D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70</a:t>
                      </a:r>
                      <a:r>
                        <a:rPr lang="vi-VN" sz="24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dB@250MHz</a:t>
                      </a:r>
                      <a:endParaRPr lang="en-US" sz="2400" b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936556"/>
                  </a:ext>
                </a:extLst>
              </a:tr>
              <a:tr h="261620">
                <a:tc gridSpan="2"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</a:pPr>
                      <a:r>
                        <a:rPr lang="vi-VN" sz="24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ENOB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E9ED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</a:pPr>
                      <a:r>
                        <a:rPr lang="vi-VN" sz="24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n-US" sz="2400" b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765541"/>
                  </a:ext>
                </a:extLst>
              </a:tr>
              <a:tr h="261620">
                <a:tc gridSpan="2"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Power</a:t>
                      </a:r>
                    </a:p>
                  </a:txBody>
                  <a:tcPr marL="0" marR="0" marT="0" marB="0">
                    <a:solidFill>
                      <a:srgbClr val="E9ED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60mW</a:t>
                      </a:r>
                    </a:p>
                  </a:txBody>
                  <a:tcPr marL="0" marR="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874320"/>
                  </a:ext>
                </a:extLst>
              </a:tr>
              <a:tr h="263525">
                <a:tc rowSpan="2"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  <a:spcBef>
                          <a:spcPts val="50"/>
                        </a:spcBef>
                      </a:pPr>
                      <a:r>
                        <a:rPr lang="en-US" sz="2400">
                          <a:effectLst/>
                          <a:latin typeface="+mj-lt"/>
                        </a:rPr>
                        <a:t> 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PVT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Process</a:t>
                      </a:r>
                      <a:endParaRPr lang="en-US" sz="2400" b="1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</a:t>
                      </a:r>
                      <a:r>
                        <a:rPr lang="en-US" sz="2400" b="0" spc="-5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case</a:t>
                      </a:r>
                      <a:r>
                        <a:rPr lang="en-US" sz="2400" b="0" spc="-5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of MOS</a:t>
                      </a:r>
                      <a:endParaRPr lang="en-US" sz="2400" b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415869"/>
                  </a:ext>
                </a:extLst>
              </a:tr>
              <a:tr h="280289">
                <a:tc vMerge="1"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</a:pPr>
                      <a:endParaRPr lang="en-US" sz="240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Temperature</a:t>
                      </a:r>
                      <a:endParaRPr lang="en-US" sz="2400" b="1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 (Đầu đề)"/>
                        </a:rPr>
                        <a:t>-</a:t>
                      </a:r>
                      <a:r>
                        <a:rPr lang="vi-VN" sz="2400" b="0" dirty="0">
                          <a:solidFill>
                            <a:schemeClr val="tx1"/>
                          </a:solidFill>
                          <a:effectLst/>
                          <a:latin typeface="Arial (Đầu đề)"/>
                        </a:rPr>
                        <a:t>20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 (Đầu đề)"/>
                        </a:rPr>
                        <a:t>˚C</a:t>
                      </a:r>
                      <a:r>
                        <a:rPr lang="en-US" sz="2400" b="0" spc="-5" dirty="0">
                          <a:solidFill>
                            <a:schemeClr val="tx1"/>
                          </a:solidFill>
                          <a:effectLst/>
                          <a:latin typeface="Arial (Đầu đề)"/>
                        </a:rPr>
                        <a:t>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 (Đầu đề)"/>
                        </a:rPr>
                        <a:t>to</a:t>
                      </a:r>
                      <a:r>
                        <a:rPr lang="en-US" sz="2400" b="0" spc="-5" dirty="0">
                          <a:solidFill>
                            <a:schemeClr val="tx1"/>
                          </a:solidFill>
                          <a:effectLst/>
                          <a:latin typeface="Arial (Đầu đề)"/>
                        </a:rPr>
                        <a:t>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 (Đầu đề)"/>
                        </a:rPr>
                        <a:t>125˚C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 (Đầu đề)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331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8501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624C9201-C86B-336B-2DAE-46C28527F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2A6BE233-C7D6-091D-D151-591BB848DCFC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8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77AEE035-CBC9-8D9F-B9AF-2E4EB395B012}"/>
              </a:ext>
            </a:extLst>
          </p:cNvPr>
          <p:cNvSpPr txBox="1">
            <a:spLocks/>
          </p:cNvSpPr>
          <p:nvPr/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DAC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Hình ảnh 1">
            <a:extLst>
              <a:ext uri="{FF2B5EF4-FFF2-40B4-BE49-F238E27FC236}">
                <a16:creationId xmlns:a16="http://schemas.microsoft.com/office/drawing/2014/main" id="{28DC41FD-E62C-0417-810C-869F3C66C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607" y="1038225"/>
            <a:ext cx="5674270" cy="5416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Hình ảnh 4" descr="Ảnh có chứa màu đen, bóng tối&#10;&#10;Nội dung do AI tạo ra có thể không chính xác.">
            <a:extLst>
              <a:ext uri="{FF2B5EF4-FFF2-40B4-BE49-F238E27FC236}">
                <a16:creationId xmlns:a16="http://schemas.microsoft.com/office/drawing/2014/main" id="{C3D667B7-074F-06B9-CD0C-25519F6141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129014"/>
            <a:ext cx="5563032" cy="21145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ộp Văn bản 8">
                <a:extLst>
                  <a:ext uri="{FF2B5EF4-FFF2-40B4-BE49-F238E27FC236}">
                    <a16:creationId xmlns:a16="http://schemas.microsoft.com/office/drawing/2014/main" id="{C96D1DAA-135D-13AE-E62D-CE01F99C2C63}"/>
                  </a:ext>
                </a:extLst>
              </p:cNvPr>
              <p:cNvSpPr txBox="1"/>
              <p:nvPr/>
            </p:nvSpPr>
            <p:spPr>
              <a:xfrm>
                <a:off x="685800" y="3874558"/>
                <a:ext cx="4724400" cy="609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vi-VN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vi-VN" sz="180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𝐿𝑆𝐵</m:t>
                          </m:r>
                          <m:r>
                            <a:rPr lang="vi-VN" sz="1800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vi-VN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vi-VN" sz="1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𝑅𝐸𝐹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vi-VN" sz="1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vi-VN" sz="18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den>
                          </m:f>
                          <m:r>
                            <a:rPr lang="vi-VN" sz="1800" i="0"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vi-VN" sz="1800" dirty="0"/>
              </a:p>
            </p:txBody>
          </p:sp>
        </mc:Choice>
        <mc:Fallback xmlns="">
          <p:sp>
            <p:nvSpPr>
              <p:cNvPr id="5" name="Hộp Văn bản 8">
                <a:extLst>
                  <a:ext uri="{FF2B5EF4-FFF2-40B4-BE49-F238E27FC236}">
                    <a16:creationId xmlns:a16="http://schemas.microsoft.com/office/drawing/2014/main" id="{C96D1DAA-135D-13AE-E62D-CE01F99C2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874558"/>
                <a:ext cx="4724400" cy="6090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Hộp Văn bản 10">
            <a:extLst>
              <a:ext uri="{FF2B5EF4-FFF2-40B4-BE49-F238E27FC236}">
                <a16:creationId xmlns:a16="http://schemas.microsoft.com/office/drawing/2014/main" id="{4B4A11BB-223E-0538-6314-25EB1A4C70CF}"/>
              </a:ext>
            </a:extLst>
          </p:cNvPr>
          <p:cNvSpPr txBox="1"/>
          <p:nvPr/>
        </p:nvSpPr>
        <p:spPr>
          <a:xfrm>
            <a:off x="460375" y="60988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>
                <a:effectLst/>
                <a:latin typeface="+mn-lt"/>
                <a:ea typeface="Times New Roman" panose="02020603050405020304" pitchFamily="18" charset="0"/>
              </a:rPr>
              <a:t>N </a:t>
            </a:r>
            <a:r>
              <a:rPr lang="vi-VN" sz="1800" dirty="0" err="1">
                <a:effectLst/>
                <a:latin typeface="+mn-lt"/>
                <a:ea typeface="Times New Roman" panose="02020603050405020304" pitchFamily="18" charset="0"/>
              </a:rPr>
              <a:t>is</a:t>
            </a:r>
            <a:r>
              <a:rPr lang="vi-VN" sz="1800" dirty="0">
                <a:effectLst/>
                <a:latin typeface="+mn-lt"/>
                <a:ea typeface="Times New Roman" panose="02020603050405020304" pitchFamily="18" charset="0"/>
              </a:rPr>
              <a:t> the </a:t>
            </a:r>
            <a:r>
              <a:rPr lang="vi-VN" sz="1800" dirty="0" err="1">
                <a:effectLst/>
                <a:latin typeface="+mn-lt"/>
                <a:ea typeface="Times New Roman" panose="02020603050405020304" pitchFamily="18" charset="0"/>
              </a:rPr>
              <a:t>total</a:t>
            </a:r>
            <a:r>
              <a:rPr lang="vi-VN" sz="18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800" dirty="0" err="1">
                <a:effectLst/>
                <a:latin typeface="+mn-lt"/>
                <a:ea typeface="Times New Roman" panose="02020603050405020304" pitchFamily="18" charset="0"/>
              </a:rPr>
              <a:t>number</a:t>
            </a:r>
            <a:r>
              <a:rPr lang="vi-VN" sz="18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800" dirty="0" err="1">
                <a:effectLst/>
                <a:latin typeface="+mn-lt"/>
                <a:ea typeface="Times New Roman" panose="02020603050405020304" pitchFamily="18" charset="0"/>
              </a:rPr>
              <a:t>of</a:t>
            </a:r>
            <a:r>
              <a:rPr lang="vi-VN" sz="18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800" dirty="0" err="1">
                <a:effectLst/>
                <a:latin typeface="+mn-lt"/>
                <a:ea typeface="Times New Roman" panose="02020603050405020304" pitchFamily="18" charset="0"/>
              </a:rPr>
              <a:t>bits</a:t>
            </a:r>
            <a:r>
              <a:rPr lang="vi-VN" sz="18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800" dirty="0" err="1">
                <a:effectLst/>
                <a:latin typeface="+mn-lt"/>
                <a:ea typeface="Times New Roman" panose="02020603050405020304" pitchFamily="18" charset="0"/>
              </a:rPr>
              <a:t>of</a:t>
            </a:r>
            <a:r>
              <a:rPr lang="vi-VN" sz="1800" dirty="0">
                <a:effectLst/>
                <a:latin typeface="+mn-lt"/>
                <a:ea typeface="Times New Roman" panose="02020603050405020304" pitchFamily="18" charset="0"/>
              </a:rPr>
              <a:t> the </a:t>
            </a:r>
            <a:r>
              <a:rPr lang="vi-VN" sz="1800" dirty="0" err="1">
                <a:effectLst/>
                <a:latin typeface="+mn-lt"/>
                <a:ea typeface="Times New Roman" panose="02020603050405020304" pitchFamily="18" charset="0"/>
              </a:rPr>
              <a:t>digital</a:t>
            </a:r>
            <a:r>
              <a:rPr lang="vi-VN" sz="18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800" dirty="0" err="1">
                <a:effectLst/>
                <a:latin typeface="+mn-lt"/>
                <a:ea typeface="Times New Roman" panose="02020603050405020304" pitchFamily="18" charset="0"/>
              </a:rPr>
              <a:t>word</a:t>
            </a:r>
            <a:endParaRPr lang="vi-VN" sz="18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12">
                <a:extLst>
                  <a:ext uri="{FF2B5EF4-FFF2-40B4-BE49-F238E27FC236}">
                    <a16:creationId xmlns:a16="http://schemas.microsoft.com/office/drawing/2014/main" id="{7B9F5967-ED28-8BC4-B38A-DACCEA313783}"/>
                  </a:ext>
                </a:extLst>
              </p:cNvPr>
              <p:cNvSpPr txBox="1"/>
              <p:nvPr/>
            </p:nvSpPr>
            <p:spPr>
              <a:xfrm>
                <a:off x="0" y="4933918"/>
                <a:ext cx="6096000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vi-VN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vi-VN" sz="180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𝐹𝑢𝑙𝑙𝑠𝑐𝑎𝑙𝑒</m:t>
                          </m:r>
                          <m:d>
                            <m:dPr>
                              <m:ctrlPr>
                                <a:rPr lang="vi-VN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𝐹𝑆</m:t>
                              </m:r>
                            </m:e>
                          </m:d>
                          <m:r>
                            <a:rPr lang="vi-VN" sz="1800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vi-VN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𝑅𝐸𝐹</m:t>
                              </m:r>
                            </m:sub>
                          </m:sSub>
                          <m:r>
                            <a:rPr lang="vi-VN" sz="18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𝐿𝑆𝐵</m:t>
                          </m:r>
                          <m:r>
                            <a:rPr lang="vi-VN" sz="1800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vi-VN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𝑅𝐸𝐹</m:t>
                              </m:r>
                            </m:sub>
                          </m:sSub>
                          <m:d>
                            <m:dPr>
                              <m:ctrlPr>
                                <a:rPr lang="vi-VN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vi-VN" sz="18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vi-VN" sz="1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vi-VN" sz="18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vi-VN" sz="18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vi-VN" sz="18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vi-VN" sz="1800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vi-VN" sz="1800" i="0"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vi-VN" sz="1800" dirty="0"/>
              </a:p>
            </p:txBody>
          </p:sp>
        </mc:Choice>
        <mc:Fallback xmlns="">
          <p:sp>
            <p:nvSpPr>
              <p:cNvPr id="8" name="Hộp Văn bản 12">
                <a:extLst>
                  <a:ext uri="{FF2B5EF4-FFF2-40B4-BE49-F238E27FC236}">
                    <a16:creationId xmlns:a16="http://schemas.microsoft.com/office/drawing/2014/main" id="{7B9F5967-ED28-8BC4-B38A-DACCEA313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933918"/>
                <a:ext cx="6096000" cy="7146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9676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F85E9869-31C2-1955-A895-767ED0405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49BCCBE9-10A0-5F18-BF64-8B9F5E3BC294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9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569F8894-710B-787F-A321-43C74C6EC8FE}"/>
              </a:ext>
            </a:extLst>
          </p:cNvPr>
          <p:cNvSpPr txBox="1">
            <a:spLocks/>
          </p:cNvSpPr>
          <p:nvPr/>
        </p:nvSpPr>
        <p:spPr>
          <a:xfrm>
            <a:off x="893762" y="288925"/>
            <a:ext cx="10730342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en-GB" sz="3200" b="1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Binary weighted and Thermometer Current Steering DAC </a:t>
            </a:r>
          </a:p>
        </p:txBody>
      </p:sp>
      <p:graphicFrame>
        <p:nvGraphicFramePr>
          <p:cNvPr id="2" name="Bảng 13">
            <a:extLst>
              <a:ext uri="{FF2B5EF4-FFF2-40B4-BE49-F238E27FC236}">
                <a16:creationId xmlns:a16="http://schemas.microsoft.com/office/drawing/2014/main" id="{2F190CF3-4BBB-B12F-FF36-7277A1A3F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421571"/>
              </p:ext>
            </p:extLst>
          </p:nvPr>
        </p:nvGraphicFramePr>
        <p:xfrm>
          <a:off x="78774" y="2241623"/>
          <a:ext cx="4930905" cy="2966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912">
                  <a:extLst>
                    <a:ext uri="{9D8B030D-6E8A-4147-A177-3AD203B41FA5}">
                      <a16:colId xmlns:a16="http://schemas.microsoft.com/office/drawing/2014/main" val="3571046929"/>
                    </a:ext>
                  </a:extLst>
                </a:gridCol>
                <a:gridCol w="1476635">
                  <a:extLst>
                    <a:ext uri="{9D8B030D-6E8A-4147-A177-3AD203B41FA5}">
                      <a16:colId xmlns:a16="http://schemas.microsoft.com/office/drawing/2014/main" val="3572424309"/>
                    </a:ext>
                  </a:extLst>
                </a:gridCol>
                <a:gridCol w="1496358">
                  <a:extLst>
                    <a:ext uri="{9D8B030D-6E8A-4147-A177-3AD203B41FA5}">
                      <a16:colId xmlns:a16="http://schemas.microsoft.com/office/drawing/2014/main" val="32026022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sz="1600" dirty="0" err="1"/>
                        <a:t>Feature</a:t>
                      </a:r>
                      <a:endParaRPr lang="vi-V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600" dirty="0" err="1"/>
                        <a:t>Binary-Weighted</a:t>
                      </a:r>
                      <a:r>
                        <a:rPr lang="vi-VN" sz="1600" dirty="0"/>
                        <a:t> DAC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600" err="1"/>
                        <a:t>Thermometer-Coded</a:t>
                      </a:r>
                      <a:r>
                        <a:rPr lang="vi-VN" sz="1600"/>
                        <a:t> DAC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539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600" b="1" dirty="0" err="1"/>
                        <a:t>Complexity</a:t>
                      </a:r>
                      <a:endParaRPr lang="vi-V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600" dirty="0"/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Need decoder</a:t>
                      </a:r>
                      <a:endParaRPr lang="vi-V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683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600" b="1" dirty="0" err="1"/>
                        <a:t>Monotonicity</a:t>
                      </a:r>
                      <a:endParaRPr lang="vi-V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600" dirty="0" err="1"/>
                        <a:t>Not</a:t>
                      </a:r>
                      <a:r>
                        <a:rPr lang="vi-VN" sz="1600" dirty="0"/>
                        <a:t> </a:t>
                      </a:r>
                      <a:r>
                        <a:rPr lang="vi-VN" sz="1600" dirty="0" err="1"/>
                        <a:t>guaranteed</a:t>
                      </a:r>
                      <a:endParaRPr lang="vi-V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600" dirty="0" err="1"/>
                        <a:t>Guaranteed</a:t>
                      </a:r>
                      <a:endParaRPr lang="vi-V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316835"/>
                  </a:ext>
                </a:extLst>
              </a:tr>
              <a:tr h="614607">
                <a:tc>
                  <a:txBody>
                    <a:bodyPr/>
                    <a:lstStyle/>
                    <a:p>
                      <a:r>
                        <a:rPr lang="vi-VN" sz="1600" b="1" dirty="0" err="1"/>
                        <a:t>Glitches</a:t>
                      </a:r>
                      <a:r>
                        <a:rPr lang="vi-VN" sz="1600" b="1" dirty="0"/>
                        <a:t> </a:t>
                      </a:r>
                      <a:r>
                        <a:rPr lang="vi-VN" sz="1600" b="1" dirty="0" err="1"/>
                        <a:t>at</a:t>
                      </a:r>
                      <a:r>
                        <a:rPr lang="vi-VN" sz="1600" b="1" dirty="0"/>
                        <a:t> </a:t>
                      </a:r>
                      <a:r>
                        <a:rPr lang="vi-VN" sz="1600" b="1" dirty="0" err="1"/>
                        <a:t>Mid-Code</a:t>
                      </a:r>
                      <a:endParaRPr lang="vi-V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600" dirty="0" err="1"/>
                        <a:t>Severe</a:t>
                      </a:r>
                      <a:r>
                        <a:rPr lang="vi-VN" sz="1600" dirty="0"/>
                        <a:t>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Minimal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199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600" b="1" dirty="0" err="1"/>
                        <a:t>Best</a:t>
                      </a:r>
                      <a:r>
                        <a:rPr lang="vi-VN" sz="1600" b="1" dirty="0"/>
                        <a:t> </a:t>
                      </a:r>
                      <a:r>
                        <a:rPr lang="vi-VN" sz="1600" b="1" dirty="0" err="1"/>
                        <a:t>Use</a:t>
                      </a:r>
                      <a:r>
                        <a:rPr lang="vi-VN" sz="1600" b="1" dirty="0"/>
                        <a:t> </a:t>
                      </a:r>
                      <a:r>
                        <a:rPr lang="vi-VN" sz="1600" b="1" dirty="0" err="1"/>
                        <a:t>Case</a:t>
                      </a:r>
                      <a:r>
                        <a:rPr lang="vi-VN" sz="1600" dirty="0"/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600" dirty="0" err="1"/>
                        <a:t>Low-precision</a:t>
                      </a:r>
                      <a:r>
                        <a:rPr lang="vi-VN" sz="1600" dirty="0"/>
                        <a:t> (&lt;8-bit)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600" dirty="0" err="1"/>
                        <a:t>High-precision</a:t>
                      </a:r>
                      <a:r>
                        <a:rPr lang="en-US" sz="1600" dirty="0"/>
                        <a:t> </a:t>
                      </a:r>
                    </a:p>
                    <a:p>
                      <a:r>
                        <a:rPr lang="en-US" sz="1600" dirty="0"/>
                        <a:t>(&gt; 8 bits)</a:t>
                      </a:r>
                      <a:endParaRPr lang="vi-V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881479"/>
                  </a:ext>
                </a:extLst>
              </a:tr>
            </a:tbl>
          </a:graphicData>
        </a:graphic>
      </p:graphicFrame>
      <p:pic>
        <p:nvPicPr>
          <p:cNvPr id="10" name="Hình ảnh 6">
            <a:extLst>
              <a:ext uri="{FF2B5EF4-FFF2-40B4-BE49-F238E27FC236}">
                <a16:creationId xmlns:a16="http://schemas.microsoft.com/office/drawing/2014/main" id="{F938AD33-8649-161C-E07B-21A84AA8BE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493"/>
          <a:stretch/>
        </p:blipFill>
        <p:spPr>
          <a:xfrm>
            <a:off x="5010572" y="3421164"/>
            <a:ext cx="3173153" cy="2509503"/>
          </a:xfrm>
          <a:prstGeom prst="rect">
            <a:avLst/>
          </a:prstGeom>
        </p:spPr>
      </p:pic>
      <p:pic>
        <p:nvPicPr>
          <p:cNvPr id="11" name="Hình ảnh 10">
            <a:extLst>
              <a:ext uri="{FF2B5EF4-FFF2-40B4-BE49-F238E27FC236}">
                <a16:creationId xmlns:a16="http://schemas.microsoft.com/office/drawing/2014/main" id="{50CCE446-0061-28C0-F121-FBC9F1FF12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848"/>
          <a:stretch/>
        </p:blipFill>
        <p:spPr>
          <a:xfrm>
            <a:off x="7887107" y="3421164"/>
            <a:ext cx="4279140" cy="1806403"/>
          </a:xfrm>
          <a:prstGeom prst="rect">
            <a:avLst/>
          </a:prstGeom>
        </p:spPr>
      </p:pic>
      <p:sp>
        <p:nvSpPr>
          <p:cNvPr id="12" name="Hộp Văn bản 8">
            <a:extLst>
              <a:ext uri="{FF2B5EF4-FFF2-40B4-BE49-F238E27FC236}">
                <a16:creationId xmlns:a16="http://schemas.microsoft.com/office/drawing/2014/main" id="{D248A66F-367B-24D3-3359-171E3D38E0E5}"/>
              </a:ext>
            </a:extLst>
          </p:cNvPr>
          <p:cNvSpPr txBox="1"/>
          <p:nvPr/>
        </p:nvSpPr>
        <p:spPr>
          <a:xfrm>
            <a:off x="4890019" y="5954749"/>
            <a:ext cx="32937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u="none" strike="noStrike" baseline="0" dirty="0">
                <a:latin typeface="+mj-lt"/>
              </a:rPr>
              <a:t>Matching and glitch problems of a binary-weighted DAC.</a:t>
            </a:r>
            <a:endParaRPr lang="vi-VN" dirty="0">
              <a:latin typeface="+mj-lt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1C7DD651-D2D5-05D5-3A6F-52B105D06B81}"/>
              </a:ext>
            </a:extLst>
          </p:cNvPr>
          <p:cNvSpPr txBox="1"/>
          <p:nvPr/>
        </p:nvSpPr>
        <p:spPr>
          <a:xfrm>
            <a:off x="8045682" y="5416623"/>
            <a:ext cx="42016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u="none" strike="noStrike" baseline="0" dirty="0">
                <a:latin typeface="+mj-lt"/>
              </a:rPr>
              <a:t>Matching and glitch advantages of a thermometer-coded DAC.</a:t>
            </a:r>
            <a:endParaRPr lang="vi-VN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633BE5-8DCE-43F0-0B9F-A04D7AF5A8C1}"/>
              </a:ext>
            </a:extLst>
          </p:cNvPr>
          <p:cNvSpPr txBox="1"/>
          <p:nvPr/>
        </p:nvSpPr>
        <p:spPr>
          <a:xfrm>
            <a:off x="8138822" y="5946971"/>
            <a:ext cx="40531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2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[12] </a:t>
            </a:r>
            <a:r>
              <a:rPr lang="en-US" sz="12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Chi-Hung Lin and K. Bult, "A 10-b, 500-MSample/s CMOS DAC in 0.6 mm/sup 2/," in IEEE Journal of Solid-State Circuits, vol. 33, no. 12, pp. 1948-1958, Dec. 1998</a:t>
            </a:r>
            <a:endParaRPr lang="en-GB" sz="1200" dirty="0">
              <a:latin typeface="+mn-lt"/>
            </a:endParaRPr>
          </a:p>
        </p:txBody>
      </p:sp>
      <p:pic>
        <p:nvPicPr>
          <p:cNvPr id="3" name="Hình ảnh 4" descr="Ảnh có chứa màu đen, bóng tối&#10;&#10;Nội dung do AI tạo ra có thể không chính xác.">
            <a:extLst>
              <a:ext uri="{FF2B5EF4-FFF2-40B4-BE49-F238E27FC236}">
                <a16:creationId xmlns:a16="http://schemas.microsoft.com/office/drawing/2014/main" id="{A3922C06-A40F-3A21-7118-846B2C3F06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572" y="1149772"/>
            <a:ext cx="3498800" cy="1801374"/>
          </a:xfrm>
          <a:prstGeom prst="rect">
            <a:avLst/>
          </a:prstGeom>
          <a:ln w="28575">
            <a:noFill/>
          </a:ln>
        </p:spPr>
      </p:pic>
      <p:pic>
        <p:nvPicPr>
          <p:cNvPr id="5" name="Hình ảnh 5" descr="Ảnh có chứa màu đen, bóng tối&#10;&#10;Nội dung do AI tạo ra có thể không chính xác.">
            <a:extLst>
              <a:ext uri="{FF2B5EF4-FFF2-40B4-BE49-F238E27FC236}">
                <a16:creationId xmlns:a16="http://schemas.microsoft.com/office/drawing/2014/main" id="{5D07DA7F-C940-FE2E-01D8-8DBDB21644C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158" y="1126608"/>
            <a:ext cx="3680842" cy="18324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AD87D5E-BDF9-FEED-6A9E-607380A7FA02}"/>
              </a:ext>
            </a:extLst>
          </p:cNvPr>
          <p:cNvSpPr txBox="1"/>
          <p:nvPr/>
        </p:nvSpPr>
        <p:spPr>
          <a:xfrm>
            <a:off x="5753100" y="2955610"/>
            <a:ext cx="15716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latin typeface="+mj-lt"/>
              </a:rPr>
              <a:t>binary-weighted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6FC8E4-2698-3656-240E-50B1D3790CFE}"/>
              </a:ext>
            </a:extLst>
          </p:cNvPr>
          <p:cNvSpPr txBox="1"/>
          <p:nvPr/>
        </p:nvSpPr>
        <p:spPr>
          <a:xfrm>
            <a:off x="9565766" y="2937532"/>
            <a:ext cx="13403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latin typeface="+mj-lt"/>
              </a:rPr>
              <a:t>Thermometer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5681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D7FBBF98-4D3B-584D-D33C-F0019DADD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EC2C0296-0DF6-E90D-A01B-9EB621C74686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10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C1B6034B-816E-E0EF-7618-148DB8183FC3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Segmentation current steering</a:t>
            </a:r>
          </a:p>
        </p:txBody>
      </p:sp>
      <p:grpSp>
        <p:nvGrpSpPr>
          <p:cNvPr id="3" name="Nhóm 11">
            <a:extLst>
              <a:ext uri="{FF2B5EF4-FFF2-40B4-BE49-F238E27FC236}">
                <a16:creationId xmlns:a16="http://schemas.microsoft.com/office/drawing/2014/main" id="{A2B98435-A255-B29B-B915-57C338DCFF74}"/>
              </a:ext>
            </a:extLst>
          </p:cNvPr>
          <p:cNvGrpSpPr/>
          <p:nvPr/>
        </p:nvGrpSpPr>
        <p:grpSpPr>
          <a:xfrm>
            <a:off x="340461" y="1056588"/>
            <a:ext cx="5485540" cy="4680913"/>
            <a:chOff x="0" y="1371600"/>
            <a:chExt cx="5485540" cy="4680913"/>
          </a:xfrm>
        </p:grpSpPr>
        <p:pic>
          <p:nvPicPr>
            <p:cNvPr id="4" name="Hình ảnh 5">
              <a:extLst>
                <a:ext uri="{FF2B5EF4-FFF2-40B4-BE49-F238E27FC236}">
                  <a16:creationId xmlns:a16="http://schemas.microsoft.com/office/drawing/2014/main" id="{74CF15F0-FC20-A794-9A96-389B42D7B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371600"/>
              <a:ext cx="5324722" cy="4114800"/>
            </a:xfrm>
            <a:prstGeom prst="rect">
              <a:avLst/>
            </a:prstGeom>
          </p:spPr>
        </p:pic>
        <p:sp>
          <p:nvSpPr>
            <p:cNvPr id="5" name="Hộp Văn bản 7">
              <a:extLst>
                <a:ext uri="{FF2B5EF4-FFF2-40B4-BE49-F238E27FC236}">
                  <a16:creationId xmlns:a16="http://schemas.microsoft.com/office/drawing/2014/main" id="{CF06B210-355C-3979-3E40-4DB4E4D88283}"/>
                </a:ext>
              </a:extLst>
            </p:cNvPr>
            <p:cNvSpPr txBox="1"/>
            <p:nvPr/>
          </p:nvSpPr>
          <p:spPr>
            <a:xfrm>
              <a:off x="82312" y="5467738"/>
              <a:ext cx="540322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0" i="0" u="none" strike="noStrike" baseline="0">
                  <a:latin typeface="+mj-lt"/>
                </a:rPr>
                <a:t>Comprehensive overview of the specifications of unary, binary, and segmented implementations.</a:t>
              </a:r>
              <a:endParaRPr lang="vi-VN" sz="1600">
                <a:latin typeface="+mj-lt"/>
              </a:endParaRPr>
            </a:p>
          </p:txBody>
        </p:sp>
      </p:grpSp>
      <p:grpSp>
        <p:nvGrpSpPr>
          <p:cNvPr id="7" name="Nhóm 10">
            <a:extLst>
              <a:ext uri="{FF2B5EF4-FFF2-40B4-BE49-F238E27FC236}">
                <a16:creationId xmlns:a16="http://schemas.microsoft.com/office/drawing/2014/main" id="{604BC5CF-7166-CD88-31B2-943F4275B167}"/>
              </a:ext>
            </a:extLst>
          </p:cNvPr>
          <p:cNvGrpSpPr/>
          <p:nvPr/>
        </p:nvGrpSpPr>
        <p:grpSpPr>
          <a:xfrm>
            <a:off x="6419246" y="1080106"/>
            <a:ext cx="5772754" cy="4657395"/>
            <a:chOff x="6618300" y="1013670"/>
            <a:chExt cx="5772754" cy="4657395"/>
          </a:xfrm>
        </p:grpSpPr>
        <p:pic>
          <p:nvPicPr>
            <p:cNvPr id="8" name="Hình ảnh 3" descr="Ảnh có chứa văn bản, hàng, biểu đồ, Phông chữ&#10;&#10;Nội dung do AI tạo ra có thể không chính xác.">
              <a:extLst>
                <a:ext uri="{FF2B5EF4-FFF2-40B4-BE49-F238E27FC236}">
                  <a16:creationId xmlns:a16="http://schemas.microsoft.com/office/drawing/2014/main" id="{5D0CC125-069C-5D0D-D471-EBD8251DF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85993" y="1013670"/>
              <a:ext cx="4618650" cy="4326102"/>
            </a:xfrm>
            <a:prstGeom prst="rect">
              <a:avLst/>
            </a:prstGeom>
          </p:spPr>
        </p:pic>
        <p:sp>
          <p:nvSpPr>
            <p:cNvPr id="9" name="Hộp Văn bản 9">
              <a:extLst>
                <a:ext uri="{FF2B5EF4-FFF2-40B4-BE49-F238E27FC236}">
                  <a16:creationId xmlns:a16="http://schemas.microsoft.com/office/drawing/2014/main" id="{F0A3EA18-5395-05AE-61ED-DC27D172C772}"/>
                </a:ext>
              </a:extLst>
            </p:cNvPr>
            <p:cNvSpPr txBox="1"/>
            <p:nvPr/>
          </p:nvSpPr>
          <p:spPr>
            <a:xfrm>
              <a:off x="6618300" y="5332511"/>
              <a:ext cx="57727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0" i="0" u="none" strike="noStrike" baseline="0">
                  <a:latin typeface="+mj-lt"/>
                </a:rPr>
                <a:t>Normalized required area versus percentage of segmentation.</a:t>
              </a:r>
              <a:endParaRPr lang="vi-VN" sz="1600">
                <a:latin typeface="+mj-lt"/>
              </a:endParaRPr>
            </a:p>
          </p:txBody>
        </p:sp>
      </p:grpSp>
      <p:sp>
        <p:nvSpPr>
          <p:cNvPr id="10" name="Hộp Văn bản 4">
            <a:extLst>
              <a:ext uri="{FF2B5EF4-FFF2-40B4-BE49-F238E27FC236}">
                <a16:creationId xmlns:a16="http://schemas.microsoft.com/office/drawing/2014/main" id="{0021B342-7C04-5C0F-8EAD-F8CF324315B1}"/>
              </a:ext>
            </a:extLst>
          </p:cNvPr>
          <p:cNvSpPr txBox="1"/>
          <p:nvPr/>
        </p:nvSpPr>
        <p:spPr>
          <a:xfrm>
            <a:off x="6419246" y="5884583"/>
            <a:ext cx="56359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20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[12] </a:t>
            </a:r>
            <a:r>
              <a:rPr lang="en-US" sz="120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Chi-Hung Lin and K. Bult, "A 10-b, 500-MSample/s CMOS DAC in 0.6 mm/sup 2/," in IEEE Journal of Solid-State Circuits, vol. 33, no. 12, pp. 1948-1958, Dec. 1998</a:t>
            </a:r>
            <a:endParaRPr lang="vi-VN" sz="1200">
              <a:latin typeface="+mj-lt"/>
            </a:endParaRPr>
          </a:p>
        </p:txBody>
      </p:sp>
      <p:sp>
        <p:nvSpPr>
          <p:cNvPr id="11" name="Hộp Văn bản 8">
            <a:extLst>
              <a:ext uri="{FF2B5EF4-FFF2-40B4-BE49-F238E27FC236}">
                <a16:creationId xmlns:a16="http://schemas.microsoft.com/office/drawing/2014/main" id="{0D2AD487-80D0-708C-98F9-836E9C796BEB}"/>
              </a:ext>
            </a:extLst>
          </p:cNvPr>
          <p:cNvSpPr txBox="1"/>
          <p:nvPr/>
        </p:nvSpPr>
        <p:spPr>
          <a:xfrm>
            <a:off x="340461" y="5884583"/>
            <a:ext cx="57555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200" b="0" i="0" dirty="0">
                <a:solidFill>
                  <a:srgbClr val="333333"/>
                </a:solidFill>
                <a:effectLst/>
                <a:latin typeface="+mn-lt"/>
              </a:rPr>
              <a:t>[15] A. van </a:t>
            </a:r>
            <a:r>
              <a:rPr lang="vi-VN" sz="1200" b="0" i="0" dirty="0" err="1">
                <a:solidFill>
                  <a:srgbClr val="333333"/>
                </a:solidFill>
                <a:effectLst/>
                <a:latin typeface="+mn-lt"/>
              </a:rPr>
              <a:t>den</a:t>
            </a:r>
            <a:r>
              <a:rPr lang="vi-VN" sz="1200" b="0" i="0" dirty="0">
                <a:solidFill>
                  <a:srgbClr val="333333"/>
                </a:solidFill>
                <a:effectLst/>
                <a:latin typeface="+mn-lt"/>
              </a:rPr>
              <a:t> </a:t>
            </a:r>
            <a:r>
              <a:rPr lang="vi-VN" sz="1200" b="0" i="0" dirty="0" err="1">
                <a:solidFill>
                  <a:srgbClr val="333333"/>
                </a:solidFill>
                <a:effectLst/>
                <a:latin typeface="+mn-lt"/>
              </a:rPr>
              <a:t>Bosch</a:t>
            </a:r>
            <a:r>
              <a:rPr lang="vi-VN" sz="1200" b="0" i="0" dirty="0">
                <a:solidFill>
                  <a:srgbClr val="333333"/>
                </a:solidFill>
                <a:effectLst/>
                <a:latin typeface="+mn-lt"/>
              </a:rPr>
              <a:t>, M. A. F. </a:t>
            </a:r>
            <a:r>
              <a:rPr lang="vi-VN" sz="1200" b="0" i="0" dirty="0" err="1">
                <a:solidFill>
                  <a:srgbClr val="333333"/>
                </a:solidFill>
                <a:effectLst/>
                <a:latin typeface="+mn-lt"/>
              </a:rPr>
              <a:t>Borremans</a:t>
            </a:r>
            <a:r>
              <a:rPr lang="vi-VN" sz="1200" b="0" i="0" dirty="0">
                <a:solidFill>
                  <a:srgbClr val="333333"/>
                </a:solidFill>
                <a:effectLst/>
                <a:latin typeface="+mn-lt"/>
              </a:rPr>
              <a:t>, M. S. J. </a:t>
            </a:r>
            <a:r>
              <a:rPr lang="vi-VN" sz="1200" b="0" i="0" dirty="0" err="1">
                <a:solidFill>
                  <a:srgbClr val="333333"/>
                </a:solidFill>
                <a:effectLst/>
                <a:latin typeface="+mn-lt"/>
              </a:rPr>
              <a:t>Steyaert</a:t>
            </a:r>
            <a:r>
              <a:rPr lang="vi-VN" sz="1200" b="0" i="0" dirty="0">
                <a:solidFill>
                  <a:srgbClr val="333333"/>
                </a:solidFill>
                <a:effectLst/>
                <a:latin typeface="+mn-lt"/>
              </a:rPr>
              <a:t> </a:t>
            </a:r>
            <a:r>
              <a:rPr lang="vi-VN" sz="1200" b="0" i="0" dirty="0" err="1">
                <a:solidFill>
                  <a:srgbClr val="333333"/>
                </a:solidFill>
                <a:effectLst/>
                <a:latin typeface="+mn-lt"/>
              </a:rPr>
              <a:t>and</a:t>
            </a:r>
            <a:r>
              <a:rPr lang="vi-VN" sz="1200" b="0" i="0" dirty="0">
                <a:solidFill>
                  <a:srgbClr val="333333"/>
                </a:solidFill>
                <a:effectLst/>
                <a:latin typeface="+mn-lt"/>
              </a:rPr>
              <a:t> W. </a:t>
            </a:r>
            <a:r>
              <a:rPr lang="vi-VN" sz="1200" b="0" i="0" dirty="0" err="1">
                <a:solidFill>
                  <a:srgbClr val="333333"/>
                </a:solidFill>
                <a:effectLst/>
                <a:latin typeface="+mn-lt"/>
              </a:rPr>
              <a:t>Sansen</a:t>
            </a:r>
            <a:r>
              <a:rPr lang="vi-VN" sz="1200" b="0" i="0" dirty="0">
                <a:solidFill>
                  <a:srgbClr val="333333"/>
                </a:solidFill>
                <a:effectLst/>
                <a:latin typeface="+mn-lt"/>
              </a:rPr>
              <a:t>, "A 10-bit 1-GSample/s </a:t>
            </a:r>
            <a:r>
              <a:rPr lang="vi-VN" sz="1200" b="0" i="0" dirty="0" err="1">
                <a:solidFill>
                  <a:srgbClr val="333333"/>
                </a:solidFill>
                <a:effectLst/>
                <a:latin typeface="+mn-lt"/>
              </a:rPr>
              <a:t>Nyquist</a:t>
            </a:r>
            <a:r>
              <a:rPr lang="vi-VN" sz="1200" b="0" i="0" dirty="0">
                <a:solidFill>
                  <a:srgbClr val="333333"/>
                </a:solidFill>
                <a:effectLst/>
                <a:latin typeface="+mn-lt"/>
              </a:rPr>
              <a:t> </a:t>
            </a:r>
            <a:r>
              <a:rPr lang="vi-VN" sz="1200" b="0" i="0" dirty="0" err="1">
                <a:solidFill>
                  <a:srgbClr val="333333"/>
                </a:solidFill>
                <a:effectLst/>
                <a:latin typeface="+mn-lt"/>
              </a:rPr>
              <a:t>current-steering</a:t>
            </a:r>
            <a:r>
              <a:rPr lang="vi-VN" sz="1200" b="0" i="0" dirty="0">
                <a:solidFill>
                  <a:srgbClr val="333333"/>
                </a:solidFill>
                <a:effectLst/>
                <a:latin typeface="+mn-lt"/>
              </a:rPr>
              <a:t> CMOS D/A converter," in </a:t>
            </a:r>
            <a:r>
              <a:rPr lang="vi-VN" sz="1200" b="0" i="1" dirty="0">
                <a:solidFill>
                  <a:srgbClr val="333333"/>
                </a:solidFill>
                <a:effectLst/>
                <a:latin typeface="+mn-lt"/>
              </a:rPr>
              <a:t>IEEE </a:t>
            </a:r>
            <a:r>
              <a:rPr lang="vi-VN" sz="1200" b="0" i="1" dirty="0" err="1">
                <a:solidFill>
                  <a:srgbClr val="333333"/>
                </a:solidFill>
                <a:effectLst/>
                <a:latin typeface="+mn-lt"/>
              </a:rPr>
              <a:t>Journal</a:t>
            </a:r>
            <a:r>
              <a:rPr lang="vi-VN" sz="1200" b="0" i="1" dirty="0">
                <a:solidFill>
                  <a:srgbClr val="333333"/>
                </a:solidFill>
                <a:effectLst/>
                <a:latin typeface="+mn-lt"/>
              </a:rPr>
              <a:t> </a:t>
            </a:r>
            <a:r>
              <a:rPr lang="vi-VN" sz="1200" b="0" i="1" dirty="0" err="1">
                <a:solidFill>
                  <a:srgbClr val="333333"/>
                </a:solidFill>
                <a:effectLst/>
                <a:latin typeface="+mn-lt"/>
              </a:rPr>
              <a:t>of</a:t>
            </a:r>
            <a:r>
              <a:rPr lang="vi-VN" sz="1200" b="0" i="1" dirty="0">
                <a:solidFill>
                  <a:srgbClr val="333333"/>
                </a:solidFill>
                <a:effectLst/>
                <a:latin typeface="+mn-lt"/>
              </a:rPr>
              <a:t> </a:t>
            </a:r>
            <a:r>
              <a:rPr lang="vi-VN" sz="1200" b="0" i="1" dirty="0" err="1">
                <a:solidFill>
                  <a:srgbClr val="333333"/>
                </a:solidFill>
                <a:effectLst/>
                <a:latin typeface="+mn-lt"/>
              </a:rPr>
              <a:t>Solid-State</a:t>
            </a:r>
            <a:r>
              <a:rPr lang="vi-VN" sz="1200" b="0" i="1" dirty="0">
                <a:solidFill>
                  <a:srgbClr val="333333"/>
                </a:solidFill>
                <a:effectLst/>
                <a:latin typeface="+mn-lt"/>
              </a:rPr>
              <a:t> </a:t>
            </a:r>
            <a:r>
              <a:rPr lang="vi-VN" sz="1200" b="0" i="1" dirty="0" err="1">
                <a:solidFill>
                  <a:srgbClr val="333333"/>
                </a:solidFill>
                <a:effectLst/>
                <a:latin typeface="+mn-lt"/>
              </a:rPr>
              <a:t>Circuits</a:t>
            </a:r>
            <a:r>
              <a:rPr lang="vi-VN" sz="1200" b="0" i="0" dirty="0">
                <a:solidFill>
                  <a:srgbClr val="333333"/>
                </a:solidFill>
                <a:effectLst/>
                <a:latin typeface="+mn-lt"/>
              </a:rPr>
              <a:t>, </a:t>
            </a:r>
            <a:r>
              <a:rPr lang="vi-VN" sz="1200" b="0" i="0" dirty="0" err="1">
                <a:solidFill>
                  <a:srgbClr val="333333"/>
                </a:solidFill>
                <a:effectLst/>
                <a:latin typeface="+mn-lt"/>
              </a:rPr>
              <a:t>vol</a:t>
            </a:r>
            <a:r>
              <a:rPr lang="vi-VN" sz="1200" b="0" i="0" dirty="0">
                <a:solidFill>
                  <a:srgbClr val="333333"/>
                </a:solidFill>
                <a:effectLst/>
                <a:latin typeface="+mn-lt"/>
              </a:rPr>
              <a:t>. 36, no. 3, </a:t>
            </a:r>
            <a:r>
              <a:rPr lang="vi-VN" sz="1200" b="0" i="0" dirty="0" err="1">
                <a:solidFill>
                  <a:srgbClr val="333333"/>
                </a:solidFill>
                <a:effectLst/>
                <a:latin typeface="+mn-lt"/>
              </a:rPr>
              <a:t>pp</a:t>
            </a:r>
            <a:r>
              <a:rPr lang="vi-VN" sz="1200" b="0" i="0" dirty="0">
                <a:solidFill>
                  <a:srgbClr val="333333"/>
                </a:solidFill>
                <a:effectLst/>
                <a:latin typeface="+mn-lt"/>
              </a:rPr>
              <a:t>. 315-324, </a:t>
            </a:r>
            <a:r>
              <a:rPr lang="vi-VN" sz="1200" b="0" i="0" dirty="0" err="1">
                <a:solidFill>
                  <a:srgbClr val="333333"/>
                </a:solidFill>
                <a:effectLst/>
                <a:latin typeface="+mn-lt"/>
              </a:rPr>
              <a:t>March</a:t>
            </a:r>
            <a:r>
              <a:rPr lang="vi-VN" sz="1200" b="0" i="0" dirty="0">
                <a:solidFill>
                  <a:srgbClr val="333333"/>
                </a:solidFill>
                <a:effectLst/>
                <a:latin typeface="+mn-lt"/>
              </a:rPr>
              <a:t> 2001</a:t>
            </a:r>
            <a:endParaRPr lang="vi-VN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58828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C3A65AD4-0EFF-6DD7-404D-7A2955AD9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30DE3017-8FAA-819B-BC23-32976A5C4A2B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vi-VN" sz="4000" b="1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r>
              <a:rPr lang="vi-VN" sz="4000" b="1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Procedure – DAC </a:t>
            </a:r>
            <a:r>
              <a:rPr lang="vi-VN" sz="4000" b="1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 lang="vi-VN" sz="4000" b="1" dirty="0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9EEA2974-E989-64C9-B7C9-8F5E01BCA073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11</a:t>
            </a:fld>
            <a:endParaRPr/>
          </a:p>
        </p:txBody>
      </p:sp>
      <p:pic>
        <p:nvPicPr>
          <p:cNvPr id="7" name="Picture 6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E710AD83-224F-454D-2129-15E776311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99" y="1024352"/>
            <a:ext cx="10896602" cy="560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930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33D351C3-B260-57FC-85DE-52505FB9F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3EF37A50-F05E-054E-E7D6-403465779B10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12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F6C7B9C6-C9E7-8EA5-C543-F5A97D6513F2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Thermometer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Encoder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Hình ảnh 8">
            <a:extLst>
              <a:ext uri="{FF2B5EF4-FFF2-40B4-BE49-F238E27FC236}">
                <a16:creationId xmlns:a16="http://schemas.microsoft.com/office/drawing/2014/main" id="{BFA861AD-4279-7BAC-28A0-02040690B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62" y="1857285"/>
            <a:ext cx="4650922" cy="3741916"/>
          </a:xfrm>
          <a:prstGeom prst="rect">
            <a:avLst/>
          </a:prstGeom>
        </p:spPr>
      </p:pic>
      <p:pic>
        <p:nvPicPr>
          <p:cNvPr id="4" name="Hình ảnh 10">
            <a:extLst>
              <a:ext uri="{FF2B5EF4-FFF2-40B4-BE49-F238E27FC236}">
                <a16:creationId xmlns:a16="http://schemas.microsoft.com/office/drawing/2014/main" id="{53D35B00-FE40-A327-DA3F-EADA46382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112" y="1777084"/>
            <a:ext cx="5287638" cy="390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70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4184AA87-0C74-ADDB-E4C7-785639FED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C3C0A503-DEE1-3075-040F-F3E0E7BE0E0A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13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BD9838EA-9D20-CBA8-6769-8553177A227D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Thermometer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Encoder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Schematic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Picture 39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18EEF089-CE41-1B4B-D900-A5E45B67B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26751"/>
            <a:ext cx="5922092" cy="4187432"/>
          </a:xfrm>
          <a:prstGeom prst="rect">
            <a:avLst/>
          </a:prstGeom>
        </p:spPr>
      </p:pic>
      <p:pic>
        <p:nvPicPr>
          <p:cNvPr id="5" name="Hình ảnh 2">
            <a:extLst>
              <a:ext uri="{FF2B5EF4-FFF2-40B4-BE49-F238E27FC236}">
                <a16:creationId xmlns:a16="http://schemas.microsoft.com/office/drawing/2014/main" id="{6D528620-3360-385C-9B34-4ADC75457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08" y="1526751"/>
            <a:ext cx="5529506" cy="445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249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736FCB15-6AB4-06C6-DE1B-7F00C1CB3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58125047-196C-1DC6-ED01-3A67F9ABBE53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14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89ECFCB6-777A-F53F-0F97-C980F363BD5E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Local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Decoder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Hình ảnh 3">
            <a:extLst>
              <a:ext uri="{FF2B5EF4-FFF2-40B4-BE49-F238E27FC236}">
                <a16:creationId xmlns:a16="http://schemas.microsoft.com/office/drawing/2014/main" id="{03BA1D0D-1EED-4CFA-44C5-A12E7D17A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265987"/>
            <a:ext cx="6301936" cy="1983126"/>
          </a:xfrm>
          <a:prstGeom prst="rect">
            <a:avLst/>
          </a:prstGeom>
        </p:spPr>
      </p:pic>
      <p:pic>
        <p:nvPicPr>
          <p:cNvPr id="2" name="Picture 1" descr="A computer drawing of a computer chip&#10;&#10;AI-generated content may be incorrect.">
            <a:extLst>
              <a:ext uri="{FF2B5EF4-FFF2-40B4-BE49-F238E27FC236}">
                <a16:creationId xmlns:a16="http://schemas.microsoft.com/office/drawing/2014/main" id="{A0E512D7-4A41-2B9A-9A30-0958FBEC1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990" y="1552940"/>
            <a:ext cx="4937760" cy="4495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412CD8-0BB1-F94A-0538-1C8BA418B053}"/>
              </a:ext>
            </a:extLst>
          </p:cNvPr>
          <p:cNvSpPr txBox="1"/>
          <p:nvPr/>
        </p:nvSpPr>
        <p:spPr>
          <a:xfrm>
            <a:off x="0" y="4667436"/>
            <a:ext cx="67817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Used to check whether the previous cell is turned on. </a:t>
            </a:r>
          </a:p>
          <a:p>
            <a:r>
              <a:rPr lang="en-GB" sz="2200" dirty="0"/>
              <a:t>If so, the next cell is enabled</a:t>
            </a:r>
          </a:p>
        </p:txBody>
      </p:sp>
    </p:spTree>
    <p:extLst>
      <p:ext uri="{BB962C8B-B14F-4D97-AF65-F5344CB8AC3E}">
        <p14:creationId xmlns:p14="http://schemas.microsoft.com/office/powerpoint/2010/main" val="1219078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293A85CE-BDBE-F332-D5C0-052EE2477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59A28643-357A-04E9-5457-5DBFDABBCA40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15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1E80C893-1B29-86D5-CB58-A5C51A906E11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Latch</a:t>
            </a:r>
            <a:endParaRPr lang="vi-VN" sz="4000" b="1" dirty="0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0016833D-8544-CBA6-89E6-986872FD7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281" y="1018382"/>
            <a:ext cx="6245695" cy="2410618"/>
          </a:xfrm>
          <a:prstGeom prst="rect">
            <a:avLst/>
          </a:prstGeom>
        </p:spPr>
      </p:pic>
      <p:pic>
        <p:nvPicPr>
          <p:cNvPr id="3" name="Picture 2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8B890937-89A3-A75F-FBE7-628647063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0077" y="3483770"/>
            <a:ext cx="7471846" cy="30749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B934B3-4D1B-7342-2B6E-36ACACED5077}"/>
              </a:ext>
            </a:extLst>
          </p:cNvPr>
          <p:cNvSpPr txBox="1"/>
          <p:nvPr/>
        </p:nvSpPr>
        <p:spPr>
          <a:xfrm>
            <a:off x="8534400" y="1254195"/>
            <a:ext cx="31813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latch synchronizes input signals, ensuring all switches in the current cell activate at the same time.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12681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FF430AB6-B0CE-06A7-DD40-61536EDA4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C04127F4-7CE2-DC24-8E6B-98E2FBECD6BD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16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533D58E7-D6F1-B078-9075-7C7D9AABAF64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Current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cell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issue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Nhóm 15">
            <a:extLst>
              <a:ext uri="{FF2B5EF4-FFF2-40B4-BE49-F238E27FC236}">
                <a16:creationId xmlns:a16="http://schemas.microsoft.com/office/drawing/2014/main" id="{C3E813F7-91BB-18EE-D66C-7E02F7CC7F10}"/>
              </a:ext>
            </a:extLst>
          </p:cNvPr>
          <p:cNvGrpSpPr/>
          <p:nvPr/>
        </p:nvGrpSpPr>
        <p:grpSpPr>
          <a:xfrm>
            <a:off x="1640945" y="3367288"/>
            <a:ext cx="7252760" cy="3163074"/>
            <a:chOff x="1312277" y="1438062"/>
            <a:chExt cx="9154802" cy="4429743"/>
          </a:xfrm>
        </p:grpSpPr>
        <p:pic>
          <p:nvPicPr>
            <p:cNvPr id="3" name="Hình ảnh 12">
              <a:extLst>
                <a:ext uri="{FF2B5EF4-FFF2-40B4-BE49-F238E27FC236}">
                  <a16:creationId xmlns:a16="http://schemas.microsoft.com/office/drawing/2014/main" id="{4794814A-995F-F1C8-E0AF-D44B61B44D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277" y="1438062"/>
              <a:ext cx="6077798" cy="4429743"/>
            </a:xfrm>
            <a:prstGeom prst="rect">
              <a:avLst/>
            </a:prstGeom>
          </p:spPr>
        </p:pic>
        <p:pic>
          <p:nvPicPr>
            <p:cNvPr id="4" name="Hình ảnh 14">
              <a:extLst>
                <a:ext uri="{FF2B5EF4-FFF2-40B4-BE49-F238E27FC236}">
                  <a16:creationId xmlns:a16="http://schemas.microsoft.com/office/drawing/2014/main" id="{D1EB9DAD-F086-FC95-4F2E-6B6FF6B27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90075" y="1609535"/>
              <a:ext cx="3077004" cy="4086795"/>
            </a:xfrm>
            <a:prstGeom prst="rect">
              <a:avLst/>
            </a:prstGeom>
          </p:spPr>
        </p:pic>
      </p:grpSp>
      <p:pic>
        <p:nvPicPr>
          <p:cNvPr id="5" name="Hình ảnh 8">
            <a:extLst>
              <a:ext uri="{FF2B5EF4-FFF2-40B4-BE49-F238E27FC236}">
                <a16:creationId xmlns:a16="http://schemas.microsoft.com/office/drawing/2014/main" id="{D4108403-D8BB-7F8B-5248-488D7B3458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0358" y="1086053"/>
            <a:ext cx="5013934" cy="2265687"/>
          </a:xfrm>
          <a:prstGeom prst="rect">
            <a:avLst/>
          </a:prstGeom>
        </p:spPr>
      </p:pic>
      <p:sp>
        <p:nvSpPr>
          <p:cNvPr id="8" name="Hộp Văn bản 10">
            <a:extLst>
              <a:ext uri="{FF2B5EF4-FFF2-40B4-BE49-F238E27FC236}">
                <a16:creationId xmlns:a16="http://schemas.microsoft.com/office/drawing/2014/main" id="{69F74B3C-4D55-8D08-1D77-3F92D38EAD0F}"/>
              </a:ext>
            </a:extLst>
          </p:cNvPr>
          <p:cNvSpPr txBox="1"/>
          <p:nvPr/>
        </p:nvSpPr>
        <p:spPr>
          <a:xfrm>
            <a:off x="352425" y="1857338"/>
            <a:ext cx="24886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>
                <a:latin typeface="+mj-lt"/>
              </a:rPr>
              <a:t>Current cell with switch signal transition</a:t>
            </a:r>
            <a:endParaRPr lang="vi-VN" sz="1800">
              <a:latin typeface="+mj-lt"/>
            </a:endParaRPr>
          </a:p>
        </p:txBody>
      </p:sp>
      <p:sp>
        <p:nvSpPr>
          <p:cNvPr id="7" name="Hộp Văn bản 10">
            <a:extLst>
              <a:ext uri="{FF2B5EF4-FFF2-40B4-BE49-F238E27FC236}">
                <a16:creationId xmlns:a16="http://schemas.microsoft.com/office/drawing/2014/main" id="{0B850365-CB17-9F0A-3F9F-58E166DD788C}"/>
              </a:ext>
            </a:extLst>
          </p:cNvPr>
          <p:cNvSpPr txBox="1"/>
          <p:nvPr/>
        </p:nvSpPr>
        <p:spPr>
          <a:xfrm>
            <a:off x="9029700" y="3105834"/>
            <a:ext cx="29553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0" i="0" u="none" strike="noStrike" baseline="0" dirty="0">
                <a:latin typeface="+mj-lt"/>
              </a:rPr>
              <a:t>=&gt; </a:t>
            </a:r>
            <a:r>
              <a:rPr lang="en-GB" sz="2000" b="0" i="0" u="none" strike="noStrike" baseline="0" dirty="0">
                <a:latin typeface="+mj-lt"/>
              </a:rPr>
              <a:t>Use </a:t>
            </a:r>
            <a:r>
              <a:rPr lang="en-GB" sz="2000" b="1" i="0" u="none" strike="noStrike" baseline="0" dirty="0">
                <a:latin typeface="+mj-lt"/>
              </a:rPr>
              <a:t>driver </a:t>
            </a:r>
            <a:r>
              <a:rPr lang="en-GB" sz="2000" b="0" i="0" u="none" strike="noStrike" baseline="0" dirty="0">
                <a:latin typeface="+mj-lt"/>
              </a:rPr>
              <a:t>to level-shift switch signals instead of just aligning timing</a:t>
            </a:r>
            <a:endParaRPr lang="vi-VN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2736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92CE6ABD-5D46-4BE2-E5EA-40DE1A35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118895AD-EC9D-E419-50D1-C6C4B8B764C6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17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EEB0E1FE-80A4-B6A7-AC56-6314DB10CD96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Driver</a:t>
            </a:r>
            <a:r>
              <a:rPr lang="vi-VN" sz="4000" b="1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vi-VN" sz="4000" b="1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Schematic</a:t>
            </a:r>
            <a:endParaRPr lang="vi-VN" sz="4000" b="1" dirty="0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Hộp Văn bản 55">
                <a:extLst>
                  <a:ext uri="{FF2B5EF4-FFF2-40B4-BE49-F238E27FC236}">
                    <a16:creationId xmlns:a16="http://schemas.microsoft.com/office/drawing/2014/main" id="{44BFDBAE-DB58-8364-61E1-E39FBEF2DAB5}"/>
                  </a:ext>
                </a:extLst>
              </p:cNvPr>
              <p:cNvSpPr txBox="1"/>
              <p:nvPr/>
            </p:nvSpPr>
            <p:spPr>
              <a:xfrm>
                <a:off x="141778" y="1076301"/>
                <a:ext cx="601979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000" dirty="0"/>
                  <a:t>The </a:t>
                </a:r>
                <a:r>
                  <a:rPr lang="vi-VN" sz="2000" dirty="0" err="1"/>
                  <a:t>output</a:t>
                </a:r>
                <a:r>
                  <a:rPr lang="vi-VN" sz="2000" dirty="0"/>
                  <a:t> </a:t>
                </a:r>
                <a:r>
                  <a:rPr lang="vi-VN" sz="2000" dirty="0" err="1"/>
                  <a:t>voltage</a:t>
                </a:r>
                <a:r>
                  <a:rPr lang="vi-VN" sz="2000" dirty="0"/>
                  <a:t> </a:t>
                </a:r>
                <a:r>
                  <a:rPr lang="vi-VN" sz="2000" dirty="0" err="1"/>
                  <a:t>work</a:t>
                </a:r>
                <a:r>
                  <a:rPr lang="vi-VN" sz="2000" dirty="0"/>
                  <a:t> </a:t>
                </a:r>
                <a:r>
                  <a:rPr lang="vi-VN" sz="2000" dirty="0" err="1"/>
                  <a:t>from</a:t>
                </a:r>
                <a:r>
                  <a:rPr lang="vi-VN" sz="2000" dirty="0"/>
                  <a:t> 0 to 0.6V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vi-V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20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000" i="1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lang="vi-V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20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000" i="1">
                            <a:latin typeface="Cambria Math" panose="02040503050406030204" pitchFamily="18" charset="0"/>
                          </a:rPr>
                          <m:t>source</m:t>
                        </m:r>
                      </m:sub>
                    </m:sSub>
                    <m:r>
                      <a:rPr lang="vi-VN" sz="20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vi-V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20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000" i="1">
                            <a:latin typeface="Cambria Math" panose="02040503050406030204" pitchFamily="18" charset="0"/>
                          </a:rPr>
                          <m:t>load</m:t>
                        </m:r>
                      </m:sub>
                    </m:sSub>
                  </m:oMath>
                </a14:m>
                <a:r>
                  <a:rPr lang="vi-VN" sz="2000" dirty="0"/>
                  <a:t>= 100uA * 6k</a:t>
                </a:r>
                <a:r>
                  <a:rPr lang="el-GR" sz="2000" dirty="0"/>
                  <a:t>Ω</a:t>
                </a:r>
                <a:r>
                  <a:rPr lang="vi-VN" sz="2000" dirty="0"/>
                  <a:t>=600mV</a:t>
                </a:r>
              </a:p>
            </p:txBody>
          </p:sp>
        </mc:Choice>
        <mc:Fallback xmlns="">
          <p:sp>
            <p:nvSpPr>
              <p:cNvPr id="170" name="Hộp Văn bản 55">
                <a:extLst>
                  <a:ext uri="{FF2B5EF4-FFF2-40B4-BE49-F238E27FC236}">
                    <a16:creationId xmlns:a16="http://schemas.microsoft.com/office/drawing/2014/main" id="{44BFDBAE-DB58-8364-61E1-E39FBEF2D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78" y="1076301"/>
                <a:ext cx="6019798" cy="707886"/>
              </a:xfrm>
              <a:prstGeom prst="rect">
                <a:avLst/>
              </a:prstGeom>
              <a:blipFill>
                <a:blip r:embed="rId3"/>
                <a:stretch>
                  <a:fillRect l="-1012" t="-4310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1" name="Picture 220">
            <a:extLst>
              <a:ext uri="{FF2B5EF4-FFF2-40B4-BE49-F238E27FC236}">
                <a16:creationId xmlns:a16="http://schemas.microsoft.com/office/drawing/2014/main" id="{5ACCC2AD-7B96-3FE0-54DD-6F0548EA7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838" y="1076301"/>
            <a:ext cx="5251912" cy="5317572"/>
          </a:xfrm>
          <a:prstGeom prst="rect">
            <a:avLst/>
          </a:prstGeom>
        </p:spPr>
      </p:pic>
      <p:pic>
        <p:nvPicPr>
          <p:cNvPr id="194" name="Picture 19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0DBCA62-E256-A77D-1C58-578C45D9F2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492" y="1870692"/>
            <a:ext cx="5594369" cy="462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928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F268D5BF-6509-E5E3-8A5D-095EF9148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C7C88B07-75E7-EB7D-0F95-5BF2A3EFC680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18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DC77D36E-5421-7675-97B8-7DD993C5BB39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Current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Cell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– Design</a:t>
            </a:r>
          </a:p>
        </p:txBody>
      </p:sp>
      <p:pic>
        <p:nvPicPr>
          <p:cNvPr id="49" name="Picture 4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025E8EB-3807-7E41-7617-591F3F419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23" y="1390650"/>
            <a:ext cx="3435324" cy="422987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9F518E95-997A-36CC-D534-12E5B4B208C6}"/>
              </a:ext>
            </a:extLst>
          </p:cNvPr>
          <p:cNvSpPr txBox="1"/>
          <p:nvPr/>
        </p:nvSpPr>
        <p:spPr>
          <a:xfrm>
            <a:off x="0" y="5743266"/>
            <a:ext cx="3933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err="1"/>
              <a:t>Basic</a:t>
            </a:r>
            <a:r>
              <a:rPr lang="vi-VN" sz="2400"/>
              <a:t> </a:t>
            </a:r>
            <a:r>
              <a:rPr lang="vi-VN" sz="2400" err="1"/>
              <a:t>Cell</a:t>
            </a:r>
            <a:r>
              <a:rPr lang="vi-VN" sz="2400"/>
              <a:t> </a:t>
            </a:r>
            <a:endParaRPr lang="en-GB" sz="24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AFD5ED-022A-903A-D315-D8C099E147C9}"/>
              </a:ext>
            </a:extLst>
          </p:cNvPr>
          <p:cNvSpPr txBox="1"/>
          <p:nvPr/>
        </p:nvSpPr>
        <p:spPr>
          <a:xfrm>
            <a:off x="3933825" y="5661878"/>
            <a:ext cx="3982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dirty="0" err="1"/>
              <a:t>Cascode</a:t>
            </a:r>
            <a:r>
              <a:rPr lang="vi-VN" sz="2400" dirty="0"/>
              <a:t> </a:t>
            </a:r>
            <a:r>
              <a:rPr lang="vi-VN" sz="2400" dirty="0" err="1"/>
              <a:t>current</a:t>
            </a:r>
            <a:r>
              <a:rPr lang="vi-VN" sz="2400" dirty="0"/>
              <a:t> </a:t>
            </a:r>
            <a:r>
              <a:rPr lang="vi-VN" sz="2400" dirty="0" err="1"/>
              <a:t>source</a:t>
            </a:r>
            <a:r>
              <a:rPr lang="vi-VN" sz="2400" dirty="0"/>
              <a:t> </a:t>
            </a:r>
            <a:r>
              <a:rPr lang="vi-VN" sz="2400" dirty="0" err="1"/>
              <a:t>Cell</a:t>
            </a:r>
            <a:r>
              <a:rPr lang="vi-VN" sz="2400" dirty="0"/>
              <a:t> </a:t>
            </a:r>
            <a:endParaRPr lang="en-GB" sz="2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2F7DD9-17FA-1A9C-EF5A-D154D1932706}"/>
              </a:ext>
            </a:extLst>
          </p:cNvPr>
          <p:cNvSpPr txBox="1"/>
          <p:nvPr/>
        </p:nvSpPr>
        <p:spPr>
          <a:xfrm>
            <a:off x="8202705" y="2905035"/>
            <a:ext cx="39824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dirty="0" err="1"/>
              <a:t>More</a:t>
            </a:r>
            <a:r>
              <a:rPr lang="vi-VN" sz="2400" dirty="0"/>
              <a:t> </a:t>
            </a:r>
            <a:r>
              <a:rPr lang="vi-VN" sz="2400" dirty="0" err="1"/>
              <a:t>output</a:t>
            </a:r>
            <a:r>
              <a:rPr lang="vi-VN" sz="2400" dirty="0"/>
              <a:t> </a:t>
            </a:r>
            <a:r>
              <a:rPr lang="vi-VN" sz="2400" dirty="0" err="1"/>
              <a:t>impedance</a:t>
            </a:r>
            <a:endParaRPr lang="vi-VN" sz="2400" dirty="0"/>
          </a:p>
          <a:p>
            <a:pPr algn="ctr"/>
            <a:r>
              <a:rPr lang="vi-VN" sz="2400" dirty="0" err="1"/>
              <a:t>Better</a:t>
            </a:r>
            <a:r>
              <a:rPr lang="vi-VN" sz="2400" dirty="0"/>
              <a:t> ENOB</a:t>
            </a:r>
          </a:p>
          <a:p>
            <a:pPr algn="ctr"/>
            <a:r>
              <a:rPr lang="vi-VN" sz="2400" dirty="0" err="1"/>
              <a:t>Lower</a:t>
            </a:r>
            <a:r>
              <a:rPr lang="vi-VN" sz="2400" dirty="0"/>
              <a:t> </a:t>
            </a:r>
            <a:r>
              <a:rPr lang="vi-VN" sz="2400" dirty="0" err="1"/>
              <a:t>glitch</a:t>
            </a:r>
            <a:endParaRPr lang="vi-VN" sz="2400" dirty="0"/>
          </a:p>
          <a:p>
            <a:pPr algn="ctr"/>
            <a:r>
              <a:rPr lang="vi-VN" sz="2400" dirty="0" err="1"/>
              <a:t>Lower</a:t>
            </a:r>
            <a:r>
              <a:rPr lang="vi-VN" sz="2400" dirty="0"/>
              <a:t> </a:t>
            </a:r>
            <a:r>
              <a:rPr lang="vi-VN" sz="2400" dirty="0" err="1"/>
              <a:t>output</a:t>
            </a:r>
            <a:r>
              <a:rPr lang="vi-VN" sz="2400" dirty="0"/>
              <a:t> </a:t>
            </a:r>
            <a:r>
              <a:rPr lang="vi-VN" sz="2400" dirty="0" err="1"/>
              <a:t>swing</a:t>
            </a:r>
            <a:endParaRPr lang="en-GB" sz="2400" dirty="0"/>
          </a:p>
        </p:txBody>
      </p:sp>
      <p:sp>
        <p:nvSpPr>
          <p:cNvPr id="171" name="Arrow: Right 170">
            <a:extLst>
              <a:ext uri="{FF2B5EF4-FFF2-40B4-BE49-F238E27FC236}">
                <a16:creationId xmlns:a16="http://schemas.microsoft.com/office/drawing/2014/main" id="{02442175-CC6F-B556-EEB0-8AEE00C745C5}"/>
              </a:ext>
            </a:extLst>
          </p:cNvPr>
          <p:cNvSpPr/>
          <p:nvPr/>
        </p:nvSpPr>
        <p:spPr>
          <a:xfrm>
            <a:off x="3296477" y="2973712"/>
            <a:ext cx="1143708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3383C60-7445-76B6-9FE8-5F98546A0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9296" y="1149905"/>
            <a:ext cx="3701970" cy="455819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04BD2724-DB3D-F7D5-B2BD-83BC29FCB941}"/>
              </a:ext>
            </a:extLst>
          </p:cNvPr>
          <p:cNvSpPr/>
          <p:nvPr/>
        </p:nvSpPr>
        <p:spPr>
          <a:xfrm>
            <a:off x="4933950" y="2724150"/>
            <a:ext cx="1581150" cy="781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D2E07-51B2-E053-C25D-74182AE9EA48}"/>
              </a:ext>
            </a:extLst>
          </p:cNvPr>
          <p:cNvSpPr txBox="1"/>
          <p:nvPr/>
        </p:nvSpPr>
        <p:spPr>
          <a:xfrm>
            <a:off x="2012511" y="2351110"/>
            <a:ext cx="704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/>
              <a:t>MP1</a:t>
            </a:r>
            <a:endParaRPr lang="en-GB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543711-BE6F-5369-66EE-D2A16A07ED80}"/>
              </a:ext>
            </a:extLst>
          </p:cNvPr>
          <p:cNvSpPr txBox="1"/>
          <p:nvPr/>
        </p:nvSpPr>
        <p:spPr>
          <a:xfrm>
            <a:off x="355161" y="4637110"/>
            <a:ext cx="704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MP3</a:t>
            </a:r>
            <a:endParaRPr lang="en-GB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8CC3E3-D8C8-0C79-C8FA-4CF7276CE412}"/>
              </a:ext>
            </a:extLst>
          </p:cNvPr>
          <p:cNvSpPr txBox="1"/>
          <p:nvPr/>
        </p:nvSpPr>
        <p:spPr>
          <a:xfrm>
            <a:off x="2767974" y="4616097"/>
            <a:ext cx="704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MP2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758355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19BB2B81-5DDA-4B25-63AB-E5583A9CC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1F416CD0-E601-26DE-B19C-1DB93C532278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19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FFF655B7-E47D-163B-8AC7-76B207755EE2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en-GB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Current Cell Design – Final result</a:t>
            </a:r>
          </a:p>
        </p:txBody>
      </p:sp>
      <p:pic>
        <p:nvPicPr>
          <p:cNvPr id="4" name="Hình ảnh 51">
            <a:extLst>
              <a:ext uri="{FF2B5EF4-FFF2-40B4-BE49-F238E27FC236}">
                <a16:creationId xmlns:a16="http://schemas.microsoft.com/office/drawing/2014/main" id="{48815936-1E15-7A13-9650-227738560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188" y="1497252"/>
            <a:ext cx="5538436" cy="4527070"/>
          </a:xfrm>
          <a:prstGeom prst="rect">
            <a:avLst/>
          </a:prstGeom>
        </p:spPr>
      </p:pic>
      <p:sp>
        <p:nvSpPr>
          <p:cNvPr id="5" name="Hộp Văn bản 52">
            <a:extLst>
              <a:ext uri="{FF2B5EF4-FFF2-40B4-BE49-F238E27FC236}">
                <a16:creationId xmlns:a16="http://schemas.microsoft.com/office/drawing/2014/main" id="{F8238E18-3DB0-5370-7F9A-A21D322E7123}"/>
              </a:ext>
            </a:extLst>
          </p:cNvPr>
          <p:cNvSpPr txBox="1"/>
          <p:nvPr/>
        </p:nvSpPr>
        <p:spPr>
          <a:xfrm>
            <a:off x="7112643" y="1940677"/>
            <a:ext cx="1422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W = 400n</a:t>
            </a:r>
          </a:p>
          <a:p>
            <a:r>
              <a:rPr lang="en-US">
                <a:solidFill>
                  <a:schemeClr val="bg1"/>
                </a:solidFill>
              </a:rPr>
              <a:t>L = 1u</a:t>
            </a:r>
            <a:endParaRPr lang="vi-VN">
              <a:solidFill>
                <a:schemeClr val="bg1"/>
              </a:solidFill>
            </a:endParaRPr>
          </a:p>
        </p:txBody>
      </p:sp>
      <p:sp>
        <p:nvSpPr>
          <p:cNvPr id="7" name="Hộp Văn bản 115">
            <a:extLst>
              <a:ext uri="{FF2B5EF4-FFF2-40B4-BE49-F238E27FC236}">
                <a16:creationId xmlns:a16="http://schemas.microsoft.com/office/drawing/2014/main" id="{96587828-A40A-B4E3-8147-4651795EA3D5}"/>
              </a:ext>
            </a:extLst>
          </p:cNvPr>
          <p:cNvSpPr txBox="1"/>
          <p:nvPr/>
        </p:nvSpPr>
        <p:spPr>
          <a:xfrm>
            <a:off x="5516999" y="6013170"/>
            <a:ext cx="5441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Biasing Circuit</a:t>
            </a:r>
            <a:endParaRPr lang="vi-V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117">
                <a:extLst>
                  <a:ext uri="{FF2B5EF4-FFF2-40B4-BE49-F238E27FC236}">
                    <a16:creationId xmlns:a16="http://schemas.microsoft.com/office/drawing/2014/main" id="{E80BBB61-6039-3561-2F61-24E546621D77}"/>
                  </a:ext>
                </a:extLst>
              </p:cNvPr>
              <p:cNvSpPr txBox="1"/>
              <p:nvPr/>
            </p:nvSpPr>
            <p:spPr>
              <a:xfrm>
                <a:off x="11112838" y="1910764"/>
                <a:ext cx="9276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BIAS</m:t>
                          </m:r>
                        </m:sub>
                      </m:sSub>
                    </m:oMath>
                  </m:oMathPara>
                </a14:m>
                <a:endParaRPr lang="vi-VN" sz="1800"/>
              </a:p>
            </p:txBody>
          </p:sp>
        </mc:Choice>
        <mc:Fallback xmlns="">
          <p:sp>
            <p:nvSpPr>
              <p:cNvPr id="8" name="Hộp Văn bản 117">
                <a:extLst>
                  <a:ext uri="{FF2B5EF4-FFF2-40B4-BE49-F238E27FC236}">
                    <a16:creationId xmlns:a16="http://schemas.microsoft.com/office/drawing/2014/main" id="{E80BBB61-6039-3561-2F61-24E546621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2838" y="1910764"/>
                <a:ext cx="92760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Hộp Văn bản 118">
                <a:extLst>
                  <a:ext uri="{FF2B5EF4-FFF2-40B4-BE49-F238E27FC236}">
                    <a16:creationId xmlns:a16="http://schemas.microsoft.com/office/drawing/2014/main" id="{C5FFAFB9-CED6-B972-ED12-F70ABDE3E5B3}"/>
                  </a:ext>
                </a:extLst>
              </p:cNvPr>
              <p:cNvSpPr txBox="1"/>
              <p:nvPr/>
            </p:nvSpPr>
            <p:spPr>
              <a:xfrm>
                <a:off x="11112838" y="2627959"/>
                <a:ext cx="927604" cy="374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CAS</m:t>
                          </m:r>
                        </m:sub>
                      </m:sSub>
                    </m:oMath>
                  </m:oMathPara>
                </a14:m>
                <a:endParaRPr lang="vi-VN" sz="1800"/>
              </a:p>
            </p:txBody>
          </p:sp>
        </mc:Choice>
        <mc:Fallback xmlns="">
          <p:sp>
            <p:nvSpPr>
              <p:cNvPr id="9" name="Hộp Văn bản 118">
                <a:extLst>
                  <a:ext uri="{FF2B5EF4-FFF2-40B4-BE49-F238E27FC236}">
                    <a16:creationId xmlns:a16="http://schemas.microsoft.com/office/drawing/2014/main" id="{C5FFAFB9-CED6-B972-ED12-F70ABDE3E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2838" y="2627959"/>
                <a:ext cx="927604" cy="3745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Đường kết nối Mũi tên Thẳng 120">
            <a:extLst>
              <a:ext uri="{FF2B5EF4-FFF2-40B4-BE49-F238E27FC236}">
                <a16:creationId xmlns:a16="http://schemas.microsoft.com/office/drawing/2014/main" id="{7624C8BE-4597-1AFE-E806-334493DDB5C3}"/>
              </a:ext>
            </a:extLst>
          </p:cNvPr>
          <p:cNvCxnSpPr/>
          <p:nvPr/>
        </p:nvCxnSpPr>
        <p:spPr>
          <a:xfrm flipV="1">
            <a:off x="10851307" y="2095430"/>
            <a:ext cx="469900" cy="581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Đường kết nối Mũi tên Thẳng 121">
            <a:extLst>
              <a:ext uri="{FF2B5EF4-FFF2-40B4-BE49-F238E27FC236}">
                <a16:creationId xmlns:a16="http://schemas.microsoft.com/office/drawing/2014/main" id="{C649869F-4427-7673-173E-C900CB71DDB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0571724" y="2812625"/>
            <a:ext cx="541114" cy="26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927F143-112A-6C34-364E-5E697CE05A9E}"/>
              </a:ext>
            </a:extLst>
          </p:cNvPr>
          <p:cNvSpPr txBox="1"/>
          <p:nvPr/>
        </p:nvSpPr>
        <p:spPr>
          <a:xfrm>
            <a:off x="3595543" y="5050315"/>
            <a:ext cx="192145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vi-VN" sz="1800" err="1"/>
              <a:t>Cascode</a:t>
            </a:r>
            <a:r>
              <a:rPr lang="vi-VN" sz="1800"/>
              <a:t> </a:t>
            </a:r>
            <a:r>
              <a:rPr lang="vi-VN" sz="1800" err="1"/>
              <a:t>switch</a:t>
            </a:r>
            <a:endParaRPr lang="en-GB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3C2312-D48D-BEB0-D8E3-779959B14928}"/>
              </a:ext>
            </a:extLst>
          </p:cNvPr>
          <p:cNvSpPr/>
          <p:nvPr/>
        </p:nvSpPr>
        <p:spPr>
          <a:xfrm>
            <a:off x="1150376" y="4842606"/>
            <a:ext cx="2055348" cy="7847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3" name="Group 3">
            <a:extLst>
              <a:ext uri="{FF2B5EF4-FFF2-40B4-BE49-F238E27FC236}">
                <a16:creationId xmlns:a16="http://schemas.microsoft.com/office/drawing/2014/main" id="{601C629C-26C6-7C36-3EC2-B7C2E6B48CB0}"/>
              </a:ext>
            </a:extLst>
          </p:cNvPr>
          <p:cNvGrpSpPr>
            <a:grpSpLocks/>
          </p:cNvGrpSpPr>
          <p:nvPr/>
        </p:nvGrpSpPr>
        <p:grpSpPr bwMode="auto">
          <a:xfrm>
            <a:off x="261587" y="898525"/>
            <a:ext cx="3702050" cy="5594350"/>
            <a:chOff x="2720975" y="762000"/>
            <a:chExt cx="3702050" cy="5594350"/>
          </a:xfrm>
        </p:grpSpPr>
        <p:grpSp>
          <p:nvGrpSpPr>
            <p:cNvPr id="14" name="Group 2">
              <a:extLst>
                <a:ext uri="{FF2B5EF4-FFF2-40B4-BE49-F238E27FC236}">
                  <a16:creationId xmlns:a16="http://schemas.microsoft.com/office/drawing/2014/main" id="{A88AF83F-D9A5-5CD7-1571-55215DC06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0975" y="762000"/>
              <a:ext cx="3702050" cy="5594350"/>
              <a:chOff x="2720975" y="762000"/>
              <a:chExt cx="3702050" cy="5594350"/>
            </a:xfrm>
          </p:grpSpPr>
          <p:grpSp>
            <p:nvGrpSpPr>
              <p:cNvPr id="17" name="Group 386">
                <a:extLst>
                  <a:ext uri="{FF2B5EF4-FFF2-40B4-BE49-F238E27FC236}">
                    <a16:creationId xmlns:a16="http://schemas.microsoft.com/office/drawing/2014/main" id="{B2D79B57-A385-F12C-2F47-59B03F208E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4231336" y="1696569"/>
                <a:ext cx="381163" cy="609630"/>
                <a:chOff x="4848" y="240"/>
                <a:chExt cx="480" cy="768"/>
              </a:xfrm>
            </p:grpSpPr>
            <p:sp>
              <p:nvSpPr>
                <p:cNvPr id="139" name="Freeform 387">
                  <a:extLst>
                    <a:ext uri="{FF2B5EF4-FFF2-40B4-BE49-F238E27FC236}">
                      <a16:creationId xmlns:a16="http://schemas.microsoft.com/office/drawing/2014/main" id="{06E08862-5243-C5BF-280D-62A0DF89FE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4848" y="240"/>
                  <a:ext cx="192" cy="768"/>
                </a:xfrm>
                <a:custGeom>
                  <a:avLst/>
                  <a:gdLst>
                    <a:gd name="T0" fmla="*/ 0 w 192"/>
                    <a:gd name="T1" fmla="*/ 0 h 768"/>
                    <a:gd name="T2" fmla="*/ 0 w 192"/>
                    <a:gd name="T3" fmla="*/ 192 h 768"/>
                    <a:gd name="T4" fmla="*/ 192 w 192"/>
                    <a:gd name="T5" fmla="*/ 192 h 768"/>
                    <a:gd name="T6" fmla="*/ 192 w 192"/>
                    <a:gd name="T7" fmla="*/ 576 h 768"/>
                    <a:gd name="T8" fmla="*/ 0 w 192"/>
                    <a:gd name="T9" fmla="*/ 576 h 768"/>
                    <a:gd name="T10" fmla="*/ 0 w 192"/>
                    <a:gd name="T11" fmla="*/ 768 h 76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2"/>
                    <a:gd name="T19" fmla="*/ 0 h 768"/>
                    <a:gd name="T20" fmla="*/ 192 w 192"/>
                    <a:gd name="T21" fmla="*/ 768 h 76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2" h="768">
                      <a:moveTo>
                        <a:pt x="0" y="0"/>
                      </a:moveTo>
                      <a:lnTo>
                        <a:pt x="0" y="192"/>
                      </a:lnTo>
                      <a:lnTo>
                        <a:pt x="192" y="192"/>
                      </a:lnTo>
                      <a:lnTo>
                        <a:pt x="192" y="576"/>
                      </a:lnTo>
                      <a:lnTo>
                        <a:pt x="0" y="576"/>
                      </a:lnTo>
                      <a:lnTo>
                        <a:pt x="0" y="768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0" name="Line 388">
                  <a:extLst>
                    <a:ext uri="{FF2B5EF4-FFF2-40B4-BE49-F238E27FC236}">
                      <a16:creationId xmlns:a16="http://schemas.microsoft.com/office/drawing/2014/main" id="{30915B3B-7464-9F9B-132A-B911FD5D9D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88" y="624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1" name="Freeform 389">
                  <a:extLst>
                    <a:ext uri="{FF2B5EF4-FFF2-40B4-BE49-F238E27FC236}">
                      <a16:creationId xmlns:a16="http://schemas.microsoft.com/office/drawing/2014/main" id="{916E15C3-6ED5-3FC2-A4C5-9912E7A9E2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896" y="384"/>
                  <a:ext cx="96" cy="96"/>
                </a:xfrm>
                <a:custGeom>
                  <a:avLst/>
                  <a:gdLst>
                    <a:gd name="T0" fmla="*/ 0 w 96"/>
                    <a:gd name="T1" fmla="*/ 48 h 96"/>
                    <a:gd name="T2" fmla="*/ 96 w 96"/>
                    <a:gd name="T3" fmla="*/ 0 h 96"/>
                    <a:gd name="T4" fmla="*/ 96 w 96"/>
                    <a:gd name="T5" fmla="*/ 96 h 96"/>
                    <a:gd name="T6" fmla="*/ 0 w 96"/>
                    <a:gd name="T7" fmla="*/ 48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48"/>
                      </a:moveTo>
                      <a:lnTo>
                        <a:pt x="96" y="0"/>
                      </a:lnTo>
                      <a:lnTo>
                        <a:pt x="96" y="96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2" name="Line 390">
                  <a:extLst>
                    <a:ext uri="{FF2B5EF4-FFF2-40B4-BE49-F238E27FC236}">
                      <a16:creationId xmlns:a16="http://schemas.microsoft.com/office/drawing/2014/main" id="{72E3496E-41EA-BB5E-5868-410ADA1D4E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88" y="432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3" name="Line 391">
                  <a:extLst>
                    <a:ext uri="{FF2B5EF4-FFF2-40B4-BE49-F238E27FC236}">
                      <a16:creationId xmlns:a16="http://schemas.microsoft.com/office/drawing/2014/main" id="{74A292E3-98ED-41B4-26AA-9179879B26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92" y="432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8" name="Group 386">
                <a:extLst>
                  <a:ext uri="{FF2B5EF4-FFF2-40B4-BE49-F238E27FC236}">
                    <a16:creationId xmlns:a16="http://schemas.microsoft.com/office/drawing/2014/main" id="{F6A400AC-0445-5FF4-0B73-79B09404A2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4231336" y="2763421"/>
                <a:ext cx="381163" cy="609630"/>
                <a:chOff x="4848" y="240"/>
                <a:chExt cx="480" cy="768"/>
              </a:xfrm>
            </p:grpSpPr>
            <p:sp>
              <p:nvSpPr>
                <p:cNvPr id="134" name="Freeform 387">
                  <a:extLst>
                    <a:ext uri="{FF2B5EF4-FFF2-40B4-BE49-F238E27FC236}">
                      <a16:creationId xmlns:a16="http://schemas.microsoft.com/office/drawing/2014/main" id="{CAD01DF2-1EC6-DD6E-9FFD-FC26EC8E91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4848" y="240"/>
                  <a:ext cx="192" cy="768"/>
                </a:xfrm>
                <a:custGeom>
                  <a:avLst/>
                  <a:gdLst>
                    <a:gd name="T0" fmla="*/ 0 w 192"/>
                    <a:gd name="T1" fmla="*/ 0 h 768"/>
                    <a:gd name="T2" fmla="*/ 0 w 192"/>
                    <a:gd name="T3" fmla="*/ 192 h 768"/>
                    <a:gd name="T4" fmla="*/ 192 w 192"/>
                    <a:gd name="T5" fmla="*/ 192 h 768"/>
                    <a:gd name="T6" fmla="*/ 192 w 192"/>
                    <a:gd name="T7" fmla="*/ 576 h 768"/>
                    <a:gd name="T8" fmla="*/ 0 w 192"/>
                    <a:gd name="T9" fmla="*/ 576 h 768"/>
                    <a:gd name="T10" fmla="*/ 0 w 192"/>
                    <a:gd name="T11" fmla="*/ 768 h 76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2"/>
                    <a:gd name="T19" fmla="*/ 0 h 768"/>
                    <a:gd name="T20" fmla="*/ 192 w 192"/>
                    <a:gd name="T21" fmla="*/ 768 h 76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2" h="768">
                      <a:moveTo>
                        <a:pt x="0" y="0"/>
                      </a:moveTo>
                      <a:lnTo>
                        <a:pt x="0" y="192"/>
                      </a:lnTo>
                      <a:lnTo>
                        <a:pt x="192" y="192"/>
                      </a:lnTo>
                      <a:lnTo>
                        <a:pt x="192" y="576"/>
                      </a:lnTo>
                      <a:lnTo>
                        <a:pt x="0" y="576"/>
                      </a:lnTo>
                      <a:lnTo>
                        <a:pt x="0" y="768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5" name="Line 388">
                  <a:extLst>
                    <a:ext uri="{FF2B5EF4-FFF2-40B4-BE49-F238E27FC236}">
                      <a16:creationId xmlns:a16="http://schemas.microsoft.com/office/drawing/2014/main" id="{10BF65E1-23E4-E3DA-D37D-2E2F413FB0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88" y="624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6" name="Freeform 389">
                  <a:extLst>
                    <a:ext uri="{FF2B5EF4-FFF2-40B4-BE49-F238E27FC236}">
                      <a16:creationId xmlns:a16="http://schemas.microsoft.com/office/drawing/2014/main" id="{D9CF6DB0-3E51-2B5E-3631-BCA8162317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896" y="384"/>
                  <a:ext cx="96" cy="96"/>
                </a:xfrm>
                <a:custGeom>
                  <a:avLst/>
                  <a:gdLst>
                    <a:gd name="T0" fmla="*/ 0 w 96"/>
                    <a:gd name="T1" fmla="*/ 48 h 96"/>
                    <a:gd name="T2" fmla="*/ 96 w 96"/>
                    <a:gd name="T3" fmla="*/ 0 h 96"/>
                    <a:gd name="T4" fmla="*/ 96 w 96"/>
                    <a:gd name="T5" fmla="*/ 96 h 96"/>
                    <a:gd name="T6" fmla="*/ 0 w 96"/>
                    <a:gd name="T7" fmla="*/ 48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48"/>
                      </a:moveTo>
                      <a:lnTo>
                        <a:pt x="96" y="0"/>
                      </a:lnTo>
                      <a:lnTo>
                        <a:pt x="96" y="96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7" name="Line 390">
                  <a:extLst>
                    <a:ext uri="{FF2B5EF4-FFF2-40B4-BE49-F238E27FC236}">
                      <a16:creationId xmlns:a16="http://schemas.microsoft.com/office/drawing/2014/main" id="{FF2F4208-6FA7-1198-9D9A-45F3CAFCBC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88" y="432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8" name="Line 391">
                  <a:extLst>
                    <a:ext uri="{FF2B5EF4-FFF2-40B4-BE49-F238E27FC236}">
                      <a16:creationId xmlns:a16="http://schemas.microsoft.com/office/drawing/2014/main" id="{719FF942-26EE-6E2B-2780-DA2079677A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92" y="432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9" name="Group 386">
                <a:extLst>
                  <a:ext uri="{FF2B5EF4-FFF2-40B4-BE49-F238E27FC236}">
                    <a16:creationId xmlns:a16="http://schemas.microsoft.com/office/drawing/2014/main" id="{4E4EB2D6-4E52-528F-E659-380D0983E0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27295" y="3754069"/>
                <a:ext cx="381163" cy="609630"/>
                <a:chOff x="4848" y="240"/>
                <a:chExt cx="480" cy="768"/>
              </a:xfrm>
            </p:grpSpPr>
            <p:sp>
              <p:nvSpPr>
                <p:cNvPr id="129" name="Freeform 387">
                  <a:extLst>
                    <a:ext uri="{FF2B5EF4-FFF2-40B4-BE49-F238E27FC236}">
                      <a16:creationId xmlns:a16="http://schemas.microsoft.com/office/drawing/2014/main" id="{024CA640-F9CF-97A3-6C4E-C7990E2978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4848" y="240"/>
                  <a:ext cx="192" cy="768"/>
                </a:xfrm>
                <a:custGeom>
                  <a:avLst/>
                  <a:gdLst>
                    <a:gd name="T0" fmla="*/ 0 w 192"/>
                    <a:gd name="T1" fmla="*/ 0 h 768"/>
                    <a:gd name="T2" fmla="*/ 0 w 192"/>
                    <a:gd name="T3" fmla="*/ 192 h 768"/>
                    <a:gd name="T4" fmla="*/ 192 w 192"/>
                    <a:gd name="T5" fmla="*/ 192 h 768"/>
                    <a:gd name="T6" fmla="*/ 192 w 192"/>
                    <a:gd name="T7" fmla="*/ 576 h 768"/>
                    <a:gd name="T8" fmla="*/ 0 w 192"/>
                    <a:gd name="T9" fmla="*/ 576 h 768"/>
                    <a:gd name="T10" fmla="*/ 0 w 192"/>
                    <a:gd name="T11" fmla="*/ 768 h 76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2"/>
                    <a:gd name="T19" fmla="*/ 0 h 768"/>
                    <a:gd name="T20" fmla="*/ 192 w 192"/>
                    <a:gd name="T21" fmla="*/ 768 h 76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2" h="768">
                      <a:moveTo>
                        <a:pt x="0" y="0"/>
                      </a:moveTo>
                      <a:lnTo>
                        <a:pt x="0" y="192"/>
                      </a:lnTo>
                      <a:lnTo>
                        <a:pt x="192" y="192"/>
                      </a:lnTo>
                      <a:lnTo>
                        <a:pt x="192" y="576"/>
                      </a:lnTo>
                      <a:lnTo>
                        <a:pt x="0" y="576"/>
                      </a:lnTo>
                      <a:lnTo>
                        <a:pt x="0" y="768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0" name="Line 388">
                  <a:extLst>
                    <a:ext uri="{FF2B5EF4-FFF2-40B4-BE49-F238E27FC236}">
                      <a16:creationId xmlns:a16="http://schemas.microsoft.com/office/drawing/2014/main" id="{1D6B8FD7-68A9-B432-03F3-1999E1F2B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88" y="624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1" name="Freeform 389">
                  <a:extLst>
                    <a:ext uri="{FF2B5EF4-FFF2-40B4-BE49-F238E27FC236}">
                      <a16:creationId xmlns:a16="http://schemas.microsoft.com/office/drawing/2014/main" id="{DE124D32-F692-9E4B-EE34-F13AA5D64C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896" y="384"/>
                  <a:ext cx="96" cy="96"/>
                </a:xfrm>
                <a:custGeom>
                  <a:avLst/>
                  <a:gdLst>
                    <a:gd name="T0" fmla="*/ 0 w 96"/>
                    <a:gd name="T1" fmla="*/ 48 h 96"/>
                    <a:gd name="T2" fmla="*/ 96 w 96"/>
                    <a:gd name="T3" fmla="*/ 0 h 96"/>
                    <a:gd name="T4" fmla="*/ 96 w 96"/>
                    <a:gd name="T5" fmla="*/ 96 h 96"/>
                    <a:gd name="T6" fmla="*/ 0 w 96"/>
                    <a:gd name="T7" fmla="*/ 48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48"/>
                      </a:moveTo>
                      <a:lnTo>
                        <a:pt x="96" y="0"/>
                      </a:lnTo>
                      <a:lnTo>
                        <a:pt x="96" y="96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2" name="Line 390">
                  <a:extLst>
                    <a:ext uri="{FF2B5EF4-FFF2-40B4-BE49-F238E27FC236}">
                      <a16:creationId xmlns:a16="http://schemas.microsoft.com/office/drawing/2014/main" id="{7A741081-3114-7349-C609-4E51A8EFB2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88" y="432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" name="Line 391">
                  <a:extLst>
                    <a:ext uri="{FF2B5EF4-FFF2-40B4-BE49-F238E27FC236}">
                      <a16:creationId xmlns:a16="http://schemas.microsoft.com/office/drawing/2014/main" id="{2061197D-9AFF-3406-409F-9B49E66112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92" y="432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20" name="Group 386">
                <a:extLst>
                  <a:ext uri="{FF2B5EF4-FFF2-40B4-BE49-F238E27FC236}">
                    <a16:creationId xmlns:a16="http://schemas.microsoft.com/office/drawing/2014/main" id="{F804814F-DD9D-EE78-5CD3-63BF529C0F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316548" y="3792171"/>
                <a:ext cx="381163" cy="609630"/>
                <a:chOff x="4848" y="240"/>
                <a:chExt cx="480" cy="768"/>
              </a:xfrm>
            </p:grpSpPr>
            <p:sp>
              <p:nvSpPr>
                <p:cNvPr id="60" name="Freeform 387">
                  <a:extLst>
                    <a:ext uri="{FF2B5EF4-FFF2-40B4-BE49-F238E27FC236}">
                      <a16:creationId xmlns:a16="http://schemas.microsoft.com/office/drawing/2014/main" id="{7BBF7E39-A9A5-12E9-14E7-1C76BB95F0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4848" y="240"/>
                  <a:ext cx="192" cy="768"/>
                </a:xfrm>
                <a:custGeom>
                  <a:avLst/>
                  <a:gdLst>
                    <a:gd name="T0" fmla="*/ 0 w 192"/>
                    <a:gd name="T1" fmla="*/ 0 h 768"/>
                    <a:gd name="T2" fmla="*/ 0 w 192"/>
                    <a:gd name="T3" fmla="*/ 192 h 768"/>
                    <a:gd name="T4" fmla="*/ 192 w 192"/>
                    <a:gd name="T5" fmla="*/ 192 h 768"/>
                    <a:gd name="T6" fmla="*/ 192 w 192"/>
                    <a:gd name="T7" fmla="*/ 576 h 768"/>
                    <a:gd name="T8" fmla="*/ 0 w 192"/>
                    <a:gd name="T9" fmla="*/ 576 h 768"/>
                    <a:gd name="T10" fmla="*/ 0 w 192"/>
                    <a:gd name="T11" fmla="*/ 768 h 76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2"/>
                    <a:gd name="T19" fmla="*/ 0 h 768"/>
                    <a:gd name="T20" fmla="*/ 192 w 192"/>
                    <a:gd name="T21" fmla="*/ 768 h 76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2" h="768">
                      <a:moveTo>
                        <a:pt x="0" y="0"/>
                      </a:moveTo>
                      <a:lnTo>
                        <a:pt x="0" y="192"/>
                      </a:lnTo>
                      <a:lnTo>
                        <a:pt x="192" y="192"/>
                      </a:lnTo>
                      <a:lnTo>
                        <a:pt x="192" y="576"/>
                      </a:lnTo>
                      <a:lnTo>
                        <a:pt x="0" y="576"/>
                      </a:lnTo>
                      <a:lnTo>
                        <a:pt x="0" y="768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1" name="Line 388">
                  <a:extLst>
                    <a:ext uri="{FF2B5EF4-FFF2-40B4-BE49-F238E27FC236}">
                      <a16:creationId xmlns:a16="http://schemas.microsoft.com/office/drawing/2014/main" id="{DAB31A05-8090-0A62-31F6-04E99DA1EA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88" y="624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2" name="Freeform 389">
                  <a:extLst>
                    <a:ext uri="{FF2B5EF4-FFF2-40B4-BE49-F238E27FC236}">
                      <a16:creationId xmlns:a16="http://schemas.microsoft.com/office/drawing/2014/main" id="{0D42543D-B843-B3A7-2A54-7FF839287E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896" y="384"/>
                  <a:ext cx="96" cy="96"/>
                </a:xfrm>
                <a:custGeom>
                  <a:avLst/>
                  <a:gdLst>
                    <a:gd name="T0" fmla="*/ 0 w 96"/>
                    <a:gd name="T1" fmla="*/ 48 h 96"/>
                    <a:gd name="T2" fmla="*/ 96 w 96"/>
                    <a:gd name="T3" fmla="*/ 0 h 96"/>
                    <a:gd name="T4" fmla="*/ 96 w 96"/>
                    <a:gd name="T5" fmla="*/ 96 h 96"/>
                    <a:gd name="T6" fmla="*/ 0 w 96"/>
                    <a:gd name="T7" fmla="*/ 48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48"/>
                      </a:moveTo>
                      <a:lnTo>
                        <a:pt x="96" y="0"/>
                      </a:lnTo>
                      <a:lnTo>
                        <a:pt x="96" y="96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3" name="Line 390">
                  <a:extLst>
                    <a:ext uri="{FF2B5EF4-FFF2-40B4-BE49-F238E27FC236}">
                      <a16:creationId xmlns:a16="http://schemas.microsoft.com/office/drawing/2014/main" id="{B54BE434-885D-91D8-637A-A5E5E68AE0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88" y="432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8" name="Line 391">
                  <a:extLst>
                    <a:ext uri="{FF2B5EF4-FFF2-40B4-BE49-F238E27FC236}">
                      <a16:creationId xmlns:a16="http://schemas.microsoft.com/office/drawing/2014/main" id="{673DCAA7-B43A-D0A7-E17C-927649BB4A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92" y="432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cxnSp>
            <p:nvCxnSpPr>
              <p:cNvPr id="21" name="Đường nối Thẳng 9">
                <a:extLst>
                  <a:ext uri="{FF2B5EF4-FFF2-40B4-BE49-F238E27FC236}">
                    <a16:creationId xmlns:a16="http://schemas.microsoft.com/office/drawing/2014/main" id="{7F3B7144-963C-4937-C260-F62C60A592E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4612499" y="2306198"/>
                <a:ext cx="0" cy="609630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Đường kết nối: Mũi tên Gấp khúc 10">
                <a:extLst>
                  <a:ext uri="{FF2B5EF4-FFF2-40B4-BE49-F238E27FC236}">
                    <a16:creationId xmlns:a16="http://schemas.microsoft.com/office/drawing/2014/main" id="{22B1F5CA-DA8B-0A62-64ED-14195DD91D5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612501" y="3370669"/>
                <a:ext cx="914792" cy="381019"/>
              </a:xfrm>
              <a:prstGeom prst="bentConnector3">
                <a:avLst>
                  <a:gd name="adj1" fmla="val 99509"/>
                </a:avLst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" name="Đường kết nối: Mũi tên Gấp khúc 11">
                <a:extLst>
                  <a:ext uri="{FF2B5EF4-FFF2-40B4-BE49-F238E27FC236}">
                    <a16:creationId xmlns:a16="http://schemas.microsoft.com/office/drawing/2014/main" id="{5B0BBEB1-ABA0-9B34-F13B-CB49E1D6147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0800000" flipV="1">
                <a:off x="3705649" y="3373050"/>
                <a:ext cx="914788" cy="419120"/>
              </a:xfrm>
              <a:prstGeom prst="bentConnector3">
                <a:avLst>
                  <a:gd name="adj1" fmla="val 100833"/>
                </a:avLst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4" name="Group 221">
                <a:extLst>
                  <a:ext uri="{FF2B5EF4-FFF2-40B4-BE49-F238E27FC236}">
                    <a16:creationId xmlns:a16="http://schemas.microsoft.com/office/drawing/2014/main" id="{0788A534-836A-3703-51CB-183A518380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60036" y="1170763"/>
                <a:ext cx="304931" cy="228611"/>
                <a:chOff x="3888" y="3072"/>
                <a:chExt cx="192" cy="144"/>
              </a:xfrm>
            </p:grpSpPr>
            <p:sp>
              <p:nvSpPr>
                <p:cNvPr id="58" name="Line 27">
                  <a:extLst>
                    <a:ext uri="{FF2B5EF4-FFF2-40B4-BE49-F238E27FC236}">
                      <a16:creationId xmlns:a16="http://schemas.microsoft.com/office/drawing/2014/main" id="{302240EA-469A-9B9D-ACE3-9039663A94E7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888" y="3072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9" name="Line 28">
                  <a:extLst>
                    <a:ext uri="{FF2B5EF4-FFF2-40B4-BE49-F238E27FC236}">
                      <a16:creationId xmlns:a16="http://schemas.microsoft.com/office/drawing/2014/main" id="{3F2D1984-6005-10F9-4CA9-863ADCD6387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984" y="3072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cxnSp>
            <p:nvCxnSpPr>
              <p:cNvPr id="25" name="Đường nối Thẳng 13">
                <a:extLst>
                  <a:ext uri="{FF2B5EF4-FFF2-40B4-BE49-F238E27FC236}">
                    <a16:creationId xmlns:a16="http://schemas.microsoft.com/office/drawing/2014/main" id="{153F7A32-9EAC-6944-82E8-515587C70DD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697711" y="2001383"/>
                <a:ext cx="533625" cy="0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6" name="Đường nối Thẳng 14">
                <a:extLst>
                  <a:ext uri="{FF2B5EF4-FFF2-40B4-BE49-F238E27FC236}">
                    <a16:creationId xmlns:a16="http://schemas.microsoft.com/office/drawing/2014/main" id="{BEDA7D7A-B5A2-E704-E51A-5DE54C0E6B6E}"/>
                  </a:ext>
                </a:extLst>
              </p:cNvPr>
              <p:cNvCxnSpPr>
                <a:cxnSpLocks/>
                <a:stCxn id="135" idx="1"/>
              </p:cNvCxnSpPr>
              <p:nvPr/>
            </p:nvCxnSpPr>
            <p:spPr bwMode="auto">
              <a:xfrm flipH="1">
                <a:off x="3716770" y="3068235"/>
                <a:ext cx="514566" cy="0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7" name="Đường nối Thẳng 15">
                <a:extLst>
                  <a:ext uri="{FF2B5EF4-FFF2-40B4-BE49-F238E27FC236}">
                    <a16:creationId xmlns:a16="http://schemas.microsoft.com/office/drawing/2014/main" id="{BC14DA2E-A9AF-D85A-08BE-FA02863C62E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2801982" y="4096986"/>
                <a:ext cx="514566" cy="0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" name="Đường nối Thẳng 16">
                <a:extLst>
                  <a:ext uri="{FF2B5EF4-FFF2-40B4-BE49-F238E27FC236}">
                    <a16:creationId xmlns:a16="http://schemas.microsoft.com/office/drawing/2014/main" id="{11DDD21C-B8CB-C25E-4FCE-C01B50EE523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5908459" y="4058884"/>
                <a:ext cx="514566" cy="0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" name="Đường nối Thẳng 17">
                <a:extLst>
                  <a:ext uri="{FF2B5EF4-FFF2-40B4-BE49-F238E27FC236}">
                    <a16:creationId xmlns:a16="http://schemas.microsoft.com/office/drawing/2014/main" id="{E22FB164-1A79-B6D5-B1E8-B32078ED40F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697709" y="4363699"/>
                <a:ext cx="0" cy="609630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" name="Đường nối Thẳng 18">
                <a:extLst>
                  <a:ext uri="{FF2B5EF4-FFF2-40B4-BE49-F238E27FC236}">
                    <a16:creationId xmlns:a16="http://schemas.microsoft.com/office/drawing/2014/main" id="{90D85013-FF64-039D-3631-39FA99C2C99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27293" y="4287495"/>
                <a:ext cx="0" cy="685833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" name="Đường nối Thẳng 19">
                <a:extLst>
                  <a:ext uri="{FF2B5EF4-FFF2-40B4-BE49-F238E27FC236}">
                    <a16:creationId xmlns:a16="http://schemas.microsoft.com/office/drawing/2014/main" id="{A4FD7E3F-4F1B-FBDE-63B2-CBF82CFFC9F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4610906" y="1234583"/>
                <a:ext cx="0" cy="609630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2" name="Hộp Văn bản 20">
                <a:extLst>
                  <a:ext uri="{FF2B5EF4-FFF2-40B4-BE49-F238E27FC236}">
                    <a16:creationId xmlns:a16="http://schemas.microsoft.com/office/drawing/2014/main" id="{DCA9469A-FFC1-F91F-1686-D3FD2699C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21478" y="1659538"/>
                <a:ext cx="647977" cy="369350"/>
              </a:xfrm>
              <a:prstGeom prst="rect">
                <a:avLst/>
              </a:prstGeom>
              <a:blipFill>
                <a:blip r:embed="rId6"/>
                <a:stretch>
                  <a:fillRect r="-1887" b="-1639"/>
                </a:stretch>
              </a:blipFill>
            </p:spPr>
            <p:txBody>
              <a:bodyPr/>
              <a:lstStyle/>
              <a:p>
                <a:pPr>
                  <a:defRPr/>
                </a:pPr>
                <a:r>
                  <a:rPr lang="vi-VN">
                    <a:noFill/>
                  </a:rPr>
                  <a:t> </a:t>
                </a:r>
              </a:p>
            </p:txBody>
          </p:sp>
          <p:sp>
            <p:nvSpPr>
              <p:cNvPr id="33" name="Hộp Văn bản 21">
                <a:extLst>
                  <a:ext uri="{FF2B5EF4-FFF2-40B4-BE49-F238E27FC236}">
                    <a16:creationId xmlns:a16="http://schemas.microsoft.com/office/drawing/2014/main" id="{C746A25D-F98D-52DA-ED50-38DF67A70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12278" y="762000"/>
                <a:ext cx="647977" cy="3693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/>
                </a:pPr>
                <a:r>
                  <a:rPr lang="vi-VN">
                    <a:noFill/>
                  </a:rPr>
                  <a:t> </a:t>
                </a:r>
              </a:p>
            </p:txBody>
          </p:sp>
          <p:sp>
            <p:nvSpPr>
              <p:cNvPr id="34" name="Hộp Văn bản 22">
                <a:extLst>
                  <a:ext uri="{FF2B5EF4-FFF2-40B4-BE49-F238E27FC236}">
                    <a16:creationId xmlns:a16="http://schemas.microsoft.com/office/drawing/2014/main" id="{DAA08478-CBDA-960D-77DF-F1937EFA8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45296" y="2726390"/>
                <a:ext cx="647977" cy="3746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/>
                </a:pPr>
                <a:r>
                  <a:rPr lang="vi-VN">
                    <a:noFill/>
                  </a:rPr>
                  <a:t> </a:t>
                </a:r>
              </a:p>
            </p:txBody>
          </p:sp>
          <p:sp>
            <p:nvSpPr>
              <p:cNvPr id="35" name="Hộp Văn bản 23">
                <a:extLst>
                  <a:ext uri="{FF2B5EF4-FFF2-40B4-BE49-F238E27FC236}">
                    <a16:creationId xmlns:a16="http://schemas.microsoft.com/office/drawing/2014/main" id="{9ECE54E6-C199-859F-9309-8CCA6BFCD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0975" y="3689554"/>
                <a:ext cx="647977" cy="3693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/>
                </a:pPr>
                <a:r>
                  <a:rPr lang="vi-VN">
                    <a:noFill/>
                  </a:rPr>
                  <a:t> </a:t>
                </a:r>
              </a:p>
            </p:txBody>
          </p:sp>
          <p:sp>
            <p:nvSpPr>
              <p:cNvPr id="36" name="Hộp Văn bản 24">
                <a:extLst>
                  <a:ext uri="{FF2B5EF4-FFF2-40B4-BE49-F238E27FC236}">
                    <a16:creationId xmlns:a16="http://schemas.microsoft.com/office/drawing/2014/main" id="{10D8EE2D-08FD-B402-B176-39B632505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55193" y="3683700"/>
                <a:ext cx="647977" cy="369350"/>
              </a:xfrm>
              <a:prstGeom prst="rect">
                <a:avLst/>
              </a:prstGeom>
              <a:blipFill>
                <a:blip r:embed="rId10"/>
                <a:stretch>
                  <a:fillRect r="-16038"/>
                </a:stretch>
              </a:blipFill>
            </p:spPr>
            <p:txBody>
              <a:bodyPr/>
              <a:lstStyle/>
              <a:p>
                <a:pPr>
                  <a:defRPr/>
                </a:pPr>
                <a:r>
                  <a:rPr lang="vi-VN">
                    <a:noFill/>
                  </a:rPr>
                  <a:t> </a:t>
                </a:r>
              </a:p>
            </p:txBody>
          </p:sp>
          <p:sp>
            <p:nvSpPr>
              <p:cNvPr id="37" name="Hộp Văn bản 25">
                <a:extLst>
                  <a:ext uri="{FF2B5EF4-FFF2-40B4-BE49-F238E27FC236}">
                    <a16:creationId xmlns:a16="http://schemas.microsoft.com/office/drawing/2014/main" id="{95163566-0B94-9E48-3953-6CBFB33A9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0452" y="5973664"/>
                <a:ext cx="647977" cy="36935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/>
                </a:pPr>
                <a:r>
                  <a:rPr lang="vi-VN">
                    <a:noFill/>
                  </a:rPr>
                  <a:t> </a:t>
                </a:r>
              </a:p>
            </p:txBody>
          </p:sp>
          <p:sp>
            <p:nvSpPr>
              <p:cNvPr id="38" name="Hộp Văn bản 26">
                <a:extLst>
                  <a:ext uri="{FF2B5EF4-FFF2-40B4-BE49-F238E27FC236}">
                    <a16:creationId xmlns:a16="http://schemas.microsoft.com/office/drawing/2014/main" id="{16910D68-EFB5-F38D-C949-344D8BB7D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3304" y="5986423"/>
                <a:ext cx="647977" cy="36992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/>
                </a:pPr>
                <a:r>
                  <a:rPr lang="vi-VN">
                    <a:noFill/>
                  </a:rPr>
                  <a:t> </a:t>
                </a:r>
              </a:p>
            </p:txBody>
          </p:sp>
          <p:sp>
            <p:nvSpPr>
              <p:cNvPr id="39" name="Hộp Văn bản 3">
                <a:extLst>
                  <a:ext uri="{FF2B5EF4-FFF2-40B4-BE49-F238E27FC236}">
                    <a16:creationId xmlns:a16="http://schemas.microsoft.com/office/drawing/2014/main" id="{044C966C-BB75-5748-9EBD-D25BBE6856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1827" y="1659538"/>
                <a:ext cx="1422614" cy="584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vi-VN" sz="1600">
                    <a:latin typeface="Arial" panose="020B0604020202020204" pitchFamily="34" charset="0"/>
                    <a:cs typeface="Arial" panose="020B0604020202020204" pitchFamily="34" charset="0"/>
                  </a:rPr>
                  <a:t>W = </a:t>
                </a:r>
                <a:r>
                  <a:rPr lang="vi-VN" altLang="vi-VN" sz="1600"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  <a:r>
                  <a:rPr lang="en-US" altLang="vi-VN" sz="1600">
                    <a:latin typeface="Arial" panose="020B0604020202020204" pitchFamily="34" charset="0"/>
                    <a:cs typeface="Arial" panose="020B0604020202020204" pitchFamily="34" charset="0"/>
                  </a:rPr>
                  <a:t>u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vi-VN" sz="1600">
                    <a:latin typeface="Arial" panose="020B0604020202020204" pitchFamily="34" charset="0"/>
                    <a:cs typeface="Arial" panose="020B0604020202020204" pitchFamily="34" charset="0"/>
                  </a:rPr>
                  <a:t>L = </a:t>
                </a:r>
                <a:r>
                  <a:rPr lang="vi-VN" altLang="vi-VN" sz="160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altLang="vi-VN" sz="1600">
                    <a:latin typeface="Arial" panose="020B0604020202020204" pitchFamily="34" charset="0"/>
                    <a:cs typeface="Arial" panose="020B0604020202020204" pitchFamily="34" charset="0"/>
                  </a:rPr>
                  <a:t>u</a:t>
                </a:r>
                <a:endParaRPr lang="vi-VN" altLang="vi-V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Hộp Văn bản 4">
                <a:extLst>
                  <a:ext uri="{FF2B5EF4-FFF2-40B4-BE49-F238E27FC236}">
                    <a16:creationId xmlns:a16="http://schemas.microsoft.com/office/drawing/2014/main" id="{A825F8FD-8091-C231-2010-9C95CC3654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1144" y="2709662"/>
                <a:ext cx="1422614" cy="584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vi-VN" sz="1600">
                    <a:latin typeface="Arial" panose="020B0604020202020204" pitchFamily="34" charset="0"/>
                    <a:cs typeface="Arial" panose="020B0604020202020204" pitchFamily="34" charset="0"/>
                  </a:rPr>
                  <a:t>W = </a:t>
                </a:r>
                <a:r>
                  <a:rPr lang="vi-VN" altLang="vi-VN" sz="1600">
                    <a:latin typeface="Arial" panose="020B0604020202020204" pitchFamily="34" charset="0"/>
                    <a:cs typeface="Arial" panose="020B0604020202020204" pitchFamily="34" charset="0"/>
                  </a:rPr>
                  <a:t>5.2</a:t>
                </a:r>
                <a:r>
                  <a:rPr lang="en-US" altLang="vi-VN" sz="1600">
                    <a:latin typeface="Arial" panose="020B0604020202020204" pitchFamily="34" charset="0"/>
                    <a:cs typeface="Arial" panose="020B0604020202020204" pitchFamily="34" charset="0"/>
                  </a:rPr>
                  <a:t>u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vi-VN" sz="1600">
                    <a:latin typeface="Arial" panose="020B0604020202020204" pitchFamily="34" charset="0"/>
                    <a:cs typeface="Arial" panose="020B0604020202020204" pitchFamily="34" charset="0"/>
                  </a:rPr>
                  <a:t>L = </a:t>
                </a:r>
                <a:r>
                  <a:rPr lang="vi-VN" altLang="vi-VN" sz="1600">
                    <a:latin typeface="Arial" panose="020B0604020202020204" pitchFamily="34" charset="0"/>
                    <a:cs typeface="Arial" panose="020B0604020202020204" pitchFamily="34" charset="0"/>
                  </a:rPr>
                  <a:t>400n</a:t>
                </a:r>
              </a:p>
            </p:txBody>
          </p:sp>
          <p:grpSp>
            <p:nvGrpSpPr>
              <p:cNvPr id="41" name="Group 386">
                <a:extLst>
                  <a:ext uri="{FF2B5EF4-FFF2-40B4-BE49-F238E27FC236}">
                    <a16:creationId xmlns:a16="http://schemas.microsoft.com/office/drawing/2014/main" id="{A739C82D-52B9-90DC-3E1C-097384E21A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5146132" y="4882004"/>
                <a:ext cx="381163" cy="609630"/>
                <a:chOff x="4848" y="240"/>
                <a:chExt cx="480" cy="768"/>
              </a:xfrm>
            </p:grpSpPr>
            <p:sp>
              <p:nvSpPr>
                <p:cNvPr id="53" name="Freeform 387">
                  <a:extLst>
                    <a:ext uri="{FF2B5EF4-FFF2-40B4-BE49-F238E27FC236}">
                      <a16:creationId xmlns:a16="http://schemas.microsoft.com/office/drawing/2014/main" id="{DB6C2DCF-203F-02EE-85D4-CBC8E9AD38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4848" y="240"/>
                  <a:ext cx="192" cy="768"/>
                </a:xfrm>
                <a:custGeom>
                  <a:avLst/>
                  <a:gdLst>
                    <a:gd name="T0" fmla="*/ 0 w 192"/>
                    <a:gd name="T1" fmla="*/ 0 h 768"/>
                    <a:gd name="T2" fmla="*/ 0 w 192"/>
                    <a:gd name="T3" fmla="*/ 192 h 768"/>
                    <a:gd name="T4" fmla="*/ 192 w 192"/>
                    <a:gd name="T5" fmla="*/ 192 h 768"/>
                    <a:gd name="T6" fmla="*/ 192 w 192"/>
                    <a:gd name="T7" fmla="*/ 576 h 768"/>
                    <a:gd name="T8" fmla="*/ 0 w 192"/>
                    <a:gd name="T9" fmla="*/ 576 h 768"/>
                    <a:gd name="T10" fmla="*/ 0 w 192"/>
                    <a:gd name="T11" fmla="*/ 768 h 76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2"/>
                    <a:gd name="T19" fmla="*/ 0 h 768"/>
                    <a:gd name="T20" fmla="*/ 192 w 192"/>
                    <a:gd name="T21" fmla="*/ 768 h 76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2" h="768">
                      <a:moveTo>
                        <a:pt x="0" y="0"/>
                      </a:moveTo>
                      <a:lnTo>
                        <a:pt x="0" y="192"/>
                      </a:lnTo>
                      <a:lnTo>
                        <a:pt x="192" y="192"/>
                      </a:lnTo>
                      <a:lnTo>
                        <a:pt x="192" y="576"/>
                      </a:lnTo>
                      <a:lnTo>
                        <a:pt x="0" y="576"/>
                      </a:lnTo>
                      <a:lnTo>
                        <a:pt x="0" y="768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4" name="Line 388">
                  <a:extLst>
                    <a:ext uri="{FF2B5EF4-FFF2-40B4-BE49-F238E27FC236}">
                      <a16:creationId xmlns:a16="http://schemas.microsoft.com/office/drawing/2014/main" id="{94C92D4F-DB71-3EC9-6DD1-FF4CFD1E7D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88" y="624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5" name="Freeform 389">
                  <a:extLst>
                    <a:ext uri="{FF2B5EF4-FFF2-40B4-BE49-F238E27FC236}">
                      <a16:creationId xmlns:a16="http://schemas.microsoft.com/office/drawing/2014/main" id="{A7D8A730-24A4-81B8-E41C-2BB255DCF0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896" y="384"/>
                  <a:ext cx="96" cy="96"/>
                </a:xfrm>
                <a:custGeom>
                  <a:avLst/>
                  <a:gdLst>
                    <a:gd name="T0" fmla="*/ 0 w 96"/>
                    <a:gd name="T1" fmla="*/ 48 h 96"/>
                    <a:gd name="T2" fmla="*/ 96 w 96"/>
                    <a:gd name="T3" fmla="*/ 0 h 96"/>
                    <a:gd name="T4" fmla="*/ 96 w 96"/>
                    <a:gd name="T5" fmla="*/ 96 h 96"/>
                    <a:gd name="T6" fmla="*/ 0 w 96"/>
                    <a:gd name="T7" fmla="*/ 48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48"/>
                      </a:moveTo>
                      <a:lnTo>
                        <a:pt x="96" y="0"/>
                      </a:lnTo>
                      <a:lnTo>
                        <a:pt x="96" y="96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6" name="Line 390">
                  <a:extLst>
                    <a:ext uri="{FF2B5EF4-FFF2-40B4-BE49-F238E27FC236}">
                      <a16:creationId xmlns:a16="http://schemas.microsoft.com/office/drawing/2014/main" id="{A415EFC1-9127-A4FE-DC99-AFF3E20A41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88" y="432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7" name="Line 391">
                  <a:extLst>
                    <a:ext uri="{FF2B5EF4-FFF2-40B4-BE49-F238E27FC236}">
                      <a16:creationId xmlns:a16="http://schemas.microsoft.com/office/drawing/2014/main" id="{3E7A95CC-D6A8-75FA-0451-4AEB5330A9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92" y="432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42" name="Group 386">
                <a:extLst>
                  <a:ext uri="{FF2B5EF4-FFF2-40B4-BE49-F238E27FC236}">
                    <a16:creationId xmlns:a16="http://schemas.microsoft.com/office/drawing/2014/main" id="{C57EC748-AC53-F4EA-BF7E-84EC6DF260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5883" y="4882004"/>
                <a:ext cx="381163" cy="609630"/>
                <a:chOff x="4848" y="240"/>
                <a:chExt cx="480" cy="768"/>
              </a:xfrm>
            </p:grpSpPr>
            <p:sp>
              <p:nvSpPr>
                <p:cNvPr id="48" name="Freeform 387">
                  <a:extLst>
                    <a:ext uri="{FF2B5EF4-FFF2-40B4-BE49-F238E27FC236}">
                      <a16:creationId xmlns:a16="http://schemas.microsoft.com/office/drawing/2014/main" id="{71A9FC29-7046-2C95-2CE6-17A5A55678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4848" y="240"/>
                  <a:ext cx="192" cy="768"/>
                </a:xfrm>
                <a:custGeom>
                  <a:avLst/>
                  <a:gdLst>
                    <a:gd name="T0" fmla="*/ 0 w 192"/>
                    <a:gd name="T1" fmla="*/ 0 h 768"/>
                    <a:gd name="T2" fmla="*/ 0 w 192"/>
                    <a:gd name="T3" fmla="*/ 192 h 768"/>
                    <a:gd name="T4" fmla="*/ 192 w 192"/>
                    <a:gd name="T5" fmla="*/ 192 h 768"/>
                    <a:gd name="T6" fmla="*/ 192 w 192"/>
                    <a:gd name="T7" fmla="*/ 576 h 768"/>
                    <a:gd name="T8" fmla="*/ 0 w 192"/>
                    <a:gd name="T9" fmla="*/ 576 h 768"/>
                    <a:gd name="T10" fmla="*/ 0 w 192"/>
                    <a:gd name="T11" fmla="*/ 768 h 76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2"/>
                    <a:gd name="T19" fmla="*/ 0 h 768"/>
                    <a:gd name="T20" fmla="*/ 192 w 192"/>
                    <a:gd name="T21" fmla="*/ 768 h 76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2" h="768">
                      <a:moveTo>
                        <a:pt x="0" y="0"/>
                      </a:moveTo>
                      <a:lnTo>
                        <a:pt x="0" y="192"/>
                      </a:lnTo>
                      <a:lnTo>
                        <a:pt x="192" y="192"/>
                      </a:lnTo>
                      <a:lnTo>
                        <a:pt x="192" y="576"/>
                      </a:lnTo>
                      <a:lnTo>
                        <a:pt x="0" y="576"/>
                      </a:lnTo>
                      <a:lnTo>
                        <a:pt x="0" y="768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9" name="Line 388">
                  <a:extLst>
                    <a:ext uri="{FF2B5EF4-FFF2-40B4-BE49-F238E27FC236}">
                      <a16:creationId xmlns:a16="http://schemas.microsoft.com/office/drawing/2014/main" id="{D6064A43-5CD3-B241-4544-FBADF4C4BB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88" y="624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0" name="Freeform 389">
                  <a:extLst>
                    <a:ext uri="{FF2B5EF4-FFF2-40B4-BE49-F238E27FC236}">
                      <a16:creationId xmlns:a16="http://schemas.microsoft.com/office/drawing/2014/main" id="{27CBF83F-150F-B3EC-2E6C-DE93B255CD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896" y="384"/>
                  <a:ext cx="96" cy="96"/>
                </a:xfrm>
                <a:custGeom>
                  <a:avLst/>
                  <a:gdLst>
                    <a:gd name="T0" fmla="*/ 0 w 96"/>
                    <a:gd name="T1" fmla="*/ 48 h 96"/>
                    <a:gd name="T2" fmla="*/ 96 w 96"/>
                    <a:gd name="T3" fmla="*/ 0 h 96"/>
                    <a:gd name="T4" fmla="*/ 96 w 96"/>
                    <a:gd name="T5" fmla="*/ 96 h 96"/>
                    <a:gd name="T6" fmla="*/ 0 w 96"/>
                    <a:gd name="T7" fmla="*/ 48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48"/>
                      </a:moveTo>
                      <a:lnTo>
                        <a:pt x="96" y="0"/>
                      </a:lnTo>
                      <a:lnTo>
                        <a:pt x="96" y="96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1" name="Line 390">
                  <a:extLst>
                    <a:ext uri="{FF2B5EF4-FFF2-40B4-BE49-F238E27FC236}">
                      <a16:creationId xmlns:a16="http://schemas.microsoft.com/office/drawing/2014/main" id="{2E4D3CB4-19F0-6BC3-1E86-1A32B7F1BB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88" y="432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2" name="Line 391">
                  <a:extLst>
                    <a:ext uri="{FF2B5EF4-FFF2-40B4-BE49-F238E27FC236}">
                      <a16:creationId xmlns:a16="http://schemas.microsoft.com/office/drawing/2014/main" id="{9E4154BA-7D21-3AD7-145F-037235A8F2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92" y="432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cxnSp>
            <p:nvCxnSpPr>
              <p:cNvPr id="43" name="Đường nối Thẳng 61">
                <a:extLst>
                  <a:ext uri="{FF2B5EF4-FFF2-40B4-BE49-F238E27FC236}">
                    <a16:creationId xmlns:a16="http://schemas.microsoft.com/office/drawing/2014/main" id="{03856225-711D-C4A9-C149-846D49F8FDA6}"/>
                  </a:ext>
                </a:extLst>
              </p:cNvPr>
              <p:cNvCxnSpPr>
                <a:cxnSpLocks/>
                <a:stCxn id="49" idx="1"/>
                <a:endCxn id="54" idx="1"/>
              </p:cNvCxnSpPr>
              <p:nvPr/>
            </p:nvCxnSpPr>
            <p:spPr bwMode="auto">
              <a:xfrm>
                <a:off x="4077046" y="5186818"/>
                <a:ext cx="1069086" cy="0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4" name="Đường nối Thẳng 64">
                <a:extLst>
                  <a:ext uri="{FF2B5EF4-FFF2-40B4-BE49-F238E27FC236}">
                    <a16:creationId xmlns:a16="http://schemas.microsoft.com/office/drawing/2014/main" id="{A989D692-6C66-FF99-BD28-F808CD8AA35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695883" y="5339226"/>
                <a:ext cx="0" cy="609630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5" name="Đường nối Thẳng 65">
                <a:extLst>
                  <a:ext uri="{FF2B5EF4-FFF2-40B4-BE49-F238E27FC236}">
                    <a16:creationId xmlns:a16="http://schemas.microsoft.com/office/drawing/2014/main" id="{DAC298EB-A3D9-48C7-C8C2-5F763A139DB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5527293" y="5339226"/>
                <a:ext cx="0" cy="609630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6" name="Hộp Văn bản 66">
                <a:extLst>
                  <a:ext uri="{FF2B5EF4-FFF2-40B4-BE49-F238E27FC236}">
                    <a16:creationId xmlns:a16="http://schemas.microsoft.com/office/drawing/2014/main" id="{9965E367-167E-7D2B-CB60-E3284CD22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6917" y="4778394"/>
                <a:ext cx="647977" cy="369350"/>
              </a:xfrm>
              <a:prstGeom prst="rect">
                <a:avLst/>
              </a:prstGeom>
              <a:blipFill>
                <a:blip r:embed="rId13"/>
                <a:stretch>
                  <a:fillRect b="-1667"/>
                </a:stretch>
              </a:blipFill>
            </p:spPr>
            <p:txBody>
              <a:bodyPr/>
              <a:lstStyle/>
              <a:p>
                <a:pPr>
                  <a:defRPr/>
                </a:pPr>
                <a:r>
                  <a:rPr lang="vi-VN">
                    <a:noFill/>
                  </a:rPr>
                  <a:t> </a:t>
                </a:r>
              </a:p>
            </p:txBody>
          </p:sp>
          <p:sp>
            <p:nvSpPr>
              <p:cNvPr id="47" name="Hình Bầu dục 318">
                <a:extLst>
                  <a:ext uri="{FF2B5EF4-FFF2-40B4-BE49-F238E27FC236}">
                    <a16:creationId xmlns:a16="http://schemas.microsoft.com/office/drawing/2014/main" id="{1F2C4D8F-4F9E-1C54-79B4-459ED009D2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8878" y="3310291"/>
                <a:ext cx="117006" cy="110891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vi-VN" altLang="en-US"/>
              </a:p>
            </p:txBody>
          </p:sp>
        </p:grpSp>
        <p:sp>
          <p:nvSpPr>
            <p:cNvPr id="15" name="Hộp Văn bản 4">
              <a:extLst>
                <a:ext uri="{FF2B5EF4-FFF2-40B4-BE49-F238E27FC236}">
                  <a16:creationId xmlns:a16="http://schemas.microsoft.com/office/drawing/2014/main" id="{13C7C1B3-4380-62B3-4721-651211BEFD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6812" y="3767651"/>
              <a:ext cx="1422614" cy="584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vi-VN" sz="1600">
                  <a:latin typeface="Arial" panose="020B0604020202020204" pitchFamily="34" charset="0"/>
                  <a:cs typeface="Arial" panose="020B0604020202020204" pitchFamily="34" charset="0"/>
                </a:rPr>
                <a:t>W = </a:t>
              </a:r>
              <a:r>
                <a:rPr lang="vi-VN" altLang="vi-VN" sz="1600">
                  <a:latin typeface="Arial" panose="020B0604020202020204" pitchFamily="34" charset="0"/>
                  <a:cs typeface="Arial" panose="020B0604020202020204" pitchFamily="34" charset="0"/>
                </a:rPr>
                <a:t>150n</a:t>
              </a:r>
              <a:endParaRPr lang="en-US" altLang="vi-VN" sz="16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vi-VN" sz="1600">
                  <a:latin typeface="Arial" panose="020B0604020202020204" pitchFamily="34" charset="0"/>
                  <a:cs typeface="Arial" panose="020B0604020202020204" pitchFamily="34" charset="0"/>
                </a:rPr>
                <a:t>L = </a:t>
              </a:r>
              <a:r>
                <a:rPr lang="vi-VN" altLang="vi-VN" sz="1600">
                  <a:latin typeface="Arial" panose="020B0604020202020204" pitchFamily="34" charset="0"/>
                  <a:cs typeface="Arial" panose="020B0604020202020204" pitchFamily="34" charset="0"/>
                </a:rPr>
                <a:t>60n</a:t>
              </a:r>
            </a:p>
          </p:txBody>
        </p:sp>
        <p:sp>
          <p:nvSpPr>
            <p:cNvPr id="16" name="Hộp Văn bản 4">
              <a:extLst>
                <a:ext uri="{FF2B5EF4-FFF2-40B4-BE49-F238E27FC236}">
                  <a16:creationId xmlns:a16="http://schemas.microsoft.com/office/drawing/2014/main" id="{87A81890-86F9-3989-8D2A-97351156A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6565" y="5515640"/>
              <a:ext cx="1422614" cy="584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vi-VN" sz="1600">
                  <a:latin typeface="Arial" panose="020B0604020202020204" pitchFamily="34" charset="0"/>
                  <a:cs typeface="Arial" panose="020B0604020202020204" pitchFamily="34" charset="0"/>
                </a:rPr>
                <a:t>W = </a:t>
              </a:r>
              <a:r>
                <a:rPr lang="vi-VN" altLang="vi-VN" sz="1600">
                  <a:latin typeface="Arial" panose="020B0604020202020204" pitchFamily="34" charset="0"/>
                  <a:cs typeface="Arial" panose="020B0604020202020204" pitchFamily="34" charset="0"/>
                </a:rPr>
                <a:t>150n</a:t>
              </a:r>
              <a:endParaRPr lang="en-US" altLang="vi-VN" sz="16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vi-VN" sz="1600">
                  <a:latin typeface="Arial" panose="020B0604020202020204" pitchFamily="34" charset="0"/>
                  <a:cs typeface="Arial" panose="020B0604020202020204" pitchFamily="34" charset="0"/>
                </a:rPr>
                <a:t>L = </a:t>
              </a:r>
              <a:r>
                <a:rPr lang="vi-VN" altLang="vi-VN" sz="1600">
                  <a:latin typeface="Arial" panose="020B0604020202020204" pitchFamily="34" charset="0"/>
                  <a:cs typeface="Arial" panose="020B0604020202020204" pitchFamily="34" charset="0"/>
                </a:rPr>
                <a:t>60n</a:t>
              </a:r>
            </a:p>
          </p:txBody>
        </p:sp>
      </p:grp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F62FB697-276D-287B-D24A-E309CE379B0F}"/>
              </a:ext>
            </a:extLst>
          </p:cNvPr>
          <p:cNvCxnSpPr>
            <a:cxnSpLocks/>
            <a:stCxn id="2" idx="1"/>
            <a:endCxn id="12" idx="3"/>
          </p:cNvCxnSpPr>
          <p:nvPr/>
        </p:nvCxnSpPr>
        <p:spPr>
          <a:xfrm flipH="1">
            <a:off x="3205724" y="5234981"/>
            <a:ext cx="389819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4FF23970-4827-F1E2-C97F-89FA4F4C2B73}"/>
              </a:ext>
            </a:extLst>
          </p:cNvPr>
          <p:cNvSpPr txBox="1"/>
          <p:nvPr/>
        </p:nvSpPr>
        <p:spPr>
          <a:xfrm>
            <a:off x="3595543" y="2888947"/>
            <a:ext cx="192145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vi-VN" sz="1800" err="1"/>
              <a:t>Cascode</a:t>
            </a:r>
            <a:r>
              <a:rPr lang="vi-VN" sz="1800"/>
              <a:t> </a:t>
            </a:r>
            <a:r>
              <a:rPr lang="vi-VN" sz="1800" err="1"/>
              <a:t>current</a:t>
            </a:r>
            <a:r>
              <a:rPr lang="vi-VN" sz="1800"/>
              <a:t> </a:t>
            </a:r>
            <a:r>
              <a:rPr lang="vi-VN" sz="1800" err="1"/>
              <a:t>source</a:t>
            </a:r>
            <a:endParaRPr lang="en-GB" sz="180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FACFE579-584D-437D-3EF8-8AA9DD1F89F5}"/>
              </a:ext>
            </a:extLst>
          </p:cNvPr>
          <p:cNvSpPr/>
          <p:nvPr/>
        </p:nvSpPr>
        <p:spPr>
          <a:xfrm>
            <a:off x="1162090" y="2814368"/>
            <a:ext cx="2055348" cy="7847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AF710453-EEC8-AB50-996F-0E1869BDCA07}"/>
              </a:ext>
            </a:extLst>
          </p:cNvPr>
          <p:cNvCxnSpPr>
            <a:cxnSpLocks/>
            <a:stCxn id="148" idx="1"/>
            <a:endCxn id="149" idx="3"/>
          </p:cNvCxnSpPr>
          <p:nvPr/>
        </p:nvCxnSpPr>
        <p:spPr>
          <a:xfrm flipH="1" flipV="1">
            <a:off x="3217438" y="3206744"/>
            <a:ext cx="378105" cy="53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945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8221AAFB-DBA7-968F-D070-C7E6FF311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48BE6BCF-54B1-4788-3AAF-2CC09E065E0E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en-GB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Full circuit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7F94C8-9EF7-B7C2-A050-F79C1669B2D7}"/>
              </a:ext>
            </a:extLst>
          </p:cNvPr>
          <p:cNvGrpSpPr/>
          <p:nvPr/>
        </p:nvGrpSpPr>
        <p:grpSpPr>
          <a:xfrm>
            <a:off x="1340694" y="1125538"/>
            <a:ext cx="9813401" cy="5246480"/>
            <a:chOff x="1370031" y="567181"/>
            <a:chExt cx="10153661" cy="5886943"/>
          </a:xfrm>
        </p:grpSpPr>
        <p:pic>
          <p:nvPicPr>
            <p:cNvPr id="3" name="Hình ảnh 3">
              <a:extLst>
                <a:ext uri="{FF2B5EF4-FFF2-40B4-BE49-F238E27FC236}">
                  <a16:creationId xmlns:a16="http://schemas.microsoft.com/office/drawing/2014/main" id="{5022760A-EABD-0ACF-CD46-CFA982139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24176" y="613426"/>
              <a:ext cx="6343648" cy="5840698"/>
            </a:xfrm>
            <a:prstGeom prst="rect">
              <a:avLst/>
            </a:prstGeom>
          </p:spPr>
        </p:pic>
        <p:sp>
          <p:nvSpPr>
            <p:cNvPr id="147" name="Hình chữ nhật 5">
              <a:extLst>
                <a:ext uri="{FF2B5EF4-FFF2-40B4-BE49-F238E27FC236}">
                  <a16:creationId xmlns:a16="http://schemas.microsoft.com/office/drawing/2014/main" id="{3E3A590C-CFB3-0637-088E-F2919C87B02F}"/>
                </a:ext>
              </a:extLst>
            </p:cNvPr>
            <p:cNvSpPr/>
            <p:nvPr/>
          </p:nvSpPr>
          <p:spPr>
            <a:xfrm>
              <a:off x="3680460" y="1508760"/>
              <a:ext cx="5372100" cy="4838700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48" name="Hình chữ nhật 7">
              <a:extLst>
                <a:ext uri="{FF2B5EF4-FFF2-40B4-BE49-F238E27FC236}">
                  <a16:creationId xmlns:a16="http://schemas.microsoft.com/office/drawing/2014/main" id="{3CBA9953-7357-1CC9-EBB4-974FB2D3236D}"/>
                </a:ext>
              </a:extLst>
            </p:cNvPr>
            <p:cNvSpPr/>
            <p:nvPr/>
          </p:nvSpPr>
          <p:spPr>
            <a:xfrm>
              <a:off x="3041650" y="1390650"/>
              <a:ext cx="638810" cy="609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49" name="Hình chữ nhật 8">
              <a:extLst>
                <a:ext uri="{FF2B5EF4-FFF2-40B4-BE49-F238E27FC236}">
                  <a16:creationId xmlns:a16="http://schemas.microsoft.com/office/drawing/2014/main" id="{12B0653A-A796-2A81-AF31-61E82F505830}"/>
                </a:ext>
              </a:extLst>
            </p:cNvPr>
            <p:cNvSpPr/>
            <p:nvPr/>
          </p:nvSpPr>
          <p:spPr>
            <a:xfrm>
              <a:off x="3680460" y="1085850"/>
              <a:ext cx="638810" cy="381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50" name="Hình chữ nhật 9">
              <a:extLst>
                <a:ext uri="{FF2B5EF4-FFF2-40B4-BE49-F238E27FC236}">
                  <a16:creationId xmlns:a16="http://schemas.microsoft.com/office/drawing/2014/main" id="{2AD56CB7-6453-4E15-6550-74340995081E}"/>
                </a:ext>
              </a:extLst>
            </p:cNvPr>
            <p:cNvSpPr/>
            <p:nvPr/>
          </p:nvSpPr>
          <p:spPr>
            <a:xfrm>
              <a:off x="3680460" y="685800"/>
              <a:ext cx="593090" cy="358140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51" name="Hình chữ nhật 10">
              <a:extLst>
                <a:ext uri="{FF2B5EF4-FFF2-40B4-BE49-F238E27FC236}">
                  <a16:creationId xmlns:a16="http://schemas.microsoft.com/office/drawing/2014/main" id="{BBB38E1D-D186-1EDF-1D92-2A58E7E85E40}"/>
                </a:ext>
              </a:extLst>
            </p:cNvPr>
            <p:cNvSpPr/>
            <p:nvPr/>
          </p:nvSpPr>
          <p:spPr>
            <a:xfrm>
              <a:off x="5182234" y="631370"/>
              <a:ext cx="593090" cy="505279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52" name="Hình chữ nhật 11">
              <a:extLst>
                <a:ext uri="{FF2B5EF4-FFF2-40B4-BE49-F238E27FC236}">
                  <a16:creationId xmlns:a16="http://schemas.microsoft.com/office/drawing/2014/main" id="{7F42DA64-9F1A-426B-8117-1709CB97C2AC}"/>
                </a:ext>
              </a:extLst>
            </p:cNvPr>
            <p:cNvSpPr/>
            <p:nvPr/>
          </p:nvSpPr>
          <p:spPr>
            <a:xfrm>
              <a:off x="4436744" y="685800"/>
              <a:ext cx="593090" cy="505279"/>
            </a:xfrm>
            <a:prstGeom prst="rect">
              <a:avLst/>
            </a:prstGeom>
            <a:noFill/>
            <a:ln>
              <a:solidFill>
                <a:srgbClr val="46FD2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53" name="Hộp Văn bản 12">
              <a:extLst>
                <a:ext uri="{FF2B5EF4-FFF2-40B4-BE49-F238E27FC236}">
                  <a16:creationId xmlns:a16="http://schemas.microsoft.com/office/drawing/2014/main" id="{49BC01F3-49E7-1396-A153-F9C9795191C6}"/>
                </a:ext>
              </a:extLst>
            </p:cNvPr>
            <p:cNvSpPr txBox="1"/>
            <p:nvPr/>
          </p:nvSpPr>
          <p:spPr>
            <a:xfrm>
              <a:off x="1370031" y="2054898"/>
              <a:ext cx="1237784" cy="92333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vi-VN" sz="1800" err="1"/>
                <a:t>Binary</a:t>
              </a:r>
              <a:r>
                <a:rPr lang="vi-VN" sz="1800"/>
                <a:t> to </a:t>
              </a:r>
              <a:r>
                <a:rPr lang="vi-VN" sz="1800" err="1"/>
                <a:t>thermo</a:t>
              </a:r>
              <a:r>
                <a:rPr lang="vi-VN" sz="1800"/>
                <a:t> </a:t>
              </a:r>
              <a:r>
                <a:rPr lang="vi-VN" sz="1800" err="1"/>
                <a:t>Decoder</a:t>
              </a:r>
              <a:endParaRPr lang="vi-VN" sz="1800"/>
            </a:p>
          </p:txBody>
        </p:sp>
        <p:cxnSp>
          <p:nvCxnSpPr>
            <p:cNvPr id="154" name="Đường kết nối Mũi tên Thẳng 14">
              <a:extLst>
                <a:ext uri="{FF2B5EF4-FFF2-40B4-BE49-F238E27FC236}">
                  <a16:creationId xmlns:a16="http://schemas.microsoft.com/office/drawing/2014/main" id="{114FD084-9B43-5B61-3B97-D1828A2E64BA}"/>
                </a:ext>
              </a:extLst>
            </p:cNvPr>
            <p:cNvCxnSpPr>
              <a:cxnSpLocks/>
              <a:stCxn id="153" idx="3"/>
            </p:cNvCxnSpPr>
            <p:nvPr/>
          </p:nvCxnSpPr>
          <p:spPr>
            <a:xfrm flipV="1">
              <a:off x="2607815" y="1730813"/>
              <a:ext cx="433834" cy="785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Hộp Văn bản 16">
              <a:extLst>
                <a:ext uri="{FF2B5EF4-FFF2-40B4-BE49-F238E27FC236}">
                  <a16:creationId xmlns:a16="http://schemas.microsoft.com/office/drawing/2014/main" id="{8A1EA7A7-685F-FF96-B991-CE9F4A3F5AE0}"/>
                </a:ext>
              </a:extLst>
            </p:cNvPr>
            <p:cNvSpPr txBox="1"/>
            <p:nvPr/>
          </p:nvSpPr>
          <p:spPr>
            <a:xfrm>
              <a:off x="1370031" y="567181"/>
              <a:ext cx="1237784" cy="646331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vi-VN" sz="1800"/>
                <a:t>Current </a:t>
              </a:r>
              <a:r>
                <a:rPr lang="vi-VN" sz="1800" err="1"/>
                <a:t>Biasing</a:t>
              </a:r>
              <a:endParaRPr lang="vi-VN" sz="1800"/>
            </a:p>
          </p:txBody>
        </p:sp>
        <p:cxnSp>
          <p:nvCxnSpPr>
            <p:cNvPr id="156" name="Đường kết nối Mũi tên Thẳng 17">
              <a:extLst>
                <a:ext uri="{FF2B5EF4-FFF2-40B4-BE49-F238E27FC236}">
                  <a16:creationId xmlns:a16="http://schemas.microsoft.com/office/drawing/2014/main" id="{D4FAA2C1-DC4E-C924-E75D-FD99C9476B65}"/>
                </a:ext>
              </a:extLst>
            </p:cNvPr>
            <p:cNvCxnSpPr>
              <a:cxnSpLocks/>
              <a:stCxn id="155" idx="3"/>
            </p:cNvCxnSpPr>
            <p:nvPr/>
          </p:nvCxnSpPr>
          <p:spPr>
            <a:xfrm flipV="1">
              <a:off x="2607815" y="888698"/>
              <a:ext cx="1076078" cy="1649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Hộp Văn bản 19">
              <a:extLst>
                <a:ext uri="{FF2B5EF4-FFF2-40B4-BE49-F238E27FC236}">
                  <a16:creationId xmlns:a16="http://schemas.microsoft.com/office/drawing/2014/main" id="{EB8ABC67-3E65-4F65-4E89-88FA36BF27BC}"/>
                </a:ext>
              </a:extLst>
            </p:cNvPr>
            <p:cNvSpPr txBox="1"/>
            <p:nvPr/>
          </p:nvSpPr>
          <p:spPr>
            <a:xfrm>
              <a:off x="7162168" y="685800"/>
              <a:ext cx="1711244" cy="646331"/>
            </a:xfrm>
            <a:prstGeom prst="rect">
              <a:avLst/>
            </a:prstGeom>
            <a:noFill/>
            <a:ln w="28575"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vi-VN" sz="1800" err="1">
                  <a:solidFill>
                    <a:schemeClr val="bg1"/>
                  </a:solidFill>
                </a:rPr>
                <a:t>Binary</a:t>
              </a:r>
              <a:r>
                <a:rPr lang="vi-VN" sz="1800">
                  <a:solidFill>
                    <a:schemeClr val="bg1"/>
                  </a:solidFill>
                </a:rPr>
                <a:t> </a:t>
              </a:r>
              <a:r>
                <a:rPr lang="vi-VN" sz="1800" err="1">
                  <a:solidFill>
                    <a:schemeClr val="bg1"/>
                  </a:solidFill>
                </a:rPr>
                <a:t>weighted</a:t>
              </a:r>
              <a:r>
                <a:rPr lang="vi-VN" sz="1800">
                  <a:solidFill>
                    <a:schemeClr val="bg1"/>
                  </a:solidFill>
                </a:rPr>
                <a:t> </a:t>
              </a:r>
              <a:r>
                <a:rPr lang="vi-VN" sz="1800" err="1">
                  <a:solidFill>
                    <a:schemeClr val="bg1"/>
                  </a:solidFill>
                </a:rPr>
                <a:t>cell</a:t>
              </a:r>
              <a:endParaRPr lang="vi-VN" sz="1800">
                <a:solidFill>
                  <a:schemeClr val="bg1"/>
                </a:solidFill>
              </a:endParaRPr>
            </a:p>
          </p:txBody>
        </p:sp>
        <p:cxnSp>
          <p:nvCxnSpPr>
            <p:cNvPr id="158" name="Đường kết nối Mũi tên Thẳng 20">
              <a:extLst>
                <a:ext uri="{FF2B5EF4-FFF2-40B4-BE49-F238E27FC236}">
                  <a16:creationId xmlns:a16="http://schemas.microsoft.com/office/drawing/2014/main" id="{DA2C21E6-4346-6F62-051A-FEB1BF2E7B89}"/>
                </a:ext>
              </a:extLst>
            </p:cNvPr>
            <p:cNvCxnSpPr>
              <a:cxnSpLocks/>
              <a:endCxn id="151" idx="3"/>
            </p:cNvCxnSpPr>
            <p:nvPr/>
          </p:nvCxnSpPr>
          <p:spPr>
            <a:xfrm flipH="1" flipV="1">
              <a:off x="5775324" y="884010"/>
              <a:ext cx="1386844" cy="114605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Hộp Văn bản 23">
              <a:extLst>
                <a:ext uri="{FF2B5EF4-FFF2-40B4-BE49-F238E27FC236}">
                  <a16:creationId xmlns:a16="http://schemas.microsoft.com/office/drawing/2014/main" id="{FA1407E1-DE40-CCD8-5428-4FFF18BB936F}"/>
                </a:ext>
              </a:extLst>
            </p:cNvPr>
            <p:cNvSpPr txBox="1"/>
            <p:nvPr/>
          </p:nvSpPr>
          <p:spPr>
            <a:xfrm>
              <a:off x="9456060" y="3708889"/>
              <a:ext cx="2067632" cy="414418"/>
            </a:xfrm>
            <a:prstGeom prst="rect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vi-VN" sz="1800" err="1">
                  <a:solidFill>
                    <a:schemeClr val="tx1"/>
                  </a:solidFill>
                </a:rPr>
                <a:t>Thermometer</a:t>
              </a:r>
              <a:r>
                <a:rPr lang="vi-VN" sz="1800">
                  <a:solidFill>
                    <a:schemeClr val="tx1"/>
                  </a:solidFill>
                </a:rPr>
                <a:t> </a:t>
              </a:r>
              <a:r>
                <a:rPr lang="vi-VN" sz="1800" err="1">
                  <a:solidFill>
                    <a:schemeClr val="tx1"/>
                  </a:solidFill>
                </a:rPr>
                <a:t>cell</a:t>
              </a:r>
              <a:endParaRPr lang="vi-VN" sz="1800">
                <a:solidFill>
                  <a:schemeClr val="tx1"/>
                </a:solidFill>
              </a:endParaRPr>
            </a:p>
          </p:txBody>
        </p:sp>
        <p:cxnSp>
          <p:nvCxnSpPr>
            <p:cNvPr id="160" name="Đường kết nối Mũi tên Thẳng 24">
              <a:extLst>
                <a:ext uri="{FF2B5EF4-FFF2-40B4-BE49-F238E27FC236}">
                  <a16:creationId xmlns:a16="http://schemas.microsoft.com/office/drawing/2014/main" id="{B3D42D19-16E6-4FF1-9EC3-B32A3407EB03}"/>
                </a:ext>
              </a:extLst>
            </p:cNvPr>
            <p:cNvCxnSpPr>
              <a:cxnSpLocks/>
              <a:stCxn id="159" idx="1"/>
            </p:cNvCxnSpPr>
            <p:nvPr/>
          </p:nvCxnSpPr>
          <p:spPr>
            <a:xfrm flipH="1">
              <a:off x="9010270" y="3916099"/>
              <a:ext cx="445790" cy="0"/>
            </a:xfrm>
            <a:prstGeom prst="straightConnector1">
              <a:avLst/>
            </a:prstGeom>
            <a:ln w="28575">
              <a:solidFill>
                <a:schemeClr val="bg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Đường kết nối Mũi tên Thẳng 26">
              <a:extLst>
                <a:ext uri="{FF2B5EF4-FFF2-40B4-BE49-F238E27FC236}">
                  <a16:creationId xmlns:a16="http://schemas.microsoft.com/office/drawing/2014/main" id="{8DF698CF-8187-7BA6-7DFB-C1171E7F94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58080" y="1213512"/>
              <a:ext cx="630957" cy="118619"/>
            </a:xfrm>
            <a:prstGeom prst="straightConnector1">
              <a:avLst/>
            </a:prstGeom>
            <a:ln w="28575">
              <a:solidFill>
                <a:srgbClr val="46FD2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Hộp Văn bản 30">
              <a:extLst>
                <a:ext uri="{FF2B5EF4-FFF2-40B4-BE49-F238E27FC236}">
                  <a16:creationId xmlns:a16="http://schemas.microsoft.com/office/drawing/2014/main" id="{DA7D4124-21D6-690E-92DD-862C90322B37}"/>
                </a:ext>
              </a:extLst>
            </p:cNvPr>
            <p:cNvSpPr txBox="1"/>
            <p:nvPr/>
          </p:nvSpPr>
          <p:spPr>
            <a:xfrm>
              <a:off x="5602146" y="1101932"/>
              <a:ext cx="1061642" cy="523220"/>
            </a:xfrm>
            <a:prstGeom prst="rect">
              <a:avLst/>
            </a:prstGeom>
            <a:noFill/>
            <a:ln>
              <a:solidFill>
                <a:srgbClr val="46FD27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vi-VN" err="1">
                  <a:solidFill>
                    <a:schemeClr val="bg1"/>
                  </a:solidFill>
                </a:rPr>
                <a:t>Dummy</a:t>
              </a:r>
              <a:r>
                <a:rPr lang="vi-VN">
                  <a:solidFill>
                    <a:schemeClr val="bg1"/>
                  </a:solidFill>
                </a:rPr>
                <a:t> </a:t>
              </a:r>
              <a:r>
                <a:rPr lang="vi-VN" err="1">
                  <a:solidFill>
                    <a:schemeClr val="bg1"/>
                  </a:solidFill>
                </a:rPr>
                <a:t>Decoder</a:t>
              </a:r>
              <a:endParaRPr lang="vi-VN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863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2A169743-98B2-7B58-2475-3B0CDF0E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78280FAB-A61B-6016-EAB9-DC81D9611AEB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Floorplanning</a:t>
            </a:r>
            <a:endParaRPr lang="en-GB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DD4B04B-0C47-9CA8-B6C5-85A1512F6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662" y="2112108"/>
            <a:ext cx="9554187" cy="347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711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776D98BF-90CF-58A6-E51A-C77C10C6D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5A484644-6C30-C513-6520-102EF0916CA2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arrays</a:t>
            </a:r>
            <a:endParaRPr lang="en-GB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5E14BE-C235-72C3-B82E-62A7D17C4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85950"/>
            <a:ext cx="8583070" cy="3238500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F8AB67C-D0D4-9DCF-2DCE-E9161C5EBB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3476" y="1019175"/>
            <a:ext cx="2302274" cy="5695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1430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92CB3E38-F956-D22B-4568-D3C4BE59C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8144571C-928B-9032-D460-223AE6BE3DF8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Full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DAC</a:t>
            </a:r>
            <a:endParaRPr lang="en-GB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EF4BAAFC-9EFF-B169-576E-E88C5809F2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5" y="1086771"/>
            <a:ext cx="8782050" cy="500830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4262F8-4B1D-F5A5-FD26-8B44700B44D8}"/>
              </a:ext>
            </a:extLst>
          </p:cNvPr>
          <p:cNvSpPr txBox="1"/>
          <p:nvPr/>
        </p:nvSpPr>
        <p:spPr>
          <a:xfrm>
            <a:off x="2543175" y="6095079"/>
            <a:ext cx="64293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2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Area</a:t>
            </a:r>
            <a:r>
              <a:rPr lang="vi-VN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GB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vi-VN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.84 x 1.3 </a:t>
            </a:r>
            <a:r>
              <a:rPr lang="en-GB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mm</a:t>
            </a:r>
            <a:r>
              <a:rPr lang="en-GB" sz="2000" baseline="300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578090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BDE92314-6BB8-CBFF-2521-431D372AA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D2AEAC4E-0007-6D59-AFA6-82FE81CA5E98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Testbench</a:t>
            </a:r>
            <a:endParaRPr lang="en-GB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Hình ảnh 4">
            <a:extLst>
              <a:ext uri="{FF2B5EF4-FFF2-40B4-BE49-F238E27FC236}">
                <a16:creationId xmlns:a16="http://schemas.microsoft.com/office/drawing/2014/main" id="{B391B1BA-41C2-07A8-E6A7-5A072E03BA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201" y="1022303"/>
            <a:ext cx="4465839" cy="202005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591491E-341F-1F8B-F5E2-62C74009EDCD}"/>
              </a:ext>
            </a:extLst>
          </p:cNvPr>
          <p:cNvGrpSpPr/>
          <p:nvPr/>
        </p:nvGrpSpPr>
        <p:grpSpPr>
          <a:xfrm>
            <a:off x="1420197" y="3048000"/>
            <a:ext cx="9683968" cy="3467100"/>
            <a:chOff x="1420197" y="3048000"/>
            <a:chExt cx="9683968" cy="34671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4C0F013-4CC7-2930-10E0-B44954DCF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20197" y="3048000"/>
              <a:ext cx="9683968" cy="3467100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51C0561-06F8-722B-787F-4AB89453B903}"/>
                </a:ext>
              </a:extLst>
            </p:cNvPr>
            <p:cNvSpPr/>
            <p:nvPr/>
          </p:nvSpPr>
          <p:spPr>
            <a:xfrm>
              <a:off x="4832282" y="3184705"/>
              <a:ext cx="1944360" cy="54472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AAC311E-904E-9835-6FF5-97D51378BDA4}"/>
                </a:ext>
              </a:extLst>
            </p:cNvPr>
            <p:cNvSpPr/>
            <p:nvPr/>
          </p:nvSpPr>
          <p:spPr>
            <a:xfrm>
              <a:off x="6927954" y="3184705"/>
              <a:ext cx="1356764" cy="625423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5F0A475-9F45-1738-9ECA-F5EA832D9474}"/>
                </a:ext>
              </a:extLst>
            </p:cNvPr>
            <p:cNvSpPr/>
            <p:nvPr/>
          </p:nvSpPr>
          <p:spPr>
            <a:xfrm>
              <a:off x="9143161" y="3184704"/>
              <a:ext cx="1253872" cy="693513"/>
            </a:xfrm>
            <a:prstGeom prst="rect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DA812EF-A7B9-4D14-08E9-B87DCF1BDEC5}"/>
                </a:ext>
              </a:extLst>
            </p:cNvPr>
            <p:cNvSpPr/>
            <p:nvPr/>
          </p:nvSpPr>
          <p:spPr>
            <a:xfrm>
              <a:off x="4938200" y="4755828"/>
              <a:ext cx="3346517" cy="1700243"/>
            </a:xfrm>
            <a:prstGeom prst="rect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EBE5C81-BDA0-0B54-5B7A-F06011729092}"/>
                </a:ext>
              </a:extLst>
            </p:cNvPr>
            <p:cNvSpPr txBox="1"/>
            <p:nvPr/>
          </p:nvSpPr>
          <p:spPr>
            <a:xfrm>
              <a:off x="3381201" y="3184705"/>
              <a:ext cx="762612" cy="415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err="1">
                  <a:solidFill>
                    <a:schemeClr val="bg1"/>
                  </a:solidFill>
                </a:rPr>
                <a:t>Ramp</a:t>
              </a:r>
              <a:r>
                <a:rPr lang="vi-VN">
                  <a:solidFill>
                    <a:schemeClr val="bg1"/>
                  </a:solidFill>
                </a:rPr>
                <a:t> </a:t>
              </a:r>
              <a:r>
                <a:rPr lang="vi-VN" err="1">
                  <a:solidFill>
                    <a:schemeClr val="bg1"/>
                  </a:solidFill>
                </a:rPr>
                <a:t>Signal</a:t>
              </a:r>
              <a:endParaRPr lang="en-GB">
                <a:solidFill>
                  <a:schemeClr val="bg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7C01C9F-A901-D99A-431D-02F49D45B8F3}"/>
                </a:ext>
              </a:extLst>
            </p:cNvPr>
            <p:cNvSpPr/>
            <p:nvPr/>
          </p:nvSpPr>
          <p:spPr>
            <a:xfrm>
              <a:off x="1569995" y="5113932"/>
              <a:ext cx="2286324" cy="1238237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1933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946BBD8D-1B8E-79B5-D70F-BAF4FF2B6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96151315-A7F8-C6CE-360D-0907AB498080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Static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lang="en-GB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Hộp Văn bản 4">
            <a:extLst>
              <a:ext uri="{FF2B5EF4-FFF2-40B4-BE49-F238E27FC236}">
                <a16:creationId xmlns:a16="http://schemas.microsoft.com/office/drawing/2014/main" id="{4C87FDD7-A4AA-21F1-D9FA-21F488323E0B}"/>
              </a:ext>
            </a:extLst>
          </p:cNvPr>
          <p:cNvSpPr txBox="1"/>
          <p:nvPr/>
        </p:nvSpPr>
        <p:spPr>
          <a:xfrm>
            <a:off x="323425" y="1066800"/>
            <a:ext cx="107900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2400">
                <a:latin typeface="+mn-lt"/>
              </a:rPr>
              <a:t>Using </a:t>
            </a:r>
            <a:r>
              <a:rPr lang="vi-VN" sz="2400" err="1">
                <a:latin typeface="+mn-lt"/>
              </a:rPr>
              <a:t>ramp</a:t>
            </a:r>
            <a:r>
              <a:rPr lang="vi-VN" sz="2400">
                <a:latin typeface="+mn-lt"/>
              </a:rPr>
              <a:t> </a:t>
            </a:r>
            <a:r>
              <a:rPr lang="vi-VN" sz="2400" err="1">
                <a:latin typeface="+mn-lt"/>
              </a:rPr>
              <a:t>signal</a:t>
            </a:r>
            <a:r>
              <a:rPr lang="vi-VN" sz="2400">
                <a:latin typeface="+mn-lt"/>
              </a:rPr>
              <a:t> to ADC to </a:t>
            </a:r>
            <a:r>
              <a:rPr lang="vi-VN" sz="2400" err="1">
                <a:latin typeface="+mn-lt"/>
              </a:rPr>
              <a:t>find</a:t>
            </a:r>
            <a:r>
              <a:rPr lang="vi-VN" sz="2400">
                <a:latin typeface="+mn-lt"/>
              </a:rPr>
              <a:t> DNL </a:t>
            </a:r>
            <a:r>
              <a:rPr lang="vi-VN" sz="2400" err="1">
                <a:latin typeface="+mn-lt"/>
              </a:rPr>
              <a:t>and</a:t>
            </a:r>
            <a:r>
              <a:rPr lang="vi-VN" sz="2400">
                <a:latin typeface="+mn-lt"/>
              </a:rPr>
              <a:t> INL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AC9F0FF-3F7B-287B-C744-BECB943C39D9}"/>
              </a:ext>
            </a:extLst>
          </p:cNvPr>
          <p:cNvGrpSpPr/>
          <p:nvPr/>
        </p:nvGrpSpPr>
        <p:grpSpPr>
          <a:xfrm>
            <a:off x="323425" y="1528465"/>
            <a:ext cx="11545150" cy="4895850"/>
            <a:chOff x="323425" y="1528465"/>
            <a:chExt cx="11545150" cy="4895850"/>
          </a:xfrm>
        </p:grpSpPr>
        <p:pic>
          <p:nvPicPr>
            <p:cNvPr id="2" name="Hình ảnh 1" descr="Ảnh có chứa hàng, Sơ đồ, biểu đồ, sườn dốc&#10;&#10;Nội dung do AI tạo ra có thể không chính xác.">
              <a:extLst>
                <a:ext uri="{FF2B5EF4-FFF2-40B4-BE49-F238E27FC236}">
                  <a16:creationId xmlns:a16="http://schemas.microsoft.com/office/drawing/2014/main" id="{8F36D253-641B-E799-8B20-4FC89076F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425" y="1528465"/>
              <a:ext cx="11545150" cy="489585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FD6CB7D-4172-5E34-766A-6B861AECF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51316" y="4400424"/>
              <a:ext cx="3386982" cy="1692160"/>
            </a:xfrm>
            <a:prstGeom prst="rect">
              <a:avLst/>
            </a:prstGeom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56A5D2C-ADBA-2D21-FC18-64D1E2407A6C}"/>
                </a:ext>
              </a:extLst>
            </p:cNvPr>
            <p:cNvCxnSpPr/>
            <p:nvPr/>
          </p:nvCxnSpPr>
          <p:spPr>
            <a:xfrm flipH="1">
              <a:off x="4000500" y="5246504"/>
              <a:ext cx="315081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99889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1D7B4E73-4172-48FD-6E57-7DB6D8261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F1C66448-F49D-C60E-AA7C-11BDB8FBAB05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INL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lang="en-GB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56334959-3E9C-F6E2-8903-7F808C81E3D4}"/>
              </a:ext>
            </a:extLst>
          </p:cNvPr>
          <p:cNvSpPr txBox="1"/>
          <p:nvPr/>
        </p:nvSpPr>
        <p:spPr>
          <a:xfrm>
            <a:off x="586661" y="6125217"/>
            <a:ext cx="107900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2400" err="1">
                <a:latin typeface="+mn-lt"/>
              </a:rPr>
              <a:t>Worst-case</a:t>
            </a:r>
            <a:r>
              <a:rPr lang="vi-VN" sz="2400">
                <a:latin typeface="+mn-lt"/>
              </a:rPr>
              <a:t> INL = 0.</a:t>
            </a:r>
            <a:r>
              <a:rPr lang="en-US" sz="2400">
                <a:latin typeface="+mn-lt"/>
              </a:rPr>
              <a:t>5</a:t>
            </a:r>
            <a:r>
              <a:rPr lang="vi-VN" sz="2400">
                <a:latin typeface="+mn-lt"/>
              </a:rPr>
              <a:t>LSB</a:t>
            </a:r>
          </a:p>
        </p:txBody>
      </p:sp>
      <p:pic>
        <p:nvPicPr>
          <p:cNvPr id="9" name="Picture 8" descr="A red line graph on a white background&#10;&#10;AI-generated content may be incorrect.">
            <a:extLst>
              <a:ext uri="{FF2B5EF4-FFF2-40B4-BE49-F238E27FC236}">
                <a16:creationId xmlns:a16="http://schemas.microsoft.com/office/drawing/2014/main" id="{46151E49-B2A2-519F-51B8-EBA37A6DE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618" y="1034405"/>
            <a:ext cx="6328160" cy="509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7859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DE1173B0-8262-59F3-44E5-967C33F70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A3C871A9-87E8-458A-6F63-EBE97ED80E4E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DNL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lang="en-GB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2E4A3F7E-45DB-5E4B-ABA2-C1EF6733FB88}"/>
              </a:ext>
            </a:extLst>
          </p:cNvPr>
          <p:cNvSpPr txBox="1"/>
          <p:nvPr/>
        </p:nvSpPr>
        <p:spPr>
          <a:xfrm>
            <a:off x="586662" y="6044675"/>
            <a:ext cx="107900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2400" dirty="0" err="1">
                <a:latin typeface="+mn-lt"/>
              </a:rPr>
              <a:t>Worst-case</a:t>
            </a:r>
            <a:r>
              <a:rPr lang="vi-VN" sz="2400" dirty="0">
                <a:latin typeface="+mn-lt"/>
              </a:rPr>
              <a:t> DNL = 0.6LSB</a:t>
            </a:r>
          </a:p>
        </p:txBody>
      </p:sp>
      <p:pic>
        <p:nvPicPr>
          <p:cNvPr id="7" name="Picture 6" descr="A red and white graph&#10;&#10;AI-generated content may be incorrect.">
            <a:extLst>
              <a:ext uri="{FF2B5EF4-FFF2-40B4-BE49-F238E27FC236}">
                <a16:creationId xmlns:a16="http://schemas.microsoft.com/office/drawing/2014/main" id="{0E24EDF1-52E6-B0C1-46DA-654E20D90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326" y="1113900"/>
            <a:ext cx="6229348" cy="501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9774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DDF7E693-939C-401E-8BB7-18DF9FF7B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0B242C19-05A8-5DEF-0FEC-7E1A44156178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en-US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Dynamic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Hộp Văn bản 9">
            <a:extLst>
              <a:ext uri="{FF2B5EF4-FFF2-40B4-BE49-F238E27FC236}">
                <a16:creationId xmlns:a16="http://schemas.microsoft.com/office/drawing/2014/main" id="{7C25B1DB-1246-E3E9-75B4-4B415863B5D7}"/>
              </a:ext>
            </a:extLst>
          </p:cNvPr>
          <p:cNvSpPr txBox="1"/>
          <p:nvPr/>
        </p:nvSpPr>
        <p:spPr>
          <a:xfrm>
            <a:off x="893762" y="995107"/>
            <a:ext cx="9408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/>
              <a:t>1024 samples, fin = </a:t>
            </a:r>
            <a:r>
              <a:rPr lang="vi-VN" sz="1800"/>
              <a:t>249.5</a:t>
            </a:r>
            <a:r>
              <a:rPr lang="en-US" sz="1800"/>
              <a:t>MHz, Fsamp = 500MHz, include </a:t>
            </a:r>
            <a:r>
              <a:rPr lang="vi-VN" sz="1800"/>
              <a:t>4</a:t>
            </a:r>
            <a:r>
              <a:rPr lang="en-US" sz="1800"/>
              <a:t>G noise transient</a:t>
            </a:r>
            <a:endParaRPr lang="vi-VN" sz="1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E86734-3EA0-93AD-C621-74198E26AB38}"/>
              </a:ext>
            </a:extLst>
          </p:cNvPr>
          <p:cNvGrpSpPr/>
          <p:nvPr/>
        </p:nvGrpSpPr>
        <p:grpSpPr>
          <a:xfrm>
            <a:off x="222243" y="1364439"/>
            <a:ext cx="11264886" cy="5208056"/>
            <a:chOff x="0" y="1395934"/>
            <a:chExt cx="11264886" cy="520805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3E4364D-907E-723F-D3FB-30FAD82AE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395934"/>
              <a:ext cx="11264886" cy="520805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483CB30-2914-31B4-922D-D35FF358E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47360" y="1500845"/>
              <a:ext cx="1954530" cy="1190152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44888ED-A541-4582-6544-7CC548B1B258}"/>
                </a:ext>
              </a:extLst>
            </p:cNvPr>
            <p:cNvCxnSpPr/>
            <p:nvPr/>
          </p:nvCxnSpPr>
          <p:spPr>
            <a:xfrm>
              <a:off x="6524625" y="2690997"/>
              <a:ext cx="0" cy="89040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30039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3E31E6B5-5180-29EA-A149-A53052E5A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C88B80-9336-2DFC-3F81-28E708001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60" y="1741542"/>
            <a:ext cx="8001000" cy="3885520"/>
          </a:xfrm>
          <a:prstGeom prst="rect">
            <a:avLst/>
          </a:prstGeom>
        </p:spPr>
      </p:pic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6CFA5825-920C-32E7-BDE4-70957CD72B81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r>
              <a:rPr lang="vi-VN" sz="4000" b="1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4000" b="1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lang="vi-VN" sz="4000" b="1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4000" b="1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cell</a:t>
            </a:r>
            <a:endParaRPr lang="vi-VN" sz="4000" b="1" dirty="0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5050E8-FDB8-51AD-7D3E-88353A9351EC}"/>
              </a:ext>
            </a:extLst>
          </p:cNvPr>
          <p:cNvSpPr txBox="1"/>
          <p:nvPr/>
        </p:nvSpPr>
        <p:spPr>
          <a:xfrm>
            <a:off x="8422530" y="1422375"/>
            <a:ext cx="3895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000" err="1"/>
              <a:t>Cascode</a:t>
            </a:r>
            <a:r>
              <a:rPr lang="vi-VN" sz="2000"/>
              <a:t> </a:t>
            </a:r>
            <a:r>
              <a:rPr lang="vi-VN" sz="2000" err="1"/>
              <a:t>current</a:t>
            </a:r>
            <a:r>
              <a:rPr lang="vi-VN" sz="2000"/>
              <a:t> </a:t>
            </a:r>
            <a:r>
              <a:rPr lang="vi-VN" sz="2000" err="1"/>
              <a:t>source</a:t>
            </a:r>
            <a:r>
              <a:rPr lang="vi-VN" sz="2000"/>
              <a:t> </a:t>
            </a:r>
            <a:r>
              <a:rPr lang="vi-VN" sz="2000" err="1"/>
              <a:t>cell</a:t>
            </a:r>
            <a:endParaRPr lang="en-GB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19066D-E971-56D1-37AF-A301B9776EF3}"/>
              </a:ext>
            </a:extLst>
          </p:cNvPr>
          <p:cNvSpPr txBox="1"/>
          <p:nvPr/>
        </p:nvSpPr>
        <p:spPr>
          <a:xfrm>
            <a:off x="8627317" y="3865675"/>
            <a:ext cx="34861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2000" err="1"/>
              <a:t>Cascode</a:t>
            </a:r>
            <a:r>
              <a:rPr lang="vi-VN" sz="2000"/>
              <a:t> </a:t>
            </a:r>
            <a:r>
              <a:rPr lang="vi-VN" sz="2000" err="1"/>
              <a:t>current</a:t>
            </a:r>
            <a:r>
              <a:rPr lang="vi-VN" sz="2000"/>
              <a:t> </a:t>
            </a:r>
            <a:r>
              <a:rPr lang="vi-VN" sz="2000" err="1"/>
              <a:t>source</a:t>
            </a:r>
            <a:r>
              <a:rPr lang="vi-VN" sz="2000"/>
              <a:t> </a:t>
            </a:r>
            <a:r>
              <a:rPr lang="vi-VN" sz="2000" err="1"/>
              <a:t>and</a:t>
            </a:r>
            <a:r>
              <a:rPr lang="vi-VN" sz="2000"/>
              <a:t> </a:t>
            </a:r>
            <a:r>
              <a:rPr lang="vi-VN" sz="2000" err="1"/>
              <a:t>cascode</a:t>
            </a:r>
            <a:r>
              <a:rPr lang="vi-VN" sz="2000"/>
              <a:t> </a:t>
            </a:r>
            <a:r>
              <a:rPr lang="vi-VN" sz="2000" err="1"/>
              <a:t>switch</a:t>
            </a:r>
            <a:r>
              <a:rPr lang="vi-VN" sz="2000"/>
              <a:t> </a:t>
            </a:r>
            <a:r>
              <a:rPr lang="vi-VN" sz="2000" err="1"/>
              <a:t>cell</a:t>
            </a:r>
            <a:endParaRPr lang="en-GB" sz="2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B34BC1-C313-5474-2195-12D19186A442}"/>
              </a:ext>
            </a:extLst>
          </p:cNvPr>
          <p:cNvSpPr txBox="1"/>
          <p:nvPr/>
        </p:nvSpPr>
        <p:spPr>
          <a:xfrm>
            <a:off x="425767" y="1152522"/>
            <a:ext cx="3895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000" err="1">
                <a:solidFill>
                  <a:srgbClr val="FF0000"/>
                </a:solidFill>
              </a:rPr>
              <a:t>Cascode</a:t>
            </a:r>
            <a:r>
              <a:rPr lang="vi-VN" sz="2000">
                <a:solidFill>
                  <a:srgbClr val="FF0000"/>
                </a:solidFill>
              </a:rPr>
              <a:t> </a:t>
            </a:r>
            <a:r>
              <a:rPr lang="vi-VN" sz="2000" err="1">
                <a:solidFill>
                  <a:srgbClr val="FF0000"/>
                </a:solidFill>
              </a:rPr>
              <a:t>current</a:t>
            </a:r>
            <a:r>
              <a:rPr lang="vi-VN" sz="2000">
                <a:solidFill>
                  <a:srgbClr val="FF0000"/>
                </a:solidFill>
              </a:rPr>
              <a:t> </a:t>
            </a:r>
            <a:r>
              <a:rPr lang="vi-VN" sz="2000" err="1">
                <a:solidFill>
                  <a:srgbClr val="FF0000"/>
                </a:solidFill>
              </a:rPr>
              <a:t>source</a:t>
            </a:r>
            <a:r>
              <a:rPr lang="vi-VN" sz="2000">
                <a:solidFill>
                  <a:srgbClr val="FF0000"/>
                </a:solidFill>
              </a:rPr>
              <a:t> </a:t>
            </a:r>
            <a:r>
              <a:rPr lang="vi-VN" sz="2000" err="1">
                <a:solidFill>
                  <a:srgbClr val="FF0000"/>
                </a:solidFill>
              </a:rPr>
              <a:t>cell</a:t>
            </a:r>
            <a:endParaRPr lang="en-GB" sz="200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8FF163-8554-1763-B856-7EDA5500E46D}"/>
              </a:ext>
            </a:extLst>
          </p:cNvPr>
          <p:cNvSpPr txBox="1"/>
          <p:nvPr/>
        </p:nvSpPr>
        <p:spPr>
          <a:xfrm>
            <a:off x="642937" y="1801904"/>
            <a:ext cx="34861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2000" err="1">
                <a:solidFill>
                  <a:srgbClr val="FFFF00"/>
                </a:solidFill>
              </a:rPr>
              <a:t>Cascode</a:t>
            </a:r>
            <a:r>
              <a:rPr lang="vi-VN" sz="2000">
                <a:solidFill>
                  <a:srgbClr val="FFFF00"/>
                </a:solidFill>
              </a:rPr>
              <a:t> </a:t>
            </a:r>
            <a:r>
              <a:rPr lang="vi-VN" sz="2000" err="1">
                <a:solidFill>
                  <a:srgbClr val="FFFF00"/>
                </a:solidFill>
              </a:rPr>
              <a:t>current</a:t>
            </a:r>
            <a:r>
              <a:rPr lang="vi-VN" sz="2000">
                <a:solidFill>
                  <a:srgbClr val="FFFF00"/>
                </a:solidFill>
              </a:rPr>
              <a:t> </a:t>
            </a:r>
            <a:r>
              <a:rPr lang="vi-VN" sz="2000" err="1">
                <a:solidFill>
                  <a:srgbClr val="FFFF00"/>
                </a:solidFill>
              </a:rPr>
              <a:t>source</a:t>
            </a:r>
            <a:r>
              <a:rPr lang="vi-VN" sz="2000">
                <a:solidFill>
                  <a:srgbClr val="FFFF00"/>
                </a:solidFill>
              </a:rPr>
              <a:t> </a:t>
            </a:r>
            <a:r>
              <a:rPr lang="vi-VN" sz="2000" err="1">
                <a:solidFill>
                  <a:srgbClr val="FFFF00"/>
                </a:solidFill>
              </a:rPr>
              <a:t>and</a:t>
            </a:r>
            <a:r>
              <a:rPr lang="vi-VN" sz="2000">
                <a:solidFill>
                  <a:srgbClr val="FFFF00"/>
                </a:solidFill>
              </a:rPr>
              <a:t> </a:t>
            </a:r>
            <a:r>
              <a:rPr lang="vi-VN" sz="2000" err="1">
                <a:solidFill>
                  <a:srgbClr val="FFFF00"/>
                </a:solidFill>
              </a:rPr>
              <a:t>cascode</a:t>
            </a:r>
            <a:r>
              <a:rPr lang="vi-VN" sz="2000">
                <a:solidFill>
                  <a:srgbClr val="FFFF00"/>
                </a:solidFill>
              </a:rPr>
              <a:t> </a:t>
            </a:r>
            <a:r>
              <a:rPr lang="vi-VN" sz="2000" err="1">
                <a:solidFill>
                  <a:srgbClr val="FFFF00"/>
                </a:solidFill>
              </a:rPr>
              <a:t>switch</a:t>
            </a:r>
            <a:r>
              <a:rPr lang="vi-VN" sz="2000">
                <a:solidFill>
                  <a:srgbClr val="FFFF00"/>
                </a:solidFill>
              </a:rPr>
              <a:t> </a:t>
            </a:r>
            <a:r>
              <a:rPr lang="vi-VN" sz="2000" err="1">
                <a:solidFill>
                  <a:srgbClr val="FFFF00"/>
                </a:solidFill>
              </a:rPr>
              <a:t>cell</a:t>
            </a:r>
            <a:endParaRPr lang="en-GB" sz="2000">
              <a:solidFill>
                <a:srgbClr val="FFFF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B8B3EA-AB1C-271A-48A8-CEAC688C8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8344" y="4676190"/>
            <a:ext cx="3344096" cy="11988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6F0064-CE7C-7AC8-D8F4-CB16D97514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3937" y="2051664"/>
            <a:ext cx="3477214" cy="13773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1E94CD-804A-98CD-8206-33D1A12C1387}"/>
              </a:ext>
            </a:extLst>
          </p:cNvPr>
          <p:cNvSpPr txBox="1"/>
          <p:nvPr/>
        </p:nvSpPr>
        <p:spPr>
          <a:xfrm>
            <a:off x="284217" y="5875020"/>
            <a:ext cx="7105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2000">
                <a:solidFill>
                  <a:schemeClr val="tx1"/>
                </a:solidFill>
              </a:rPr>
              <a:t>=&gt; </a:t>
            </a:r>
            <a:r>
              <a:rPr lang="vi-VN" sz="2000" err="1">
                <a:solidFill>
                  <a:schemeClr val="tx1"/>
                </a:solidFill>
              </a:rPr>
              <a:t>Use</a:t>
            </a:r>
            <a:r>
              <a:rPr lang="vi-VN" sz="2000">
                <a:solidFill>
                  <a:schemeClr val="tx1"/>
                </a:solidFill>
              </a:rPr>
              <a:t> </a:t>
            </a:r>
            <a:r>
              <a:rPr lang="vi-VN" sz="2000" err="1">
                <a:solidFill>
                  <a:schemeClr val="tx1"/>
                </a:solidFill>
              </a:rPr>
              <a:t>cascode</a:t>
            </a:r>
            <a:r>
              <a:rPr lang="vi-VN" sz="2000">
                <a:solidFill>
                  <a:schemeClr val="tx1"/>
                </a:solidFill>
              </a:rPr>
              <a:t> </a:t>
            </a:r>
            <a:r>
              <a:rPr lang="vi-VN" sz="2000" err="1">
                <a:solidFill>
                  <a:schemeClr val="tx1"/>
                </a:solidFill>
              </a:rPr>
              <a:t>switch</a:t>
            </a:r>
            <a:r>
              <a:rPr lang="vi-VN" sz="2000">
                <a:solidFill>
                  <a:schemeClr val="tx1"/>
                </a:solidFill>
              </a:rPr>
              <a:t> to </a:t>
            </a:r>
            <a:r>
              <a:rPr lang="vi-VN" sz="2000" err="1">
                <a:solidFill>
                  <a:schemeClr val="tx1"/>
                </a:solidFill>
              </a:rPr>
              <a:t>minimize</a:t>
            </a:r>
            <a:r>
              <a:rPr lang="vi-VN" sz="2000">
                <a:solidFill>
                  <a:schemeClr val="tx1"/>
                </a:solidFill>
              </a:rPr>
              <a:t> </a:t>
            </a:r>
            <a:r>
              <a:rPr lang="vi-VN" sz="2000" err="1">
                <a:solidFill>
                  <a:schemeClr val="tx1"/>
                </a:solidFill>
              </a:rPr>
              <a:t>glitch</a:t>
            </a:r>
            <a:r>
              <a:rPr lang="vi-VN" sz="2000">
                <a:solidFill>
                  <a:schemeClr val="tx1"/>
                </a:solidFill>
              </a:rPr>
              <a:t>, </a:t>
            </a:r>
            <a:r>
              <a:rPr lang="vi-VN" sz="2000" err="1">
                <a:solidFill>
                  <a:schemeClr val="tx1"/>
                </a:solidFill>
              </a:rPr>
              <a:t>increase</a:t>
            </a:r>
            <a:r>
              <a:rPr lang="vi-VN" sz="2000">
                <a:solidFill>
                  <a:schemeClr val="tx1"/>
                </a:solidFill>
              </a:rPr>
              <a:t> ENOB</a:t>
            </a:r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0882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9FBE2427-4A78-E187-E3DD-82D9B9E39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148B73CB-953B-E265-801C-282C2E9B5884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en-US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Spectrum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45F646-AC8D-FBFC-A135-1F56DC4FFE1F}"/>
              </a:ext>
            </a:extLst>
          </p:cNvPr>
          <p:cNvSpPr txBox="1"/>
          <p:nvPr/>
        </p:nvSpPr>
        <p:spPr>
          <a:xfrm>
            <a:off x="9715500" y="2881580"/>
            <a:ext cx="24765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effectLst/>
                <a:latin typeface="+mn-lt"/>
                <a:ea typeface="Times New Roman" panose="02020603050405020304" pitchFamily="18" charset="0"/>
              </a:rPr>
              <a:t>Spectrum with </a:t>
            </a:r>
            <a:r>
              <a:rPr lang="vi-VN" sz="2000">
                <a:effectLst/>
                <a:latin typeface="+mn-lt"/>
                <a:ea typeface="Times New Roman" panose="02020603050405020304" pitchFamily="18" charset="0"/>
              </a:rPr>
              <a:t>249.5</a:t>
            </a:r>
            <a:r>
              <a:rPr lang="en-US" sz="2000">
                <a:effectLst/>
                <a:latin typeface="+mn-lt"/>
                <a:ea typeface="Times New Roman" panose="02020603050405020304" pitchFamily="18" charset="0"/>
              </a:rPr>
              <a:t> MHz signal with and 500 MHz clock</a:t>
            </a:r>
            <a:endParaRPr lang="en-GB" sz="2000">
              <a:latin typeface="+mn-lt"/>
            </a:endParaRPr>
          </a:p>
        </p:txBody>
      </p:sp>
      <p:pic>
        <p:nvPicPr>
          <p:cNvPr id="4" name="Picture 3" descr="A graph with red lines&#10;&#10;AI-generated content may be incorrect.">
            <a:extLst>
              <a:ext uri="{FF2B5EF4-FFF2-40B4-BE49-F238E27FC236}">
                <a16:creationId xmlns:a16="http://schemas.microsoft.com/office/drawing/2014/main" id="{04C1874B-D20E-DDF7-37CA-0407D4AAD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0166"/>
            <a:ext cx="9639344" cy="454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065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683EFD12-A8CA-A445-CF84-21BA7CC84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DD8A25DE-E6E1-17CE-198A-8F4ACEEE4C49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en-US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PVT result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graph showing a number of circles&#10;&#10;AI-generated content may be incorrect.">
            <a:extLst>
              <a:ext uri="{FF2B5EF4-FFF2-40B4-BE49-F238E27FC236}">
                <a16:creationId xmlns:a16="http://schemas.microsoft.com/office/drawing/2014/main" id="{1DAFFAEF-BC0F-C7BA-A210-D8333A516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62" y="1323974"/>
            <a:ext cx="9849046" cy="476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735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6164666C-F41B-EB3A-84B6-D45C30B58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78F1F149-9540-345B-6C39-3BCA045C67AE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en-US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PVT result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80A304-2C61-704A-4588-248FBB886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907080"/>
              </p:ext>
            </p:extLst>
          </p:nvPr>
        </p:nvGraphicFramePr>
        <p:xfrm>
          <a:off x="1647428" y="1534795"/>
          <a:ext cx="8897144" cy="40170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79409">
                  <a:extLst>
                    <a:ext uri="{9D8B030D-6E8A-4147-A177-3AD203B41FA5}">
                      <a16:colId xmlns:a16="http://schemas.microsoft.com/office/drawing/2014/main" val="1468856172"/>
                    </a:ext>
                  </a:extLst>
                </a:gridCol>
                <a:gridCol w="861815">
                  <a:extLst>
                    <a:ext uri="{9D8B030D-6E8A-4147-A177-3AD203B41FA5}">
                      <a16:colId xmlns:a16="http://schemas.microsoft.com/office/drawing/2014/main" val="3440018482"/>
                    </a:ext>
                  </a:extLst>
                </a:gridCol>
                <a:gridCol w="914365">
                  <a:extLst>
                    <a:ext uri="{9D8B030D-6E8A-4147-A177-3AD203B41FA5}">
                      <a16:colId xmlns:a16="http://schemas.microsoft.com/office/drawing/2014/main" val="1520596295"/>
                    </a:ext>
                  </a:extLst>
                </a:gridCol>
                <a:gridCol w="1177113">
                  <a:extLst>
                    <a:ext uri="{9D8B030D-6E8A-4147-A177-3AD203B41FA5}">
                      <a16:colId xmlns:a16="http://schemas.microsoft.com/office/drawing/2014/main" val="3438595579"/>
                    </a:ext>
                  </a:extLst>
                </a:gridCol>
                <a:gridCol w="1245192">
                  <a:extLst>
                    <a:ext uri="{9D8B030D-6E8A-4147-A177-3AD203B41FA5}">
                      <a16:colId xmlns:a16="http://schemas.microsoft.com/office/drawing/2014/main" val="2621298552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67245608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 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+mn-lt"/>
                        </a:rPr>
                        <a:t>Min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+mn-lt"/>
                        </a:rPr>
                        <a:t>Max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+mn-lt"/>
                        </a:rPr>
                        <a:t>Typical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Post</a:t>
                      </a:r>
                      <a:r>
                        <a:rPr lang="vi-VN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sim @TT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 sz="200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Post</a:t>
                      </a:r>
                      <a:r>
                        <a:rPr lang="vi-VN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sim @</a:t>
                      </a:r>
                      <a:r>
                        <a:rPr lang="en-US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100MSPS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339044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 err="1">
                          <a:effectLst/>
                          <a:latin typeface="+mn-lt"/>
                        </a:rPr>
                        <a:t>Power</a:t>
                      </a:r>
                      <a:r>
                        <a:rPr lang="vi-VN" sz="2000">
                          <a:effectLst/>
                          <a:latin typeface="+mn-lt"/>
                        </a:rPr>
                        <a:t> </a:t>
                      </a:r>
                      <a:r>
                        <a:rPr lang="vi-VN" sz="2000" err="1">
                          <a:effectLst/>
                          <a:latin typeface="+mn-lt"/>
                        </a:rPr>
                        <a:t>Dissipation</a:t>
                      </a:r>
                      <a:r>
                        <a:rPr lang="vi-VN" sz="2000">
                          <a:effectLst/>
                          <a:latin typeface="+mn-lt"/>
                        </a:rPr>
                        <a:t> (</a:t>
                      </a:r>
                      <a:r>
                        <a:rPr lang="vi-VN" sz="2000" err="1">
                          <a:effectLst/>
                          <a:latin typeface="+mn-lt"/>
                        </a:rPr>
                        <a:t>mW</a:t>
                      </a:r>
                      <a:r>
                        <a:rPr lang="vi-VN" sz="2000">
                          <a:effectLst/>
                          <a:latin typeface="+mn-lt"/>
                        </a:rPr>
                        <a:t>)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32</a:t>
                      </a:r>
                      <a:r>
                        <a:rPr lang="en-US" sz="2000">
                          <a:effectLst/>
                          <a:latin typeface="+mn-lt"/>
                        </a:rPr>
                        <a:t>.47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47</a:t>
                      </a:r>
                      <a:r>
                        <a:rPr lang="en-US" sz="2000">
                          <a:effectLst/>
                          <a:latin typeface="+mn-lt"/>
                        </a:rPr>
                        <a:t>.</a:t>
                      </a:r>
                      <a:r>
                        <a:rPr lang="vi-VN" sz="2000">
                          <a:effectLst/>
                          <a:latin typeface="+mn-lt"/>
                        </a:rPr>
                        <a:t>12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+mn-lt"/>
                        </a:rPr>
                        <a:t>40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47.3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37.16</a:t>
                      </a:r>
                      <a:endParaRPr lang="en-GB" sz="2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99231557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DNL (LSB)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0.3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0.6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0.5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88680608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INL (LSB)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0.2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0.5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0.4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8723689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SFDR (</a:t>
                      </a:r>
                      <a:r>
                        <a:rPr lang="vi-VN" sz="2000" err="1">
                          <a:effectLst/>
                          <a:latin typeface="+mn-lt"/>
                        </a:rPr>
                        <a:t>dB</a:t>
                      </a:r>
                      <a:r>
                        <a:rPr lang="vi-VN" sz="2000">
                          <a:effectLst/>
                          <a:latin typeface="+mn-lt"/>
                        </a:rPr>
                        <a:t>)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68.72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85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83.5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30.7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67.4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7914455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ENOB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10.6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11.8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11.8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4.56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10.17</a:t>
                      </a:r>
                      <a:endParaRPr lang="en-GB" sz="2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3082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71029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DB0EFF69-249A-35CD-7266-6129998BD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7E57C29E-EDFF-328C-EB4C-E244A7BF9F0C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en-US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F3E260-1A3A-13BB-57B9-B6DB24C03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176662"/>
              </p:ext>
            </p:extLst>
          </p:nvPr>
        </p:nvGraphicFramePr>
        <p:xfrm>
          <a:off x="1094422" y="1494790"/>
          <a:ext cx="10003155" cy="40074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39506">
                  <a:extLst>
                    <a:ext uri="{9D8B030D-6E8A-4147-A177-3AD203B41FA5}">
                      <a16:colId xmlns:a16="http://schemas.microsoft.com/office/drawing/2014/main" val="265507348"/>
                    </a:ext>
                  </a:extLst>
                </a:gridCol>
                <a:gridCol w="1415551">
                  <a:extLst>
                    <a:ext uri="{9D8B030D-6E8A-4147-A177-3AD203B41FA5}">
                      <a16:colId xmlns:a16="http://schemas.microsoft.com/office/drawing/2014/main" val="3056695902"/>
                    </a:ext>
                  </a:extLst>
                </a:gridCol>
                <a:gridCol w="1729501">
                  <a:extLst>
                    <a:ext uri="{9D8B030D-6E8A-4147-A177-3AD203B41FA5}">
                      <a16:colId xmlns:a16="http://schemas.microsoft.com/office/drawing/2014/main" val="4181205087"/>
                    </a:ext>
                  </a:extLst>
                </a:gridCol>
                <a:gridCol w="1717299">
                  <a:extLst>
                    <a:ext uri="{9D8B030D-6E8A-4147-A177-3AD203B41FA5}">
                      <a16:colId xmlns:a16="http://schemas.microsoft.com/office/drawing/2014/main" val="1411414735"/>
                    </a:ext>
                  </a:extLst>
                </a:gridCol>
                <a:gridCol w="2001298">
                  <a:extLst>
                    <a:ext uri="{9D8B030D-6E8A-4147-A177-3AD203B41FA5}">
                      <a16:colId xmlns:a16="http://schemas.microsoft.com/office/drawing/2014/main" val="2376693859"/>
                    </a:ext>
                  </a:extLst>
                </a:gridCol>
              </a:tblGrid>
              <a:tr h="838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 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[6]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[1</a:t>
                      </a:r>
                      <a:r>
                        <a:rPr lang="en-US" sz="2000">
                          <a:effectLst/>
                          <a:latin typeface="+mn-lt"/>
                        </a:rPr>
                        <a:t>1</a:t>
                      </a:r>
                      <a:r>
                        <a:rPr lang="vi-VN" sz="2000">
                          <a:effectLst/>
                          <a:latin typeface="+mn-lt"/>
                        </a:rPr>
                        <a:t>]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[19]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 b="1">
                          <a:effectLst/>
                          <a:latin typeface="+mn-lt"/>
                        </a:rPr>
                        <a:t>This Work</a:t>
                      </a:r>
                      <a:endParaRPr lang="en-GB" sz="2000" b="1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8350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 err="1">
                          <a:effectLst/>
                          <a:latin typeface="+mn-lt"/>
                        </a:rPr>
                        <a:t>Technology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65nm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65nm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90nm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 b="1">
                          <a:effectLst/>
                          <a:latin typeface="+mn-lt"/>
                        </a:rPr>
                        <a:t>65nm</a:t>
                      </a:r>
                      <a:endParaRPr lang="en-GB" sz="2000" b="1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006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 dirty="0" err="1">
                          <a:effectLst/>
                          <a:latin typeface="+mn-lt"/>
                        </a:rPr>
                        <a:t>Resolution</a:t>
                      </a:r>
                      <a:endParaRPr lang="en-GB" sz="2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12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12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12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 b="1">
                          <a:effectLst/>
                          <a:latin typeface="+mn-lt"/>
                        </a:rPr>
                        <a:t>12</a:t>
                      </a:r>
                      <a:endParaRPr lang="en-GB" sz="2000" b="1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3586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Power Dissipation (mW)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188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30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128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 b="1">
                          <a:effectLst/>
                          <a:latin typeface="+mn-lt"/>
                        </a:rPr>
                        <a:t>4</a:t>
                      </a:r>
                      <a:r>
                        <a:rPr lang="en-US" sz="2000" b="1">
                          <a:effectLst/>
                          <a:latin typeface="+mn-lt"/>
                        </a:rPr>
                        <a:t>0</a:t>
                      </a:r>
                      <a:endParaRPr lang="en-GB" sz="2000" b="1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4523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DNL (LSB)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0.3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0.23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0.5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 b="1">
                          <a:effectLst/>
                          <a:latin typeface="+mn-lt"/>
                        </a:rPr>
                        <a:t>0.6</a:t>
                      </a:r>
                      <a:endParaRPr lang="en-GB" sz="2000" b="1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4275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INL (LSB)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0.5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0.4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1.2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 b="1">
                          <a:effectLst/>
                          <a:latin typeface="+mn-lt"/>
                        </a:rPr>
                        <a:t>0.4</a:t>
                      </a:r>
                      <a:endParaRPr lang="en-GB" sz="2000" b="1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7210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Update Rate (MS/s)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2900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300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1250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 b="1">
                          <a:effectLst/>
                          <a:latin typeface="+mn-lt"/>
                        </a:rPr>
                        <a:t>500</a:t>
                      </a:r>
                      <a:endParaRPr lang="en-GB" sz="2000" b="1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8608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SFDR (dB)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&gt; 66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75.98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66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 b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83.5</a:t>
                      </a:r>
                      <a:endParaRPr lang="en-GB" sz="2000" b="1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4620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Bandwidth (MHz)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300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30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625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 b="1">
                          <a:effectLst/>
                          <a:latin typeface="+mn-lt"/>
                        </a:rPr>
                        <a:t>250</a:t>
                      </a:r>
                      <a:endParaRPr lang="en-GB" sz="2000" b="1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9008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ENOB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10.67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>
                          <a:effectLst/>
                          <a:latin typeface="+mn-lt"/>
                        </a:rPr>
                        <a:t>10.67</a:t>
                      </a:r>
                      <a:endParaRPr lang="en-GB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vi-VN" sz="2000" b="1" dirty="0">
                          <a:effectLst/>
                          <a:latin typeface="+mn-lt"/>
                        </a:rPr>
                        <a:t>11.8</a:t>
                      </a:r>
                      <a:endParaRPr lang="en-GB" sz="20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7053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7727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6EEEC428-6EAC-7640-DCA3-4B0CCE5F0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1BBACEC2-01E0-8118-0DB7-ECA13C17E944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r>
              <a:rPr lang="vi-VN" sz="4000" b="1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vi-VN" sz="4000" b="1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Future</a:t>
            </a:r>
            <a:r>
              <a:rPr lang="vi-VN" sz="4000" b="1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4000" b="1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work</a:t>
            </a:r>
            <a:endParaRPr lang="vi-VN" sz="4000" b="1" dirty="0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E74E84-40D0-EFF7-78F5-4416EFEE6D97}"/>
              </a:ext>
            </a:extLst>
          </p:cNvPr>
          <p:cNvSpPr txBox="1"/>
          <p:nvPr/>
        </p:nvSpPr>
        <p:spPr>
          <a:xfrm>
            <a:off x="381000" y="1120914"/>
            <a:ext cx="11430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Project </a:t>
            </a:r>
            <a:r>
              <a:rPr lang="vi-VN" sz="2000" b="1" err="1"/>
              <a:t>Overview</a:t>
            </a:r>
            <a:r>
              <a:rPr lang="en-US" sz="2000"/>
              <a:t>: Designed a 12-bit </a:t>
            </a:r>
            <a:r>
              <a:rPr lang="vi-VN" sz="2000"/>
              <a:t>DA</a:t>
            </a:r>
            <a:r>
              <a:rPr lang="en-US" sz="2000"/>
              <a:t>C </a:t>
            </a:r>
            <a:r>
              <a:rPr lang="vi-VN" sz="2000"/>
              <a:t>50</a:t>
            </a:r>
            <a:r>
              <a:rPr lang="en-US" sz="2000"/>
              <a:t>0MSPS in 65nm CMOS.</a:t>
            </a:r>
            <a:endParaRPr lang="vi-V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Achieved 11.</a:t>
            </a:r>
            <a:r>
              <a:rPr lang="vi-VN" sz="2000"/>
              <a:t>8</a:t>
            </a:r>
            <a:r>
              <a:rPr lang="en-US" sz="2000"/>
              <a:t>-bit ENOB at </a:t>
            </a:r>
            <a:r>
              <a:rPr lang="vi-VN" sz="2000"/>
              <a:t>50</a:t>
            </a:r>
            <a:r>
              <a:rPr lang="en-US" sz="2000"/>
              <a:t>0 MSPS (schematic), and 10.17-bit at 1</a:t>
            </a:r>
            <a:r>
              <a:rPr lang="vi-VN" sz="2000"/>
              <a:t>00</a:t>
            </a:r>
            <a:r>
              <a:rPr lang="en-US" sz="2000"/>
              <a:t> MSPS (post-layout).</a:t>
            </a:r>
            <a:endParaRPr lang="vi-V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Low power consumption: </a:t>
            </a:r>
            <a:r>
              <a:rPr lang="vi-VN" sz="2000"/>
              <a:t>41mW </a:t>
            </a:r>
            <a:r>
              <a:rPr lang="en-US" sz="2000"/>
              <a:t>total.</a:t>
            </a:r>
            <a:endParaRPr lang="vi-V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/>
              <a:t>High linearity: DNL = 0.6 LSB, INL = 0.</a:t>
            </a:r>
            <a:r>
              <a:rPr lang="vi-VN" sz="2000"/>
              <a:t>5</a:t>
            </a:r>
            <a:r>
              <a:rPr lang="en-GB" sz="2000"/>
              <a:t> LSB.</a:t>
            </a:r>
            <a:endParaRPr lang="vi-V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Robust across PVT </a:t>
            </a:r>
            <a:r>
              <a:rPr lang="vi-VN" sz="2000" err="1"/>
              <a:t>corners</a:t>
            </a:r>
            <a:r>
              <a:rPr lang="en-US" sz="20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Applied techniques:</a:t>
            </a:r>
          </a:p>
          <a:p>
            <a:pPr lvl="8"/>
            <a:r>
              <a:rPr lang="vi-VN" sz="2000"/>
              <a:t>    </a:t>
            </a:r>
            <a:r>
              <a:rPr lang="en-US" sz="2000"/>
              <a:t>+ </a:t>
            </a:r>
            <a:r>
              <a:rPr lang="vi-VN" sz="2000"/>
              <a:t> </a:t>
            </a:r>
            <a:r>
              <a:rPr lang="vi-VN" sz="2000" err="1"/>
              <a:t>Cascode</a:t>
            </a:r>
            <a:r>
              <a:rPr lang="vi-VN" sz="2000"/>
              <a:t> </a:t>
            </a:r>
            <a:r>
              <a:rPr lang="vi-VN" sz="2000" err="1"/>
              <a:t>current</a:t>
            </a:r>
            <a:r>
              <a:rPr lang="vi-VN" sz="2000"/>
              <a:t> </a:t>
            </a:r>
            <a:r>
              <a:rPr lang="vi-VN" sz="2000" err="1"/>
              <a:t>source</a:t>
            </a:r>
            <a:r>
              <a:rPr lang="vi-VN" sz="2000"/>
              <a:t> </a:t>
            </a:r>
          </a:p>
          <a:p>
            <a:pPr lvl="8"/>
            <a:r>
              <a:rPr lang="vi-VN" sz="2000"/>
              <a:t>    </a:t>
            </a:r>
            <a:r>
              <a:rPr lang="en-US" sz="2000"/>
              <a:t>+ </a:t>
            </a:r>
            <a:r>
              <a:rPr lang="vi-VN" sz="2000"/>
              <a:t> </a:t>
            </a:r>
            <a:r>
              <a:rPr lang="vi-VN" sz="2000" err="1"/>
              <a:t>Cascode</a:t>
            </a:r>
            <a:r>
              <a:rPr lang="vi-VN" sz="2000"/>
              <a:t> </a:t>
            </a:r>
            <a:r>
              <a:rPr lang="vi-VN" sz="2000" err="1"/>
              <a:t>switch</a:t>
            </a:r>
            <a:r>
              <a:rPr lang="en-US" sz="2000"/>
              <a:t>.</a:t>
            </a:r>
          </a:p>
          <a:p>
            <a:pPr lvl="8"/>
            <a:r>
              <a:rPr lang="vi-VN" sz="2000"/>
              <a:t>    </a:t>
            </a:r>
            <a:r>
              <a:rPr lang="en-US" sz="2000"/>
              <a:t>+</a:t>
            </a:r>
            <a:r>
              <a:rPr lang="vi-VN" sz="2000"/>
              <a:t>  3 to 7 </a:t>
            </a:r>
            <a:r>
              <a:rPr lang="vi-VN" sz="2000" err="1"/>
              <a:t>bits</a:t>
            </a:r>
            <a:r>
              <a:rPr lang="vi-VN" sz="2000"/>
              <a:t> </a:t>
            </a:r>
            <a:r>
              <a:rPr lang="vi-VN" sz="2000" err="1"/>
              <a:t>binary</a:t>
            </a:r>
            <a:r>
              <a:rPr lang="vi-VN" sz="2000"/>
              <a:t> to </a:t>
            </a:r>
            <a:r>
              <a:rPr lang="vi-VN" sz="2000" err="1"/>
              <a:t>thermometer</a:t>
            </a:r>
            <a:r>
              <a:rPr lang="vi-VN" sz="2000"/>
              <a:t> </a:t>
            </a:r>
            <a:r>
              <a:rPr lang="vi-VN" sz="2000" err="1"/>
              <a:t>decoder</a:t>
            </a:r>
            <a:r>
              <a:rPr lang="en-US" sz="2000"/>
              <a:t>.</a:t>
            </a:r>
          </a:p>
          <a:p>
            <a:endParaRPr lang="en-US" sz="2000"/>
          </a:p>
          <a:p>
            <a:r>
              <a:rPr lang="en-US" sz="2000" b="1"/>
              <a:t>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/>
              <a:t>Layout optimization to improve post-layout performance → tape-out ready</a:t>
            </a:r>
            <a:r>
              <a:rPr lang="vi-VN" sz="20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/>
              <a:t>Add digital calibration (e.g., DEM) for higher accuracy and speed.</a:t>
            </a:r>
            <a:r>
              <a:rPr lang="vi-VN" sz="20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/>
              <a:t>Explore system-level integration:</a:t>
            </a:r>
            <a:endParaRPr lang="vi-VN" sz="2000"/>
          </a:p>
          <a:p>
            <a:r>
              <a:rPr lang="vi-VN" sz="2000"/>
              <a:t>     </a:t>
            </a:r>
            <a:r>
              <a:rPr lang="en-GB" sz="2000"/>
              <a:t>→ Use in optical transceivers for high-speed data center applications.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3140255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35</a:t>
            </a:fld>
            <a:endParaRPr/>
          </a:p>
        </p:txBody>
      </p:sp>
      <p:sp>
        <p:nvSpPr>
          <p:cNvPr id="228" name="Google Shape;228;p10"/>
          <p:cNvSpPr txBox="1"/>
          <p:nvPr/>
        </p:nvSpPr>
        <p:spPr>
          <a:xfrm>
            <a:off x="2305050" y="2857501"/>
            <a:ext cx="75819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3376C7"/>
              </a:buClr>
              <a:buSzPts val="9600"/>
            </a:pPr>
            <a:r>
              <a:rPr lang="en-US" sz="9600" b="1">
                <a:solidFill>
                  <a:srgbClr val="3376C7"/>
                </a:solidFill>
              </a:rPr>
              <a:t>THANK YOU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C6E132-6F6D-8F16-6CC6-1A1F5C1FDE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0250AA44-779C-CC20-A8C6-346FEE27C6E4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Reference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E1BD4C-7761-FDE5-19EB-29669A42C1EF}"/>
              </a:ext>
            </a:extLst>
          </p:cNvPr>
          <p:cNvSpPr txBox="1"/>
          <p:nvPr/>
        </p:nvSpPr>
        <p:spPr>
          <a:xfrm>
            <a:off x="171450" y="1207598"/>
            <a:ext cx="118395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[2] G. Manganaro, Advance Data Converters. Cambridge University Press, 2012..</a:t>
            </a:r>
          </a:p>
          <a:p>
            <a:r>
              <a:rPr lang="en-GB" dirty="0"/>
              <a:t>[4] P. Caragiulo, C. Daigle, and B. Murmann, DAC Performance Survey 1996-2020,” [Online]. Available: </a:t>
            </a:r>
            <a:r>
              <a:rPr lang="en-GB" dirty="0">
                <a:hlinkClick r:id="rId2"/>
              </a:rPr>
              <a:t>https://github.com/pietro-caragiulo/survey-DAC</a:t>
            </a:r>
            <a:r>
              <a:rPr lang="en-GB" dirty="0"/>
              <a:t>.</a:t>
            </a:r>
            <a:endParaRPr lang="vi-VN" dirty="0"/>
          </a:p>
          <a:p>
            <a:r>
              <a:rPr lang="en-US" dirty="0"/>
              <a:t>[6] C. -H. Lin et al., "A 12 bit 2.9 GS/s DAC With IM3 ≪− 60 </a:t>
            </a:r>
            <a:r>
              <a:rPr lang="en-US" dirty="0" err="1"/>
              <a:t>dBc</a:t>
            </a:r>
            <a:r>
              <a:rPr lang="en-US" dirty="0"/>
              <a:t> Beyond 1 GHz in 65 nm CMOS," in IEEE Journal of Solid-State Circuits, vol. 44, no. 12, pp. 3285-3293, Dec. 2009.</a:t>
            </a:r>
            <a:endParaRPr lang="vi-VN" dirty="0"/>
          </a:p>
          <a:p>
            <a:r>
              <a:rPr lang="en-US" dirty="0"/>
              <a:t>[11] G. M. Hong, Shih-Hsuan Hsu, Yan-Hua Peng, Alvin Hsin-Hung Chen, Yi-Ti Wang and Hsin-Hung Lu, "A 10-bit 300MHz 0.1mm2 triple-channel current-steering DAC 75.98dB SFDR in 65nm," 2008 IEEE International Symposium on VLSI Design, Automation and Test (VLSI-DAT), Hsinchu, 2008.</a:t>
            </a:r>
          </a:p>
          <a:p>
            <a:r>
              <a:rPr lang="vi-VN" dirty="0"/>
              <a:t>[19] </a:t>
            </a:r>
            <a:r>
              <a:rPr lang="vi-VN" dirty="0" err="1"/>
              <a:t>Wei-Hsin</a:t>
            </a:r>
            <a:r>
              <a:rPr lang="vi-VN" dirty="0"/>
              <a:t> </a:t>
            </a:r>
            <a:r>
              <a:rPr lang="vi-VN" dirty="0" err="1"/>
              <a:t>Tseng</a:t>
            </a:r>
            <a:r>
              <a:rPr lang="vi-VN" dirty="0"/>
              <a:t>, Chi-</a:t>
            </a:r>
            <a:r>
              <a:rPr lang="vi-VN" dirty="0" err="1"/>
              <a:t>Wei</a:t>
            </a:r>
            <a:r>
              <a:rPr lang="vi-VN" dirty="0"/>
              <a:t> </a:t>
            </a:r>
            <a:r>
              <a:rPr lang="vi-VN" dirty="0" err="1"/>
              <a:t>Fan</a:t>
            </a:r>
            <a:r>
              <a:rPr lang="vi-VN" dirty="0"/>
              <a:t>, </a:t>
            </a:r>
            <a:r>
              <a:rPr lang="vi-VN" dirty="0" err="1"/>
              <a:t>and</a:t>
            </a:r>
            <a:r>
              <a:rPr lang="vi-VN" dirty="0"/>
              <a:t> </a:t>
            </a:r>
            <a:r>
              <a:rPr lang="vi-VN" dirty="0" err="1"/>
              <a:t>Jieh-Tsorng</a:t>
            </a:r>
            <a:r>
              <a:rPr lang="vi-VN" dirty="0"/>
              <a:t> </a:t>
            </a:r>
            <a:r>
              <a:rPr lang="vi-VN" dirty="0" err="1"/>
              <a:t>Wu</a:t>
            </a:r>
            <a:r>
              <a:rPr lang="vi-VN" dirty="0"/>
              <a:t>. A 12-bit 1.25-gs/s </a:t>
            </a:r>
            <a:r>
              <a:rPr lang="vi-VN" dirty="0" err="1"/>
              <a:t>dac</a:t>
            </a:r>
            <a:r>
              <a:rPr lang="vi-VN" dirty="0"/>
              <a:t> in 90 </a:t>
            </a:r>
            <a:r>
              <a:rPr lang="vi-VN" dirty="0" err="1"/>
              <a:t>nm</a:t>
            </a:r>
            <a:r>
              <a:rPr lang="vi-VN" dirty="0"/>
              <a:t> </a:t>
            </a:r>
            <a:r>
              <a:rPr lang="vi-VN" dirty="0" err="1"/>
              <a:t>cmos</a:t>
            </a:r>
            <a:r>
              <a:rPr lang="vi-VN" dirty="0"/>
              <a:t> </a:t>
            </a:r>
            <a:r>
              <a:rPr lang="vi-VN" dirty="0" err="1"/>
              <a:t>with</a:t>
            </a:r>
            <a:r>
              <a:rPr lang="vi-VN" dirty="0"/>
              <a:t> 70 </a:t>
            </a:r>
            <a:r>
              <a:rPr lang="vi-VN" dirty="0" err="1"/>
              <a:t>db</a:t>
            </a:r>
            <a:r>
              <a:rPr lang="vi-VN" dirty="0"/>
              <a:t> </a:t>
            </a:r>
            <a:r>
              <a:rPr lang="vi-VN" dirty="0" err="1"/>
              <a:t>sfdr</a:t>
            </a:r>
            <a:r>
              <a:rPr lang="vi-VN" dirty="0"/>
              <a:t> </a:t>
            </a:r>
            <a:r>
              <a:rPr lang="vi-VN" dirty="0" err="1"/>
              <a:t>up</a:t>
            </a:r>
            <a:r>
              <a:rPr lang="vi-VN" dirty="0"/>
              <a:t> to 500 </a:t>
            </a:r>
            <a:r>
              <a:rPr lang="vi-VN" dirty="0" err="1"/>
              <a:t>mhz</a:t>
            </a:r>
            <a:r>
              <a:rPr lang="vi-VN" dirty="0"/>
              <a:t>. </a:t>
            </a:r>
            <a:r>
              <a:rPr lang="vi-VN" dirty="0" err="1"/>
              <a:t>Solid-State</a:t>
            </a:r>
            <a:r>
              <a:rPr lang="vi-VN" dirty="0"/>
              <a:t> </a:t>
            </a:r>
            <a:r>
              <a:rPr lang="vi-VN" dirty="0" err="1"/>
              <a:t>Circuits</a:t>
            </a:r>
            <a:r>
              <a:rPr lang="vi-VN" dirty="0"/>
              <a:t>, IEEE </a:t>
            </a:r>
            <a:r>
              <a:rPr lang="vi-VN" dirty="0" err="1"/>
              <a:t>Journal</a:t>
            </a:r>
            <a:r>
              <a:rPr lang="vi-VN" dirty="0"/>
              <a:t> </a:t>
            </a:r>
            <a:r>
              <a:rPr lang="vi-VN" dirty="0" err="1"/>
              <a:t>of</a:t>
            </a:r>
            <a:r>
              <a:rPr lang="vi-VN" dirty="0"/>
              <a:t>, 46(12):2845–2856, 2011.</a:t>
            </a:r>
          </a:p>
          <a:p>
            <a:r>
              <a:rPr lang="en-US" dirty="0"/>
              <a:t>[20] A. Van den Bosch et al., "A 12 bit 200 MHz low glitch CMOS D/A converter," Proceedings of the IEEE 1998 Custom Integrated Circuits Conference (Cat. No.98CH36143), Santa Clara, CA, USA, 1998.</a:t>
            </a:r>
            <a:endParaRPr lang="vi-VN" dirty="0"/>
          </a:p>
          <a:p>
            <a:r>
              <a:rPr lang="en-US" dirty="0"/>
              <a:t>[21] J. </a:t>
            </a:r>
            <a:r>
              <a:rPr lang="en-US" dirty="0" err="1"/>
              <a:t>Deveugele</a:t>
            </a:r>
            <a:r>
              <a:rPr lang="en-US" dirty="0"/>
              <a:t> and M. Steyaert, "A 10b 250MS/s binary-weighted current-steering DAC," 2004 IEEE International Solid-State Circuits Conference (IEEE Cat. No.04CH37519), San Francisco, CA, USA, 2004.</a:t>
            </a:r>
            <a:endParaRPr lang="vi-VN" dirty="0"/>
          </a:p>
          <a:p>
            <a:r>
              <a:rPr lang="en-US" dirty="0"/>
              <a:t>[22] R. L. Nguyen et al., "8.6 A Highly Reconfigurable 40-97GS/s DAC and ADC with 40GHz AFE Bandwidth and Sub-35fJ/conv-step for 400Gb/s Coherent Optical Applications in 7nm </a:t>
            </a:r>
            <a:r>
              <a:rPr lang="en-US" dirty="0" err="1"/>
              <a:t>FinFET</a:t>
            </a:r>
            <a:r>
              <a:rPr lang="en-US" dirty="0"/>
              <a:t>," 2021 IEEE International Solid-State Circuits Conference (ISSCC), San Francisco, CA, USA, 2021.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4028234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6CF4B807-7D16-0B27-D642-F63C7AE7A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A741C7A4-791A-05FA-3786-FE17912ACF35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37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15112B7E-5EDF-8FF9-1B76-D54C2372F585}"/>
              </a:ext>
            </a:extLst>
          </p:cNvPr>
          <p:cNvSpPr txBox="1">
            <a:spLocks/>
          </p:cNvSpPr>
          <p:nvPr/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Static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Characteristics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DACs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Hình ảnh 1" descr="Ảnh có chứa văn bản, biểu đồ, hàng, số&#10;&#10;Nội dung do AI tạo ra có thể không chính xác.">
            <a:extLst>
              <a:ext uri="{FF2B5EF4-FFF2-40B4-BE49-F238E27FC236}">
                <a16:creationId xmlns:a16="http://schemas.microsoft.com/office/drawing/2014/main" id="{FA1465DC-AC28-90FE-51ED-0F476352B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616" y="1650814"/>
            <a:ext cx="6044384" cy="4291448"/>
          </a:xfrm>
          <a:prstGeom prst="rect">
            <a:avLst/>
          </a:prstGeom>
        </p:spPr>
      </p:pic>
      <p:grpSp>
        <p:nvGrpSpPr>
          <p:cNvPr id="9" name="Nhóm 8">
            <a:extLst>
              <a:ext uri="{FF2B5EF4-FFF2-40B4-BE49-F238E27FC236}">
                <a16:creationId xmlns:a16="http://schemas.microsoft.com/office/drawing/2014/main" id="{9F1F5663-EC31-D5EE-01AF-AF7FDBE9085E}"/>
              </a:ext>
            </a:extLst>
          </p:cNvPr>
          <p:cNvGrpSpPr/>
          <p:nvPr/>
        </p:nvGrpSpPr>
        <p:grpSpPr>
          <a:xfrm>
            <a:off x="270257" y="1033861"/>
            <a:ext cx="6573838" cy="1573503"/>
            <a:chOff x="239348" y="678416"/>
            <a:chExt cx="6573838" cy="16697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Hộp Văn bản 5">
                  <a:extLst>
                    <a:ext uri="{FF2B5EF4-FFF2-40B4-BE49-F238E27FC236}">
                      <a16:creationId xmlns:a16="http://schemas.microsoft.com/office/drawing/2014/main" id="{2D8B05F9-EBC1-9CFA-1C17-8B3BB6A51349}"/>
                    </a:ext>
                  </a:extLst>
                </p:cNvPr>
                <p:cNvSpPr txBox="1"/>
                <p:nvPr/>
              </p:nvSpPr>
              <p:spPr>
                <a:xfrm>
                  <a:off x="239348" y="1633455"/>
                  <a:ext cx="3606800" cy="71468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eqArr>
                          <m:eqArrPr>
                            <m:ctrlPr>
                              <a:rPr lang="vi-VN" sz="18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vi-VN" sz="180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𝐷𝑁𝐿</m:t>
                            </m:r>
                            <m:r>
                              <a:rPr lang="vi-VN" sz="180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vi-VN" sz="1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𝑐𝑥</m:t>
                                </m:r>
                              </m:sub>
                            </m:sSub>
                            <m:r>
                              <a:rPr lang="vi-VN" sz="18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vi-VN" sz="1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vi-VN" sz="180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vi-VN" sz="1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vi-VN" sz="18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vi-VN" sz="18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vi-VN" sz="18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vi-VN" sz="1800" i="1">
                                            <a:latin typeface="Cambria Math" panose="02040503050406030204" pitchFamily="18" charset="0"/>
                                          </a:rPr>
                                          <m:t>𝑐𝑥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vi-VN" sz="18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vi-VN" sz="18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vi-VN" sz="18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vi-VN" sz="1800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𝐿𝑆𝐵𝑠</m:t>
                            </m:r>
                            <m:r>
                              <a:rPr lang="vi-VN" sz="1800" i="0">
                                <a:latin typeface="Cambria Math" panose="02040503050406030204" pitchFamily="18" charset="0"/>
                              </a:rPr>
                              <m:t>#</m:t>
                            </m:r>
                          </m:e>
                        </m:eqArr>
                      </m:oMath>
                    </m:oMathPara>
                  </a14:m>
                  <a:endParaRPr lang="vi-VN" sz="1800"/>
                </a:p>
              </p:txBody>
            </p:sp>
          </mc:Choice>
          <mc:Fallback xmlns="">
            <p:sp>
              <p:nvSpPr>
                <p:cNvPr id="10" name="Hộp Văn bản 5">
                  <a:extLst>
                    <a:ext uri="{FF2B5EF4-FFF2-40B4-BE49-F238E27FC236}">
                      <a16:creationId xmlns:a16="http://schemas.microsoft.com/office/drawing/2014/main" id="{2D8B05F9-EBC1-9CFA-1C17-8B3BB6A513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348" y="1633455"/>
                  <a:ext cx="3606800" cy="71468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Hộp Văn bản 7">
              <a:extLst>
                <a:ext uri="{FF2B5EF4-FFF2-40B4-BE49-F238E27FC236}">
                  <a16:creationId xmlns:a16="http://schemas.microsoft.com/office/drawing/2014/main" id="{7D105128-01F2-B41B-AD5B-95B882605891}"/>
                </a:ext>
              </a:extLst>
            </p:cNvPr>
            <p:cNvSpPr txBox="1"/>
            <p:nvPr/>
          </p:nvSpPr>
          <p:spPr>
            <a:xfrm>
              <a:off x="239349" y="678416"/>
              <a:ext cx="6573837" cy="9253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just">
                <a:lnSpc>
                  <a:spcPct val="150000"/>
                </a:lnSpc>
                <a:spcBef>
                  <a:spcPts val="600"/>
                </a:spcBef>
                <a:spcAft>
                  <a:spcPts val="1000"/>
                </a:spcAft>
              </a:pPr>
              <a:r>
                <a:rPr lang="vi-VN" sz="1800" b="1">
                  <a:effectLst/>
                  <a:latin typeface="+mn-lt"/>
                  <a:ea typeface="Times New Roman" panose="02020603050405020304" pitchFamily="18" charset="0"/>
                </a:rPr>
                <a:t>Differential </a:t>
              </a:r>
              <a:r>
                <a:rPr lang="vi-VN" sz="1800" b="1" err="1">
                  <a:effectLst/>
                  <a:latin typeface="+mn-lt"/>
                  <a:ea typeface="Times New Roman" panose="02020603050405020304" pitchFamily="18" charset="0"/>
                </a:rPr>
                <a:t>nonlinearity</a:t>
              </a:r>
              <a:r>
                <a:rPr lang="vi-VN" sz="1800" b="1">
                  <a:effectLst/>
                  <a:latin typeface="+mn-lt"/>
                  <a:ea typeface="Times New Roman" panose="02020603050405020304" pitchFamily="18" charset="0"/>
                </a:rPr>
                <a:t> (DNL)</a:t>
              </a:r>
              <a:r>
                <a:rPr lang="vi-VN" sz="1800">
                  <a:effectLst/>
                  <a:latin typeface="+mn-lt"/>
                  <a:ea typeface="Times New Roman" panose="02020603050405020304" pitchFamily="18" charset="0"/>
                </a:rPr>
                <a:t> </a:t>
              </a:r>
              <a:r>
                <a:rPr lang="en-US" sz="1800">
                  <a:latin typeface="+mn-lt"/>
                  <a:ea typeface="Times New Roman" panose="02020603050405020304" pitchFamily="18" charset="0"/>
                </a:rPr>
                <a:t>is </a:t>
              </a:r>
              <a:r>
                <a:rPr lang="en-US" sz="1800">
                  <a:effectLst/>
                  <a:latin typeface="+mn-lt"/>
                  <a:ea typeface="Times New Roman" panose="02020603050405020304" pitchFamily="18" charset="0"/>
                </a:rPr>
                <a:t>a measure of the separation between adjacent levels measured at each vertical jump</a:t>
              </a:r>
              <a:endParaRPr lang="vi-VN" sz="1800">
                <a:effectLst/>
                <a:latin typeface="+mn-lt"/>
                <a:ea typeface="Times New Roman" panose="02020603050405020304" pitchFamily="18" charset="0"/>
              </a:endParaRPr>
            </a:p>
          </p:txBody>
        </p:sp>
      </p:grpSp>
      <p:grpSp>
        <p:nvGrpSpPr>
          <p:cNvPr id="12" name="Nhóm 14">
            <a:extLst>
              <a:ext uri="{FF2B5EF4-FFF2-40B4-BE49-F238E27FC236}">
                <a16:creationId xmlns:a16="http://schemas.microsoft.com/office/drawing/2014/main" id="{3FDB2A33-126E-C3E5-FE42-427F81184575}"/>
              </a:ext>
            </a:extLst>
          </p:cNvPr>
          <p:cNvGrpSpPr/>
          <p:nvPr/>
        </p:nvGrpSpPr>
        <p:grpSpPr>
          <a:xfrm>
            <a:off x="270257" y="2603818"/>
            <a:ext cx="5271635" cy="1646819"/>
            <a:chOff x="716459" y="3672428"/>
            <a:chExt cx="5271635" cy="1646819"/>
          </a:xfrm>
        </p:grpSpPr>
        <p:sp>
          <p:nvSpPr>
            <p:cNvPr id="13" name="Hộp Văn bản 11">
              <a:extLst>
                <a:ext uri="{FF2B5EF4-FFF2-40B4-BE49-F238E27FC236}">
                  <a16:creationId xmlns:a16="http://schemas.microsoft.com/office/drawing/2014/main" id="{0F6E9767-A702-5A46-2BD6-AFBDE927CADB}"/>
                </a:ext>
              </a:extLst>
            </p:cNvPr>
            <p:cNvSpPr txBox="1"/>
            <p:nvPr/>
          </p:nvSpPr>
          <p:spPr>
            <a:xfrm>
              <a:off x="716459" y="3672428"/>
              <a:ext cx="5271635" cy="8720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just">
                <a:lnSpc>
                  <a:spcPct val="150000"/>
                </a:lnSpc>
                <a:spcBef>
                  <a:spcPts val="600"/>
                </a:spcBef>
                <a:spcAft>
                  <a:spcPts val="1000"/>
                </a:spcAft>
              </a:pPr>
              <a:r>
                <a:rPr lang="vi-VN" sz="1800" b="1">
                  <a:effectLst/>
                  <a:latin typeface="+mn-lt"/>
                  <a:ea typeface="Times New Roman" panose="02020603050405020304" pitchFamily="18" charset="0"/>
                </a:rPr>
                <a:t>Integral </a:t>
              </a:r>
              <a:r>
                <a:rPr lang="vi-VN" sz="1800" b="1" err="1">
                  <a:effectLst/>
                  <a:latin typeface="+mn-lt"/>
                  <a:ea typeface="Times New Roman" panose="02020603050405020304" pitchFamily="18" charset="0"/>
                </a:rPr>
                <a:t>Nonlinearity</a:t>
              </a:r>
              <a:r>
                <a:rPr lang="vi-VN" sz="1800" b="1">
                  <a:effectLst/>
                  <a:latin typeface="+mn-lt"/>
                  <a:ea typeface="Times New Roman" panose="02020603050405020304" pitchFamily="18" charset="0"/>
                </a:rPr>
                <a:t> (INL)</a:t>
              </a:r>
              <a:r>
                <a:rPr lang="en-US" sz="1800" b="1">
                  <a:effectLst/>
                  <a:latin typeface="+mn-lt"/>
                  <a:ea typeface="Times New Roman" panose="02020603050405020304" pitchFamily="18" charset="0"/>
                </a:rPr>
                <a:t> </a:t>
              </a:r>
              <a:r>
                <a:rPr lang="en-US" sz="1800">
                  <a:latin typeface="+mn-lt"/>
                  <a:ea typeface="Times New Roman" panose="02020603050405020304" pitchFamily="18" charset="0"/>
                </a:rPr>
                <a:t>is d</a:t>
              </a:r>
              <a:r>
                <a:rPr lang="en-US" sz="1800">
                  <a:effectLst/>
                  <a:latin typeface="+mn-lt"/>
                  <a:ea typeface="Times New Roman" panose="02020603050405020304" pitchFamily="18" charset="0"/>
                </a:rPr>
                <a:t>eviation of actual output from ideal output across full range</a:t>
              </a:r>
              <a:endParaRPr lang="vi-VN" sz="1800">
                <a:effectLst/>
                <a:latin typeface="+mn-lt"/>
                <a:ea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Hộp Văn bản 13">
                  <a:extLst>
                    <a:ext uri="{FF2B5EF4-FFF2-40B4-BE49-F238E27FC236}">
                      <a16:creationId xmlns:a16="http://schemas.microsoft.com/office/drawing/2014/main" id="{EA21FC72-ED9B-B085-1D45-BCCAB27549A2}"/>
                    </a:ext>
                  </a:extLst>
                </p:cNvPr>
                <p:cNvSpPr txBox="1"/>
                <p:nvPr/>
              </p:nvSpPr>
              <p:spPr>
                <a:xfrm>
                  <a:off x="716459" y="4411050"/>
                  <a:ext cx="4475527" cy="9081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vi-VN" sz="18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𝐼𝑁𝐿</m:t>
                            </m:r>
                          </m:e>
                          <m:sub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𝑛𝑜𝑟𝑚</m:t>
                            </m:r>
                          </m:sup>
                        </m:sSubSup>
                        <m:r>
                          <a:rPr lang="vi-VN" sz="1800" i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vi-VN" sz="1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vi-VN" sz="1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𝑎𝑐𝑡𝑢𝑎𝑙</m:t>
                                </m:r>
                              </m:sup>
                            </m:sSubSup>
                            <m:r>
                              <a:rPr lang="vi-VN" sz="18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vi-VN" sz="1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𝑖𝑑𝑒𝑎𝑙</m:t>
                                </m:r>
                              </m:sup>
                            </m:sSubSup>
                          </m:num>
                          <m:den>
                            <m:r>
                              <a:rPr lang="vi-VN" sz="18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𝐿𝑆𝐵</m:t>
                            </m:r>
                          </m:den>
                        </m:f>
                        <m:r>
                          <a:rPr lang="vi-VN" sz="1800" i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vi-VN" sz="1800" i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vi-VN" sz="1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𝐷𝑁𝐿</m:t>
                                </m:r>
                              </m:e>
                              <m:sub>
                                <m: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𝑛𝑜𝑟𝑚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  <a:endParaRPr lang="vi-VN" sz="1800"/>
                </a:p>
              </p:txBody>
            </p:sp>
          </mc:Choice>
          <mc:Fallback xmlns="">
            <p:sp>
              <p:nvSpPr>
                <p:cNvPr id="14" name="Hộp Văn bản 13">
                  <a:extLst>
                    <a:ext uri="{FF2B5EF4-FFF2-40B4-BE49-F238E27FC236}">
                      <a16:creationId xmlns:a16="http://schemas.microsoft.com/office/drawing/2014/main" id="{EA21FC72-ED9B-B085-1D45-BCCAB27549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459" y="4411050"/>
                  <a:ext cx="4475527" cy="90819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Hộp Văn bản 16">
                <a:extLst>
                  <a:ext uri="{FF2B5EF4-FFF2-40B4-BE49-F238E27FC236}">
                    <a16:creationId xmlns:a16="http://schemas.microsoft.com/office/drawing/2014/main" id="{CDB19335-FA62-6084-05A6-EFBA31A20CDE}"/>
                  </a:ext>
                </a:extLst>
              </p:cNvPr>
              <p:cNvSpPr txBox="1"/>
              <p:nvPr/>
            </p:nvSpPr>
            <p:spPr>
              <a:xfrm>
                <a:off x="270257" y="4210928"/>
                <a:ext cx="5615397" cy="2513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spcBef>
                    <a:spcPts val="600"/>
                  </a:spcBef>
                  <a:spcAft>
                    <a:spcPts val="1000"/>
                  </a:spcAft>
                </a:pPr>
                <a:r>
                  <a:rPr lang="vi-VN" sz="1800" b="1" err="1">
                    <a:effectLst/>
                    <a:latin typeface="+mn-lt"/>
                    <a:ea typeface="Times New Roman" panose="02020603050405020304" pitchFamily="18" charset="0"/>
                  </a:rPr>
                  <a:t>Monotonicity</a:t>
                </a:r>
                <a:r>
                  <a:rPr lang="vi-VN" sz="1800" b="1">
                    <a:effectLst/>
                    <a:latin typeface="+mn-lt"/>
                    <a:ea typeface="Times New Roman" panose="02020603050405020304" pitchFamily="18" charset="0"/>
                  </a:rPr>
                  <a:t>: </a:t>
                </a:r>
                <a:r>
                  <a:rPr lang="en-US" sz="1800">
                    <a:effectLst/>
                    <a:latin typeface="+mn-lt"/>
                    <a:ea typeface="Times New Roman" panose="02020603050405020304" pitchFamily="18" charset="0"/>
                  </a:rPr>
                  <a:t>A DAC is monotonic if output never decreases with increasing input.</a:t>
                </a:r>
                <a:endParaRPr lang="vi-VN" sz="1800">
                  <a:latin typeface="+mn-lt"/>
                  <a:ea typeface="Times New Roman" panose="02020603050405020304" pitchFamily="18" charset="0"/>
                </a:endParaRPr>
              </a:p>
              <a:p>
                <a:pPr lvl="0" algn="just">
                  <a:spcBef>
                    <a:spcPts val="600"/>
                  </a:spcBef>
                  <a:spcAft>
                    <a:spcPts val="1000"/>
                  </a:spcAft>
                </a:pPr>
                <a:r>
                  <a:rPr lang="vi-VN" sz="1800" err="1">
                    <a:effectLst/>
                    <a:latin typeface="+mn-lt"/>
                    <a:ea typeface="Times New Roman" panose="02020603050405020304" pitchFamily="18" charset="0"/>
                  </a:rPr>
                  <a:t>Monotonicity</a:t>
                </a:r>
                <a:r>
                  <a:rPr lang="vi-VN" sz="1800">
                    <a:effectLst/>
                    <a:latin typeface="+mn-lt"/>
                    <a:ea typeface="Times New Roman" panose="02020603050405020304" pitchFamily="18" charset="0"/>
                  </a:rPr>
                  <a:t> </a:t>
                </a:r>
                <a:r>
                  <a:rPr lang="vi-VN" sz="1800" err="1">
                    <a:effectLst/>
                    <a:latin typeface="+mn-lt"/>
                    <a:ea typeface="Times New Roman" panose="02020603050405020304" pitchFamily="18" charset="0"/>
                  </a:rPr>
                  <a:t>Guaranteed</a:t>
                </a:r>
                <a:r>
                  <a:rPr lang="vi-VN" sz="1800">
                    <a:effectLst/>
                    <a:latin typeface="+mn-lt"/>
                    <a:ea typeface="Times New Roman" panose="02020603050405020304" pitchFamily="18" charset="0"/>
                  </a:rPr>
                  <a:t> </a:t>
                </a:r>
                <a:r>
                  <a:rPr lang="vi-VN" sz="1800" err="1">
                    <a:effectLst/>
                    <a:latin typeface="+mn-lt"/>
                    <a:ea typeface="Times New Roman" panose="02020603050405020304" pitchFamily="18" charset="0"/>
                  </a:rPr>
                  <a:t>if</a:t>
                </a:r>
                <a:endParaRPr lang="vi-VN" sz="1800">
                  <a:effectLst/>
                  <a:latin typeface="+mn-lt"/>
                  <a:ea typeface="Times New Roman" panose="02020603050405020304" pitchFamily="18" charset="0"/>
                </a:endParaRPr>
              </a:p>
              <a:p>
                <a:pPr lvl="0" algn="just">
                  <a:spcBef>
                    <a:spcPts val="600"/>
                  </a:spcBef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vi-VN" sz="2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vi-VN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vi-V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𝐼𝑁𝐿</m:t>
                                  </m:r>
                                </m:e>
                                <m:sub>
                                  <m:r>
                                    <a:rPr lang="vi-V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vi-VN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vi-V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vi-V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𝐿𝑆𝐵</m:t>
                          </m:r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𝑓𝑜𝑟</m:t>
                          </m:r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𝑎𝑙𝑙</m:t>
                          </m:r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en-US" sz="1800">
                  <a:effectLst/>
                  <a:latin typeface="+mn-lt"/>
                  <a:ea typeface="Times New Roman" panose="02020603050405020304" pitchFamily="18" charset="0"/>
                </a:endParaRPr>
              </a:p>
              <a:p>
                <a:pPr lvl="0" algn="just">
                  <a:spcBef>
                    <a:spcPts val="600"/>
                  </a:spcBef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vi-VN" sz="2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vi-VN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vi-V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𝐷𝑁𝐿</m:t>
                                  </m:r>
                                </m:e>
                                <m:sub>
                                  <m:r>
                                    <a:rPr lang="vi-V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≤1</m:t>
                          </m:r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𝐿𝑆𝐵</m:t>
                          </m:r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𝑓𝑜𝑟</m:t>
                          </m:r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𝑎𝑙𝑙</m:t>
                          </m:r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vi-VN" sz="1800">
                  <a:effectLst/>
                  <a:latin typeface="+mn-lt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Hộp Văn bản 16">
                <a:extLst>
                  <a:ext uri="{FF2B5EF4-FFF2-40B4-BE49-F238E27FC236}">
                    <a16:creationId xmlns:a16="http://schemas.microsoft.com/office/drawing/2014/main" id="{CDB19335-FA62-6084-05A6-EFBA31A20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57" y="4210928"/>
                <a:ext cx="5615397" cy="2513637"/>
              </a:xfrm>
              <a:prstGeom prst="rect">
                <a:avLst/>
              </a:prstGeom>
              <a:blipFill>
                <a:blip r:embed="rId6"/>
                <a:stretch>
                  <a:fillRect l="-869" t="-1456" r="-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85175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3184321B-F4CE-560D-1E35-0A5A96B19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232BBF78-5C54-52AD-3A54-274249968A58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38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E5E860FF-EB20-2C8A-E982-EBBA4E8472CC}"/>
              </a:ext>
            </a:extLst>
          </p:cNvPr>
          <p:cNvSpPr txBox="1">
            <a:spLocks/>
          </p:cNvSpPr>
          <p:nvPr/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Dynamic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Characteristics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DACs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Hình ảnh 3">
            <a:extLst>
              <a:ext uri="{FF2B5EF4-FFF2-40B4-BE49-F238E27FC236}">
                <a16:creationId xmlns:a16="http://schemas.microsoft.com/office/drawing/2014/main" id="{6E8D13BF-17EB-CF46-BB8A-1C1B40469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954" y="1766098"/>
            <a:ext cx="6405046" cy="3555454"/>
          </a:xfrm>
          <a:prstGeom prst="rect">
            <a:avLst/>
          </a:prstGeom>
        </p:spPr>
      </p:pic>
      <p:sp>
        <p:nvSpPr>
          <p:cNvPr id="4" name="Hộp Văn bản 5">
            <a:extLst>
              <a:ext uri="{FF2B5EF4-FFF2-40B4-BE49-F238E27FC236}">
                <a16:creationId xmlns:a16="http://schemas.microsoft.com/office/drawing/2014/main" id="{8ED532D1-A790-3A62-75C1-68330A4EF9A8}"/>
              </a:ext>
            </a:extLst>
          </p:cNvPr>
          <p:cNvSpPr txBox="1"/>
          <p:nvPr/>
        </p:nvSpPr>
        <p:spPr>
          <a:xfrm>
            <a:off x="5941477" y="5321552"/>
            <a:ext cx="6096000" cy="71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vi-VN" sz="1600">
                <a:effectLst/>
                <a:latin typeface="+mn-lt"/>
                <a:ea typeface="Times New Roman" panose="02020603050405020304" pitchFamily="18" charset="0"/>
              </a:rPr>
              <a:t>Dynamic </a:t>
            </a:r>
            <a:r>
              <a:rPr lang="vi-VN" sz="1600" err="1">
                <a:effectLst/>
                <a:latin typeface="+mn-lt"/>
                <a:ea typeface="Times New Roman" panose="02020603050405020304" pitchFamily="18" charset="0"/>
              </a:rPr>
              <a:t>performances</a:t>
            </a:r>
            <a:r>
              <a:rPr lang="vi-VN" sz="160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err="1">
                <a:effectLst/>
                <a:latin typeface="+mn-lt"/>
                <a:ea typeface="Times New Roman" panose="02020603050405020304" pitchFamily="18" charset="0"/>
              </a:rPr>
              <a:t>of</a:t>
            </a:r>
            <a:r>
              <a:rPr lang="vi-VN" sz="1600">
                <a:effectLst/>
                <a:latin typeface="+mn-lt"/>
                <a:ea typeface="Times New Roman" panose="02020603050405020304" pitchFamily="18" charset="0"/>
              </a:rPr>
              <a:t> a DAC (a) </a:t>
            </a:r>
            <a:r>
              <a:rPr lang="vi-VN" sz="1600" err="1">
                <a:effectLst/>
                <a:latin typeface="+mn-lt"/>
                <a:ea typeface="Times New Roman" panose="02020603050405020304" pitchFamily="18" charset="0"/>
              </a:rPr>
              <a:t>Time</a:t>
            </a:r>
            <a:r>
              <a:rPr lang="vi-VN" sz="160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err="1">
                <a:effectLst/>
                <a:latin typeface="+mn-lt"/>
                <a:ea typeface="Times New Roman" panose="02020603050405020304" pitchFamily="18" charset="0"/>
              </a:rPr>
              <a:t>domain</a:t>
            </a:r>
            <a:r>
              <a:rPr lang="vi-VN" sz="160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err="1">
                <a:effectLst/>
                <a:latin typeface="+mn-lt"/>
                <a:ea typeface="Times New Roman" panose="02020603050405020304" pitchFamily="18" charset="0"/>
              </a:rPr>
              <a:t>response</a:t>
            </a:r>
            <a:r>
              <a:rPr lang="vi-VN" sz="1600">
                <a:effectLst/>
                <a:latin typeface="+mn-lt"/>
                <a:ea typeface="Times New Roman" panose="02020603050405020304" pitchFamily="18" charset="0"/>
              </a:rPr>
              <a:t> </a:t>
            </a:r>
          </a:p>
          <a:p>
            <a:pPr algn="ctr">
              <a:spcAft>
                <a:spcPts val="1000"/>
              </a:spcAft>
            </a:pPr>
            <a:r>
              <a:rPr lang="vi-VN" sz="1600">
                <a:effectLst/>
                <a:latin typeface="+mn-lt"/>
                <a:ea typeface="Times New Roman" panose="02020603050405020304" pitchFamily="18" charset="0"/>
              </a:rPr>
              <a:t>(b) </a:t>
            </a:r>
            <a:r>
              <a:rPr lang="vi-VN" sz="1600" err="1">
                <a:effectLst/>
                <a:latin typeface="+mn-lt"/>
                <a:ea typeface="Times New Roman" panose="02020603050405020304" pitchFamily="18" charset="0"/>
              </a:rPr>
              <a:t>Frequency</a:t>
            </a:r>
            <a:r>
              <a:rPr lang="vi-VN" sz="160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err="1">
                <a:effectLst/>
                <a:latin typeface="+mn-lt"/>
                <a:ea typeface="Times New Roman" panose="02020603050405020304" pitchFamily="18" charset="0"/>
              </a:rPr>
              <a:t>domain</a:t>
            </a:r>
            <a:r>
              <a:rPr lang="vi-VN" sz="160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err="1">
                <a:effectLst/>
                <a:latin typeface="+mn-lt"/>
                <a:ea typeface="Times New Roman" panose="02020603050405020304" pitchFamily="18" charset="0"/>
              </a:rPr>
              <a:t>measure</a:t>
            </a:r>
            <a:endParaRPr lang="vi-VN" sz="1600">
              <a:effectLst/>
              <a:latin typeface="+mn-lt"/>
              <a:ea typeface="Times New Roman" panose="02020603050405020304" pitchFamily="18" charset="0"/>
            </a:endParaRPr>
          </a:p>
        </p:txBody>
      </p:sp>
      <p:sp>
        <p:nvSpPr>
          <p:cNvPr id="5" name="Hộp Văn bản 8">
            <a:extLst>
              <a:ext uri="{FF2B5EF4-FFF2-40B4-BE49-F238E27FC236}">
                <a16:creationId xmlns:a16="http://schemas.microsoft.com/office/drawing/2014/main" id="{20A4D581-2505-EFCF-6E76-D87AE499E0B5}"/>
              </a:ext>
            </a:extLst>
          </p:cNvPr>
          <p:cNvSpPr txBox="1"/>
          <p:nvPr/>
        </p:nvSpPr>
        <p:spPr>
          <a:xfrm>
            <a:off x="394922" y="963612"/>
            <a:ext cx="497082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rPr lang="en-US" sz="1800"/>
              <a:t>Time Domain Characteristics:</a:t>
            </a:r>
          </a:p>
          <a:p>
            <a:pPr lvl="1">
              <a:defRPr sz="1400"/>
            </a:pPr>
            <a:r>
              <a:rPr lang="en-US" sz="1800"/>
              <a:t>• </a:t>
            </a:r>
            <a:r>
              <a:rPr lang="en-US" sz="1800" b="1"/>
              <a:t>Settling Time: </a:t>
            </a:r>
            <a:r>
              <a:rPr lang="en-US" sz="1800"/>
              <a:t>Time to stabilize output after a step input.</a:t>
            </a:r>
          </a:p>
          <a:p>
            <a:pPr lvl="1">
              <a:defRPr sz="1400"/>
            </a:pPr>
            <a:r>
              <a:rPr lang="en-US" sz="1800"/>
              <a:t>• </a:t>
            </a:r>
            <a:r>
              <a:rPr lang="en-US" sz="1800" b="1"/>
              <a:t>Glitch: </a:t>
            </a:r>
            <a:r>
              <a:rPr lang="en-US" sz="1800"/>
              <a:t>Spurious spikes due to code transitions.</a:t>
            </a:r>
          </a:p>
          <a:p>
            <a:pPr lvl="1">
              <a:defRPr sz="1400"/>
            </a:pPr>
            <a:r>
              <a:rPr lang="en-US" sz="1800"/>
              <a:t>• </a:t>
            </a:r>
            <a:r>
              <a:rPr lang="en-US" sz="1800" b="1"/>
              <a:t>Clock Feedthrough: </a:t>
            </a:r>
            <a:r>
              <a:rPr lang="en-US" sz="1800"/>
              <a:t>Capacitive coupling of clock signals to output.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4">
                <a:extLst>
                  <a:ext uri="{FF2B5EF4-FFF2-40B4-BE49-F238E27FC236}">
                    <a16:creationId xmlns:a16="http://schemas.microsoft.com/office/drawing/2014/main" id="{F886C61F-36CC-3D84-FC2F-DE3C7CA41413}"/>
                  </a:ext>
                </a:extLst>
              </p:cNvPr>
              <p:cNvSpPr txBox="1"/>
              <p:nvPr/>
            </p:nvSpPr>
            <p:spPr>
              <a:xfrm>
                <a:off x="394923" y="2994937"/>
                <a:ext cx="5701077" cy="3454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600" b="1"/>
                </a:pPr>
                <a:r>
                  <a:rPr lang="vi-VN" sz="1800"/>
                  <a:t>Frequency Domain Characteristics:</a:t>
                </a:r>
              </a:p>
              <a:p>
                <a:pPr lvl="1">
                  <a:defRPr sz="1400"/>
                </a:pPr>
                <a:r>
                  <a:rPr lang="vi-VN" sz="1800"/>
                  <a:t>• </a:t>
                </a:r>
                <a:r>
                  <a:rPr lang="vi-VN" sz="1800" b="1"/>
                  <a:t>SNR: </a:t>
                </a:r>
                <a:r>
                  <a:rPr lang="vi-VN" sz="1800"/>
                  <a:t>Signal-to-noise ratio like the quantization noise and the noise produced by the components in the circuit, excluding harmonics.</a:t>
                </a:r>
              </a:p>
              <a:p>
                <a:pPr lvl="1">
                  <a:defRPr sz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𝑆𝑁𝑅</m:t>
                          </m:r>
                        </m:e>
                        <m:sub>
                          <m:r>
                            <a:rPr lang="ar-AE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ar-AE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ar-AE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6</m:t>
                      </m:r>
                      <m:r>
                        <a:rPr lang="ar-AE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ar-AE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02</m:t>
                      </m:r>
                      <m:r>
                        <a:rPr lang="ar-AE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ar-AE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ar-AE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ar-AE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ar-AE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76</m:t>
                      </m:r>
                      <m:r>
                        <a:rPr lang="ar-AE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𝑑𝐵</m:t>
                      </m:r>
                    </m:oMath>
                  </m:oMathPara>
                </a14:m>
                <a:endParaRPr lang="ar-AE" sz="1800"/>
              </a:p>
              <a:p>
                <a:pPr lvl="1">
                  <a:defRPr sz="1400"/>
                </a:pPr>
                <a:r>
                  <a:rPr lang="ar-AE" sz="1800"/>
                  <a:t>• </a:t>
                </a:r>
                <a:r>
                  <a:rPr lang="vi-VN" sz="1800" b="1"/>
                  <a:t>SFDR: </a:t>
                </a:r>
                <a:r>
                  <a:rPr lang="vi-VN" sz="1800"/>
                  <a:t>Ratio of signal power to highest spur.</a:t>
                </a:r>
              </a:p>
              <a:p>
                <a:pPr lvl="1">
                  <a:defRPr sz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𝑆𝐹𝐷𝑅</m:t>
                      </m:r>
                      <m:d>
                        <m:dPr>
                          <m:ctrlPr>
                            <a:rPr lang="ar-AE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𝑑𝐵𝑐</m:t>
                          </m:r>
                        </m:e>
                      </m:d>
                      <m:r>
                        <a:rPr lang="ar-AE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ar-AE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10</m:t>
                      </m:r>
                      <m:r>
                        <a:rPr lang="ar-AE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ar-AE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𝑆𝑖𝑔𝑛𝑎𝑙</m:t>
                              </m:r>
                              <m:r>
                                <a:rPr lang="ar-AE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ar-AE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𝑃𝑜𝑤𝑒𝑟</m:t>
                              </m:r>
                            </m:num>
                            <m:den>
                              <m:r>
                                <a:rPr lang="ar-AE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𝐿𝑎𝑟𝑔𝑒𝑠𝑡</m:t>
                              </m:r>
                              <m:r>
                                <a:rPr lang="ar-AE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ar-AE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𝑠𝑝𝑢𝑟</m:t>
                              </m:r>
                              <m:r>
                                <a:rPr lang="ar-AE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ar-AE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𝑝𝑜𝑤𝑒𝑟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ar-AE" sz="1800"/>
              </a:p>
              <a:p>
                <a:pPr lvl="1">
                  <a:defRPr sz="1400"/>
                </a:pPr>
                <a:r>
                  <a:rPr lang="ar-AE" sz="1800"/>
                  <a:t>• </a:t>
                </a:r>
                <a:r>
                  <a:rPr lang="vi-VN" sz="1800" b="1"/>
                  <a:t>ENOB: </a:t>
                </a:r>
                <a:r>
                  <a:rPr lang="vi-VN" sz="1800"/>
                  <a:t>Effective resolution based on SNR or SFDR.</a:t>
                </a:r>
              </a:p>
              <a:p>
                <a:pPr lvl="1">
                  <a:defRPr sz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𝐸𝑁𝑂𝐵</m:t>
                      </m:r>
                      <m:r>
                        <a:rPr lang="vi-VN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18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𝑆𝐹𝐷𝑅</m:t>
                              </m:r>
                            </m:e>
                            <m:sub>
                              <m:r>
                                <a:rPr lang="ar-AE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𝑑𝐵</m:t>
                              </m:r>
                            </m:sub>
                          </m:sSub>
                          <m:r>
                            <a:rPr lang="ar-AE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ar-AE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ar-AE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ar-AE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76</m:t>
                          </m:r>
                        </m:num>
                        <m:den>
                          <m:r>
                            <a:rPr lang="ar-AE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  <m:r>
                            <a:rPr lang="ar-AE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ar-AE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02</m:t>
                          </m:r>
                        </m:den>
                      </m:f>
                      <m:r>
                        <a:rPr lang="vi-VN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𝑆𝑁𝑅</m:t>
                              </m:r>
                            </m:e>
                            <m:sub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𝑑𝐵</m:t>
                              </m:r>
                            </m:sub>
                          </m:sSub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76</m:t>
                          </m:r>
                        </m:num>
                        <m:den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02</m:t>
                          </m:r>
                        </m:den>
                      </m:f>
                    </m:oMath>
                  </m:oMathPara>
                </a14:m>
                <a:endParaRPr sz="1800"/>
              </a:p>
            </p:txBody>
          </p:sp>
        </mc:Choice>
        <mc:Fallback xmlns="">
          <p:sp>
            <p:nvSpPr>
              <p:cNvPr id="7" name="TextBox 4">
                <a:extLst>
                  <a:ext uri="{FF2B5EF4-FFF2-40B4-BE49-F238E27FC236}">
                    <a16:creationId xmlns:a16="http://schemas.microsoft.com/office/drawing/2014/main" id="{F886C61F-36CC-3D84-FC2F-DE3C7CA41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923" y="2994937"/>
                <a:ext cx="5701077" cy="3454087"/>
              </a:xfrm>
              <a:prstGeom prst="rect">
                <a:avLst/>
              </a:prstGeom>
              <a:blipFill>
                <a:blip r:embed="rId4"/>
                <a:stretch>
                  <a:fillRect l="-1070" t="-882" r="-1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33719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21865A69-C3D4-4DEA-DA3C-425646A2B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4355F2B4-CAF0-BA7C-A9FE-0A35B8A0F611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39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6FF21720-17BE-5ABE-E152-671DFFEFC6F7}"/>
              </a:ext>
            </a:extLst>
          </p:cNvPr>
          <p:cNvSpPr txBox="1">
            <a:spLocks/>
          </p:cNvSpPr>
          <p:nvPr/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DAC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architectures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Hình ảnh 1" descr="Ảnh có chứa văn bản, ảnh chụp màn hình, Phông chữ, thiết kế&#10;&#10;Nội dung do AI tạo ra có thể không chính xác.">
            <a:extLst>
              <a:ext uri="{FF2B5EF4-FFF2-40B4-BE49-F238E27FC236}">
                <a16:creationId xmlns:a16="http://schemas.microsoft.com/office/drawing/2014/main" id="{1D2B7004-DD05-F15B-FC7F-08EA0F79CD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16" y="1266825"/>
            <a:ext cx="10691368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7727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36E2E-64CA-F6FB-ACB4-3A6C0E4BE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2;p9">
            <a:extLst>
              <a:ext uri="{FF2B5EF4-FFF2-40B4-BE49-F238E27FC236}">
                <a16:creationId xmlns:a16="http://schemas.microsoft.com/office/drawing/2014/main" id="{5358AF22-DCA1-8219-50DE-560139362336}"/>
              </a:ext>
            </a:extLst>
          </p:cNvPr>
          <p:cNvSpPr txBox="1">
            <a:spLocks/>
          </p:cNvSpPr>
          <p:nvPr/>
        </p:nvSpPr>
        <p:spPr>
          <a:xfrm>
            <a:off x="967646" y="366467"/>
            <a:ext cx="10969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n-GB" sz="2800" b="1">
                <a:solidFill>
                  <a:srgbClr val="002060"/>
                </a:solidFill>
                <a:latin typeface="+mj-lt"/>
              </a:rPr>
              <a:t>Application DAC</a:t>
            </a:r>
            <a:endParaRPr lang="en-GB" sz="1100" b="1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2" name="Hình ảnh 2">
            <a:extLst>
              <a:ext uri="{FF2B5EF4-FFF2-40B4-BE49-F238E27FC236}">
                <a16:creationId xmlns:a16="http://schemas.microsoft.com/office/drawing/2014/main" id="{6C8A8C64-674E-7092-57AD-905EBDA56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51" b="98806" l="1467" r="97600">
                        <a14:foregroundMark x1="26667" y1="31642" x2="41067" y2="51940"/>
                        <a14:foregroundMark x1="41067" y1="51940" x2="71600" y2="67761"/>
                        <a14:foregroundMark x1="71600" y1="67761" x2="92267" y2="62687"/>
                        <a14:foregroundMark x1="92267" y1="62687" x2="94667" y2="25970"/>
                        <a14:foregroundMark x1="94667" y1="25970" x2="68667" y2="7761"/>
                        <a14:foregroundMark x1="68667" y1="7761" x2="16400" y2="50746"/>
                        <a14:foregroundMark x1="16400" y1="50746" x2="24000" y2="77015"/>
                        <a14:foregroundMark x1="24000" y1="77015" x2="54133" y2="94925"/>
                        <a14:foregroundMark x1="54133" y1="94925" x2="84533" y2="90448"/>
                        <a14:foregroundMark x1="84533" y1="90448" x2="89333" y2="54925"/>
                        <a14:foregroundMark x1="89333" y1="54925" x2="66933" y2="31642"/>
                        <a14:foregroundMark x1="66933" y1="31642" x2="8133" y2="17910"/>
                        <a14:foregroundMark x1="11867" y1="8657" x2="3333" y2="50746"/>
                        <a14:foregroundMark x1="3333" y1="50746" x2="5764" y2="84179"/>
                        <a14:foregroundMark x1="89733" y1="87164" x2="92533" y2="78507"/>
                        <a14:foregroundMark x1="92533" y1="78507" x2="96533" y2="23284"/>
                        <a14:foregroundMark x1="96533" y1="23284" x2="93200" y2="9851"/>
                        <a14:foregroundMark x1="93200" y1="9851" x2="6667" y2="11045"/>
                        <a14:foregroundMark x1="6667" y1="11045" x2="2267" y2="23284"/>
                        <a14:foregroundMark x1="2267" y1="23284" x2="1467" y2="46567"/>
                        <a14:foregroundMark x1="96400" y1="83582" x2="94533" y2="17015"/>
                        <a14:foregroundMark x1="95733" y1="34328" x2="97600" y2="31343"/>
                        <a14:foregroundMark x1="18533" y1="91642" x2="28000" y2="91940"/>
                        <a14:foregroundMark x1="28000" y1="91940" x2="54800" y2="88955"/>
                        <a14:foregroundMark x1="54800" y1="88955" x2="71067" y2="91940"/>
                        <a14:foregroundMark x1="71067" y1="91940" x2="16400" y2="89552"/>
                        <a14:foregroundMark x1="47867" y1="98806" x2="16000" y2="91045"/>
                        <a14:backgroundMark x1="15333" y1="91642" x2="10800" y2="87761"/>
                        <a14:backgroundMark x1="10800" y1="87761" x2="4800" y2="89552"/>
                        <a14:backgroundMark x1="4800" y1="89552" x2="11867" y2="90149"/>
                        <a14:backgroundMark x1="11867" y1="90149" x2="6267" y2="88358"/>
                        <a14:backgroundMark x1="6267" y1="88358" x2="11200" y2="90448"/>
                        <a14:backgroundMark x1="11200" y1="90448" x2="8667" y2="886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7646" y="1138335"/>
            <a:ext cx="10256708" cy="45813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F61926-DDE3-0129-FBF7-458EBDFFC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6110144"/>
            <a:ext cx="1147665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457056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i="0">
                <a:solidFill>
                  <a:srgbClr val="333333"/>
                </a:solidFill>
                <a:effectLst/>
                <a:latin typeface="HelveticaNeue Regular"/>
              </a:rPr>
              <a:t>A. Khairi </a:t>
            </a:r>
            <a:r>
              <a:rPr lang="en-US" b="0" i="1">
                <a:solidFill>
                  <a:srgbClr val="333333"/>
                </a:solidFill>
                <a:effectLst/>
                <a:latin typeface="HelveticaNeue Regular"/>
              </a:rPr>
              <a:t>et al</a:t>
            </a:r>
            <a:r>
              <a:rPr lang="en-US" b="0" i="0">
                <a:solidFill>
                  <a:srgbClr val="333333"/>
                </a:solidFill>
                <a:effectLst/>
                <a:latin typeface="HelveticaNeue Regular"/>
              </a:rPr>
              <a:t>., "Beyond 200-Gb/s PAM4 ADC and DAC-Based Transceiver for Wireline and Linear Optics Applications," in </a:t>
            </a:r>
            <a:r>
              <a:rPr lang="en-US" b="0" i="1">
                <a:solidFill>
                  <a:srgbClr val="333333"/>
                </a:solidFill>
                <a:effectLst/>
                <a:latin typeface="HelveticaNeue Regular"/>
              </a:rPr>
              <a:t>IEEE Open Journal of the Solid-State Circuits Society</a:t>
            </a:r>
            <a:r>
              <a:rPr lang="en-US" b="0" i="0">
                <a:solidFill>
                  <a:srgbClr val="333333"/>
                </a:solidFill>
                <a:effectLst/>
                <a:latin typeface="HelveticaNeue Regular"/>
              </a:rPr>
              <a:t>, vol. 4, pp. 265-276, 2024,</a:t>
            </a:r>
            <a:endParaRPr kumimoji="0" lang="vi-VN" altLang="vi-V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89373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FE07203F-60CF-6075-A78C-A44B18A0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88448E0F-A712-A88F-B176-82E0493ED3DD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41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B5673B31-5D9C-5AC7-5A22-D33F2F9C86FE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Current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Cell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– Current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Hình ảnh 3">
            <a:extLst>
              <a:ext uri="{FF2B5EF4-FFF2-40B4-BE49-F238E27FC236}">
                <a16:creationId xmlns:a16="http://schemas.microsoft.com/office/drawing/2014/main" id="{4982250A-8471-437A-9EE0-A88BB0CD8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67" y="2338202"/>
            <a:ext cx="4391606" cy="1779288"/>
          </a:xfrm>
          <a:prstGeom prst="rect">
            <a:avLst/>
          </a:prstGeom>
        </p:spPr>
      </p:pic>
      <p:pic>
        <p:nvPicPr>
          <p:cNvPr id="59" name="Hình ảnh 5">
            <a:extLst>
              <a:ext uri="{FF2B5EF4-FFF2-40B4-BE49-F238E27FC236}">
                <a16:creationId xmlns:a16="http://schemas.microsoft.com/office/drawing/2014/main" id="{E54857E8-40F9-D6DF-107A-65C794CDD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50" y="3912854"/>
            <a:ext cx="5439534" cy="1667108"/>
          </a:xfrm>
          <a:prstGeom prst="rect">
            <a:avLst/>
          </a:prstGeom>
        </p:spPr>
      </p:pic>
      <p:pic>
        <p:nvPicPr>
          <p:cNvPr id="60" name="Hình ảnh 6">
            <a:extLst>
              <a:ext uri="{FF2B5EF4-FFF2-40B4-BE49-F238E27FC236}">
                <a16:creationId xmlns:a16="http://schemas.microsoft.com/office/drawing/2014/main" id="{4E2AC8D0-1665-C51E-1167-25FCD11570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848" y="5476471"/>
            <a:ext cx="5325218" cy="752580"/>
          </a:xfrm>
          <a:prstGeom prst="rect">
            <a:avLst/>
          </a:prstGeom>
        </p:spPr>
      </p:pic>
      <p:grpSp>
        <p:nvGrpSpPr>
          <p:cNvPr id="61" name="Nhóm 7">
            <a:extLst>
              <a:ext uri="{FF2B5EF4-FFF2-40B4-BE49-F238E27FC236}">
                <a16:creationId xmlns:a16="http://schemas.microsoft.com/office/drawing/2014/main" id="{C9306356-1D30-6E7F-F52C-A841A4EA8AFC}"/>
              </a:ext>
            </a:extLst>
          </p:cNvPr>
          <p:cNvGrpSpPr/>
          <p:nvPr/>
        </p:nvGrpSpPr>
        <p:grpSpPr>
          <a:xfrm>
            <a:off x="7562850" y="2017515"/>
            <a:ext cx="3562350" cy="4475360"/>
            <a:chOff x="3900482" y="437077"/>
            <a:chExt cx="3700464" cy="4567040"/>
          </a:xfrm>
        </p:grpSpPr>
        <p:grpSp>
          <p:nvGrpSpPr>
            <p:cNvPr id="62" name="Group 386">
              <a:extLst>
                <a:ext uri="{FF2B5EF4-FFF2-40B4-BE49-F238E27FC236}">
                  <a16:creationId xmlns:a16="http://schemas.microsoft.com/office/drawing/2014/main" id="{1CA0DCC5-F71E-19D1-122D-4701285CC98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410196" y="1371600"/>
              <a:ext cx="381000" cy="609600"/>
              <a:chOff x="4848" y="240"/>
              <a:chExt cx="480" cy="768"/>
            </a:xfrm>
          </p:grpSpPr>
          <p:sp>
            <p:nvSpPr>
              <p:cNvPr id="165" name="Freeform 387">
                <a:extLst>
                  <a:ext uri="{FF2B5EF4-FFF2-40B4-BE49-F238E27FC236}">
                    <a16:creationId xmlns:a16="http://schemas.microsoft.com/office/drawing/2014/main" id="{A4768D0E-67BE-2191-273B-F92F7CA1C9B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848" y="240"/>
                <a:ext cx="192" cy="768"/>
              </a:xfrm>
              <a:custGeom>
                <a:avLst/>
                <a:gdLst>
                  <a:gd name="T0" fmla="*/ 0 w 192"/>
                  <a:gd name="T1" fmla="*/ 0 h 768"/>
                  <a:gd name="T2" fmla="*/ 0 w 192"/>
                  <a:gd name="T3" fmla="*/ 192 h 768"/>
                  <a:gd name="T4" fmla="*/ 192 w 192"/>
                  <a:gd name="T5" fmla="*/ 192 h 768"/>
                  <a:gd name="T6" fmla="*/ 192 w 192"/>
                  <a:gd name="T7" fmla="*/ 576 h 768"/>
                  <a:gd name="T8" fmla="*/ 0 w 192"/>
                  <a:gd name="T9" fmla="*/ 576 h 768"/>
                  <a:gd name="T10" fmla="*/ 0 w 192"/>
                  <a:gd name="T11" fmla="*/ 768 h 7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2"/>
                  <a:gd name="T19" fmla="*/ 0 h 768"/>
                  <a:gd name="T20" fmla="*/ 192 w 192"/>
                  <a:gd name="T21" fmla="*/ 768 h 76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2" h="768">
                    <a:moveTo>
                      <a:pt x="0" y="0"/>
                    </a:moveTo>
                    <a:lnTo>
                      <a:pt x="0" y="192"/>
                    </a:lnTo>
                    <a:lnTo>
                      <a:pt x="192" y="192"/>
                    </a:lnTo>
                    <a:lnTo>
                      <a:pt x="192" y="576"/>
                    </a:lnTo>
                    <a:lnTo>
                      <a:pt x="0" y="576"/>
                    </a:lnTo>
                    <a:lnTo>
                      <a:pt x="0" y="768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66" name="Line 388">
                <a:extLst>
                  <a:ext uri="{FF2B5EF4-FFF2-40B4-BE49-F238E27FC236}">
                    <a16:creationId xmlns:a16="http://schemas.microsoft.com/office/drawing/2014/main" id="{F6C8FEA7-2D03-1384-C2D1-F49F55251F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8" y="624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67" name="Freeform 389">
                <a:extLst>
                  <a:ext uri="{FF2B5EF4-FFF2-40B4-BE49-F238E27FC236}">
                    <a16:creationId xmlns:a16="http://schemas.microsoft.com/office/drawing/2014/main" id="{233E894D-B938-715A-0864-6E0E7F18519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4896" y="384"/>
                <a:ext cx="96" cy="96"/>
              </a:xfrm>
              <a:custGeom>
                <a:avLst/>
                <a:gdLst>
                  <a:gd name="T0" fmla="*/ 0 w 96"/>
                  <a:gd name="T1" fmla="*/ 48 h 96"/>
                  <a:gd name="T2" fmla="*/ 96 w 96"/>
                  <a:gd name="T3" fmla="*/ 0 h 96"/>
                  <a:gd name="T4" fmla="*/ 96 w 96"/>
                  <a:gd name="T5" fmla="*/ 96 h 96"/>
                  <a:gd name="T6" fmla="*/ 0 w 96"/>
                  <a:gd name="T7" fmla="*/ 48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"/>
                  <a:gd name="T13" fmla="*/ 0 h 96"/>
                  <a:gd name="T14" fmla="*/ 96 w 96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" h="96">
                    <a:moveTo>
                      <a:pt x="0" y="48"/>
                    </a:moveTo>
                    <a:lnTo>
                      <a:pt x="96" y="0"/>
                    </a:lnTo>
                    <a:lnTo>
                      <a:pt x="96" y="96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2857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68" name="Line 390">
                <a:extLst>
                  <a:ext uri="{FF2B5EF4-FFF2-40B4-BE49-F238E27FC236}">
                    <a16:creationId xmlns:a16="http://schemas.microsoft.com/office/drawing/2014/main" id="{A4577151-54F6-6318-F86A-A820B0EBC5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8" y="43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69" name="Line 391">
                <a:extLst>
                  <a:ext uri="{FF2B5EF4-FFF2-40B4-BE49-F238E27FC236}">
                    <a16:creationId xmlns:a16="http://schemas.microsoft.com/office/drawing/2014/main" id="{4EE40AA3-B591-C5A0-2C3E-9EC07B0D3B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92" y="43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</p:grpSp>
        <p:grpSp>
          <p:nvGrpSpPr>
            <p:cNvPr id="63" name="Group 386">
              <a:extLst>
                <a:ext uri="{FF2B5EF4-FFF2-40B4-BE49-F238E27FC236}">
                  <a16:creationId xmlns:a16="http://schemas.microsoft.com/office/drawing/2014/main" id="{CCD24EB1-0EF8-0F94-0EB0-C4AA4B8EB81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410196" y="2438400"/>
              <a:ext cx="381000" cy="609600"/>
              <a:chOff x="4848" y="240"/>
              <a:chExt cx="480" cy="768"/>
            </a:xfrm>
          </p:grpSpPr>
          <p:sp>
            <p:nvSpPr>
              <p:cNvPr id="160" name="Freeform 387">
                <a:extLst>
                  <a:ext uri="{FF2B5EF4-FFF2-40B4-BE49-F238E27FC236}">
                    <a16:creationId xmlns:a16="http://schemas.microsoft.com/office/drawing/2014/main" id="{2A8A5D98-B79D-3558-4348-D9B8DAB09FD9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848" y="240"/>
                <a:ext cx="192" cy="768"/>
              </a:xfrm>
              <a:custGeom>
                <a:avLst/>
                <a:gdLst>
                  <a:gd name="T0" fmla="*/ 0 w 192"/>
                  <a:gd name="T1" fmla="*/ 0 h 768"/>
                  <a:gd name="T2" fmla="*/ 0 w 192"/>
                  <a:gd name="T3" fmla="*/ 192 h 768"/>
                  <a:gd name="T4" fmla="*/ 192 w 192"/>
                  <a:gd name="T5" fmla="*/ 192 h 768"/>
                  <a:gd name="T6" fmla="*/ 192 w 192"/>
                  <a:gd name="T7" fmla="*/ 576 h 768"/>
                  <a:gd name="T8" fmla="*/ 0 w 192"/>
                  <a:gd name="T9" fmla="*/ 576 h 768"/>
                  <a:gd name="T10" fmla="*/ 0 w 192"/>
                  <a:gd name="T11" fmla="*/ 768 h 7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2"/>
                  <a:gd name="T19" fmla="*/ 0 h 768"/>
                  <a:gd name="T20" fmla="*/ 192 w 192"/>
                  <a:gd name="T21" fmla="*/ 768 h 76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2" h="768">
                    <a:moveTo>
                      <a:pt x="0" y="0"/>
                    </a:moveTo>
                    <a:lnTo>
                      <a:pt x="0" y="192"/>
                    </a:lnTo>
                    <a:lnTo>
                      <a:pt x="192" y="192"/>
                    </a:lnTo>
                    <a:lnTo>
                      <a:pt x="192" y="576"/>
                    </a:lnTo>
                    <a:lnTo>
                      <a:pt x="0" y="576"/>
                    </a:lnTo>
                    <a:lnTo>
                      <a:pt x="0" y="768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61" name="Line 388">
                <a:extLst>
                  <a:ext uri="{FF2B5EF4-FFF2-40B4-BE49-F238E27FC236}">
                    <a16:creationId xmlns:a16="http://schemas.microsoft.com/office/drawing/2014/main" id="{3DFBBF8D-89E5-C5A9-52CE-FA1162D302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8" y="624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62" name="Freeform 389">
                <a:extLst>
                  <a:ext uri="{FF2B5EF4-FFF2-40B4-BE49-F238E27FC236}">
                    <a16:creationId xmlns:a16="http://schemas.microsoft.com/office/drawing/2014/main" id="{C59095FF-B809-8E2D-3F2A-08C44705126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4896" y="384"/>
                <a:ext cx="96" cy="96"/>
              </a:xfrm>
              <a:custGeom>
                <a:avLst/>
                <a:gdLst>
                  <a:gd name="T0" fmla="*/ 0 w 96"/>
                  <a:gd name="T1" fmla="*/ 48 h 96"/>
                  <a:gd name="T2" fmla="*/ 96 w 96"/>
                  <a:gd name="T3" fmla="*/ 0 h 96"/>
                  <a:gd name="T4" fmla="*/ 96 w 96"/>
                  <a:gd name="T5" fmla="*/ 96 h 96"/>
                  <a:gd name="T6" fmla="*/ 0 w 96"/>
                  <a:gd name="T7" fmla="*/ 48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"/>
                  <a:gd name="T13" fmla="*/ 0 h 96"/>
                  <a:gd name="T14" fmla="*/ 96 w 96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" h="96">
                    <a:moveTo>
                      <a:pt x="0" y="48"/>
                    </a:moveTo>
                    <a:lnTo>
                      <a:pt x="96" y="0"/>
                    </a:lnTo>
                    <a:lnTo>
                      <a:pt x="96" y="96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2857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63" name="Line 390">
                <a:extLst>
                  <a:ext uri="{FF2B5EF4-FFF2-40B4-BE49-F238E27FC236}">
                    <a16:creationId xmlns:a16="http://schemas.microsoft.com/office/drawing/2014/main" id="{3792DFE8-7A63-DE04-5D98-97DDC7A897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8" y="43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64" name="Line 391">
                <a:extLst>
                  <a:ext uri="{FF2B5EF4-FFF2-40B4-BE49-F238E27FC236}">
                    <a16:creationId xmlns:a16="http://schemas.microsoft.com/office/drawing/2014/main" id="{B5024849-909B-7A64-FC11-36B77B8E57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92" y="43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</p:grpSp>
        <p:grpSp>
          <p:nvGrpSpPr>
            <p:cNvPr id="128" name="Group 386">
              <a:extLst>
                <a:ext uri="{FF2B5EF4-FFF2-40B4-BE49-F238E27FC236}">
                  <a16:creationId xmlns:a16="http://schemas.microsoft.com/office/drawing/2014/main" id="{481734C7-6166-874C-94E8-02C34962C5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05600" y="3429000"/>
              <a:ext cx="381000" cy="609600"/>
              <a:chOff x="4848" y="240"/>
              <a:chExt cx="480" cy="768"/>
            </a:xfrm>
          </p:grpSpPr>
          <p:sp>
            <p:nvSpPr>
              <p:cNvPr id="155" name="Freeform 387">
                <a:extLst>
                  <a:ext uri="{FF2B5EF4-FFF2-40B4-BE49-F238E27FC236}">
                    <a16:creationId xmlns:a16="http://schemas.microsoft.com/office/drawing/2014/main" id="{D8990522-58BD-A32E-C8E9-A86E579D519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848" y="240"/>
                <a:ext cx="192" cy="768"/>
              </a:xfrm>
              <a:custGeom>
                <a:avLst/>
                <a:gdLst>
                  <a:gd name="T0" fmla="*/ 0 w 192"/>
                  <a:gd name="T1" fmla="*/ 0 h 768"/>
                  <a:gd name="T2" fmla="*/ 0 w 192"/>
                  <a:gd name="T3" fmla="*/ 192 h 768"/>
                  <a:gd name="T4" fmla="*/ 192 w 192"/>
                  <a:gd name="T5" fmla="*/ 192 h 768"/>
                  <a:gd name="T6" fmla="*/ 192 w 192"/>
                  <a:gd name="T7" fmla="*/ 576 h 768"/>
                  <a:gd name="T8" fmla="*/ 0 w 192"/>
                  <a:gd name="T9" fmla="*/ 576 h 768"/>
                  <a:gd name="T10" fmla="*/ 0 w 192"/>
                  <a:gd name="T11" fmla="*/ 768 h 7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2"/>
                  <a:gd name="T19" fmla="*/ 0 h 768"/>
                  <a:gd name="T20" fmla="*/ 192 w 192"/>
                  <a:gd name="T21" fmla="*/ 768 h 76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2" h="768">
                    <a:moveTo>
                      <a:pt x="0" y="0"/>
                    </a:moveTo>
                    <a:lnTo>
                      <a:pt x="0" y="192"/>
                    </a:lnTo>
                    <a:lnTo>
                      <a:pt x="192" y="192"/>
                    </a:lnTo>
                    <a:lnTo>
                      <a:pt x="192" y="576"/>
                    </a:lnTo>
                    <a:lnTo>
                      <a:pt x="0" y="576"/>
                    </a:lnTo>
                    <a:lnTo>
                      <a:pt x="0" y="768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56" name="Line 388">
                <a:extLst>
                  <a:ext uri="{FF2B5EF4-FFF2-40B4-BE49-F238E27FC236}">
                    <a16:creationId xmlns:a16="http://schemas.microsoft.com/office/drawing/2014/main" id="{4247935B-361C-C49F-937E-7B563FEAFE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8" y="624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57" name="Freeform 389">
                <a:extLst>
                  <a:ext uri="{FF2B5EF4-FFF2-40B4-BE49-F238E27FC236}">
                    <a16:creationId xmlns:a16="http://schemas.microsoft.com/office/drawing/2014/main" id="{5F4DE774-EDBD-E8C8-8CC0-B2D113E0F48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4896" y="384"/>
                <a:ext cx="96" cy="96"/>
              </a:xfrm>
              <a:custGeom>
                <a:avLst/>
                <a:gdLst>
                  <a:gd name="T0" fmla="*/ 0 w 96"/>
                  <a:gd name="T1" fmla="*/ 48 h 96"/>
                  <a:gd name="T2" fmla="*/ 96 w 96"/>
                  <a:gd name="T3" fmla="*/ 0 h 96"/>
                  <a:gd name="T4" fmla="*/ 96 w 96"/>
                  <a:gd name="T5" fmla="*/ 96 h 96"/>
                  <a:gd name="T6" fmla="*/ 0 w 96"/>
                  <a:gd name="T7" fmla="*/ 48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"/>
                  <a:gd name="T13" fmla="*/ 0 h 96"/>
                  <a:gd name="T14" fmla="*/ 96 w 96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" h="96">
                    <a:moveTo>
                      <a:pt x="0" y="48"/>
                    </a:moveTo>
                    <a:lnTo>
                      <a:pt x="96" y="0"/>
                    </a:lnTo>
                    <a:lnTo>
                      <a:pt x="96" y="96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2857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58" name="Line 390">
                <a:extLst>
                  <a:ext uri="{FF2B5EF4-FFF2-40B4-BE49-F238E27FC236}">
                    <a16:creationId xmlns:a16="http://schemas.microsoft.com/office/drawing/2014/main" id="{3207AB12-7CF8-EA1D-F53B-68938EEAAF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8" y="43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59" name="Line 391">
                <a:extLst>
                  <a:ext uri="{FF2B5EF4-FFF2-40B4-BE49-F238E27FC236}">
                    <a16:creationId xmlns:a16="http://schemas.microsoft.com/office/drawing/2014/main" id="{A665B92D-6F14-52CE-BD27-9C47DFC04C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92" y="43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</p:grpSp>
        <p:grpSp>
          <p:nvGrpSpPr>
            <p:cNvPr id="129" name="Group 386">
              <a:extLst>
                <a:ext uri="{FF2B5EF4-FFF2-40B4-BE49-F238E27FC236}">
                  <a16:creationId xmlns:a16="http://schemas.microsoft.com/office/drawing/2014/main" id="{3D65427D-77CC-EAE2-7336-CF9DC171CCC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495800" y="3467100"/>
              <a:ext cx="381000" cy="609600"/>
              <a:chOff x="4848" y="240"/>
              <a:chExt cx="480" cy="768"/>
            </a:xfrm>
          </p:grpSpPr>
          <p:sp>
            <p:nvSpPr>
              <p:cNvPr id="150" name="Freeform 387">
                <a:extLst>
                  <a:ext uri="{FF2B5EF4-FFF2-40B4-BE49-F238E27FC236}">
                    <a16:creationId xmlns:a16="http://schemas.microsoft.com/office/drawing/2014/main" id="{0143904E-AA94-0255-5576-AC4651B3F9C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848" y="240"/>
                <a:ext cx="192" cy="768"/>
              </a:xfrm>
              <a:custGeom>
                <a:avLst/>
                <a:gdLst>
                  <a:gd name="T0" fmla="*/ 0 w 192"/>
                  <a:gd name="T1" fmla="*/ 0 h 768"/>
                  <a:gd name="T2" fmla="*/ 0 w 192"/>
                  <a:gd name="T3" fmla="*/ 192 h 768"/>
                  <a:gd name="T4" fmla="*/ 192 w 192"/>
                  <a:gd name="T5" fmla="*/ 192 h 768"/>
                  <a:gd name="T6" fmla="*/ 192 w 192"/>
                  <a:gd name="T7" fmla="*/ 576 h 768"/>
                  <a:gd name="T8" fmla="*/ 0 w 192"/>
                  <a:gd name="T9" fmla="*/ 576 h 768"/>
                  <a:gd name="T10" fmla="*/ 0 w 192"/>
                  <a:gd name="T11" fmla="*/ 768 h 7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2"/>
                  <a:gd name="T19" fmla="*/ 0 h 768"/>
                  <a:gd name="T20" fmla="*/ 192 w 192"/>
                  <a:gd name="T21" fmla="*/ 768 h 76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2" h="768">
                    <a:moveTo>
                      <a:pt x="0" y="0"/>
                    </a:moveTo>
                    <a:lnTo>
                      <a:pt x="0" y="192"/>
                    </a:lnTo>
                    <a:lnTo>
                      <a:pt x="192" y="192"/>
                    </a:lnTo>
                    <a:lnTo>
                      <a:pt x="192" y="576"/>
                    </a:lnTo>
                    <a:lnTo>
                      <a:pt x="0" y="576"/>
                    </a:lnTo>
                    <a:lnTo>
                      <a:pt x="0" y="768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51" name="Line 388">
                <a:extLst>
                  <a:ext uri="{FF2B5EF4-FFF2-40B4-BE49-F238E27FC236}">
                    <a16:creationId xmlns:a16="http://schemas.microsoft.com/office/drawing/2014/main" id="{7E60BD9A-7D6C-0C51-F9B7-98F8D9AEB7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8" y="624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52" name="Freeform 389">
                <a:extLst>
                  <a:ext uri="{FF2B5EF4-FFF2-40B4-BE49-F238E27FC236}">
                    <a16:creationId xmlns:a16="http://schemas.microsoft.com/office/drawing/2014/main" id="{32956677-2C3F-0C2A-ED2C-E1D5CC3AC80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4896" y="384"/>
                <a:ext cx="96" cy="96"/>
              </a:xfrm>
              <a:custGeom>
                <a:avLst/>
                <a:gdLst>
                  <a:gd name="T0" fmla="*/ 0 w 96"/>
                  <a:gd name="T1" fmla="*/ 48 h 96"/>
                  <a:gd name="T2" fmla="*/ 96 w 96"/>
                  <a:gd name="T3" fmla="*/ 0 h 96"/>
                  <a:gd name="T4" fmla="*/ 96 w 96"/>
                  <a:gd name="T5" fmla="*/ 96 h 96"/>
                  <a:gd name="T6" fmla="*/ 0 w 96"/>
                  <a:gd name="T7" fmla="*/ 48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"/>
                  <a:gd name="T13" fmla="*/ 0 h 96"/>
                  <a:gd name="T14" fmla="*/ 96 w 96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" h="96">
                    <a:moveTo>
                      <a:pt x="0" y="48"/>
                    </a:moveTo>
                    <a:lnTo>
                      <a:pt x="96" y="0"/>
                    </a:lnTo>
                    <a:lnTo>
                      <a:pt x="96" y="96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2857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53" name="Line 390">
                <a:extLst>
                  <a:ext uri="{FF2B5EF4-FFF2-40B4-BE49-F238E27FC236}">
                    <a16:creationId xmlns:a16="http://schemas.microsoft.com/office/drawing/2014/main" id="{7FDEA659-C20D-0277-8038-3615803F69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8" y="43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54" name="Line 391">
                <a:extLst>
                  <a:ext uri="{FF2B5EF4-FFF2-40B4-BE49-F238E27FC236}">
                    <a16:creationId xmlns:a16="http://schemas.microsoft.com/office/drawing/2014/main" id="{3D6633B5-1EFE-BF83-7D17-4A20C90834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92" y="43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</p:grpSp>
        <p:cxnSp>
          <p:nvCxnSpPr>
            <p:cNvPr id="130" name="Đường nối Thẳng 12">
              <a:extLst>
                <a:ext uri="{FF2B5EF4-FFF2-40B4-BE49-F238E27FC236}">
                  <a16:creationId xmlns:a16="http://schemas.microsoft.com/office/drawing/2014/main" id="{495728AE-31D5-7807-E667-A9E25D61E00E}"/>
                </a:ext>
              </a:extLst>
            </p:cNvPr>
            <p:cNvCxnSpPr/>
            <p:nvPr/>
          </p:nvCxnSpPr>
          <p:spPr bwMode="auto">
            <a:xfrm flipH="1">
              <a:off x="5791196" y="1981200"/>
              <a:ext cx="0" cy="60960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1" name="Đường kết nối: Mũi tên Gấp khúc 13">
              <a:extLst>
                <a:ext uri="{FF2B5EF4-FFF2-40B4-BE49-F238E27FC236}">
                  <a16:creationId xmlns:a16="http://schemas.microsoft.com/office/drawing/2014/main" id="{487DD2D9-8050-2E50-99D4-62A14DA89D3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791198" y="3045619"/>
              <a:ext cx="914400" cy="381000"/>
            </a:xfrm>
            <a:prstGeom prst="bentConnector3">
              <a:avLst>
                <a:gd name="adj1" fmla="val 99510"/>
              </a:avLst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2" name="Đường kết nối: Mũi tên Gấp khúc 14">
              <a:extLst>
                <a:ext uri="{FF2B5EF4-FFF2-40B4-BE49-F238E27FC236}">
                  <a16:creationId xmlns:a16="http://schemas.microsoft.com/office/drawing/2014/main" id="{4022E382-B001-4B0B-DA0B-E58555A4194A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V="1">
              <a:off x="4884734" y="3048000"/>
              <a:ext cx="914396" cy="419100"/>
            </a:xfrm>
            <a:prstGeom prst="bentConnector3">
              <a:avLst>
                <a:gd name="adj1" fmla="val 100833"/>
              </a:avLst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33" name="Group 221">
              <a:extLst>
                <a:ext uri="{FF2B5EF4-FFF2-40B4-BE49-F238E27FC236}">
                  <a16:creationId xmlns:a16="http://schemas.microsoft.com/office/drawing/2014/main" id="{F3CCEAEE-3830-DABC-5984-8C625539D0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38798" y="845820"/>
              <a:ext cx="304800" cy="228600"/>
              <a:chOff x="3888" y="3072"/>
              <a:chExt cx="192" cy="144"/>
            </a:xfrm>
          </p:grpSpPr>
          <p:sp>
            <p:nvSpPr>
              <p:cNvPr id="148" name="Line 27">
                <a:extLst>
                  <a:ext uri="{FF2B5EF4-FFF2-40B4-BE49-F238E27FC236}">
                    <a16:creationId xmlns:a16="http://schemas.microsoft.com/office/drawing/2014/main" id="{7D867194-0F21-17F4-D4CE-5D5B364C60C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888" y="3072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49" name="Line 28">
                <a:extLst>
                  <a:ext uri="{FF2B5EF4-FFF2-40B4-BE49-F238E27FC236}">
                    <a16:creationId xmlns:a16="http://schemas.microsoft.com/office/drawing/2014/main" id="{A225261F-8EDF-CBD1-1AC7-CD6D4F672F4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984" y="3072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vi-VN"/>
              </a:p>
            </p:txBody>
          </p:sp>
        </p:grpSp>
        <p:cxnSp>
          <p:nvCxnSpPr>
            <p:cNvPr id="134" name="Đường nối Thẳng 16">
              <a:extLst>
                <a:ext uri="{FF2B5EF4-FFF2-40B4-BE49-F238E27FC236}">
                  <a16:creationId xmlns:a16="http://schemas.microsoft.com/office/drawing/2014/main" id="{644ACA43-8A8D-2A3D-B047-A0440C8B57AC}"/>
                </a:ext>
              </a:extLst>
            </p:cNvPr>
            <p:cNvCxnSpPr/>
            <p:nvPr/>
          </p:nvCxnSpPr>
          <p:spPr bwMode="auto">
            <a:xfrm flipH="1">
              <a:off x="4876800" y="1676400"/>
              <a:ext cx="533396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Đường nối Thẳng 17">
              <a:extLst>
                <a:ext uri="{FF2B5EF4-FFF2-40B4-BE49-F238E27FC236}">
                  <a16:creationId xmlns:a16="http://schemas.microsoft.com/office/drawing/2014/main" id="{5D8000B2-9861-CFFF-4807-C3D35FFB91A1}"/>
                </a:ext>
              </a:extLst>
            </p:cNvPr>
            <p:cNvCxnSpPr>
              <a:cxnSpLocks/>
              <a:stCxn id="161" idx="1"/>
            </p:cNvCxnSpPr>
            <p:nvPr/>
          </p:nvCxnSpPr>
          <p:spPr bwMode="auto">
            <a:xfrm flipH="1">
              <a:off x="4895850" y="2743199"/>
              <a:ext cx="514346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6" name="Đường nối Thẳng 18">
              <a:extLst>
                <a:ext uri="{FF2B5EF4-FFF2-40B4-BE49-F238E27FC236}">
                  <a16:creationId xmlns:a16="http://schemas.microsoft.com/office/drawing/2014/main" id="{0A4A98C2-42CA-1CE3-4F78-2032CAA5C20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981454" y="3771900"/>
              <a:ext cx="514346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7" name="Đường nối Thẳng 19">
              <a:extLst>
                <a:ext uri="{FF2B5EF4-FFF2-40B4-BE49-F238E27FC236}">
                  <a16:creationId xmlns:a16="http://schemas.microsoft.com/office/drawing/2014/main" id="{DA67BADF-EB9C-4FFF-6C56-A6DB4526898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7086600" y="3733800"/>
              <a:ext cx="514346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8" name="Đường nối Thẳng 20">
              <a:extLst>
                <a:ext uri="{FF2B5EF4-FFF2-40B4-BE49-F238E27FC236}">
                  <a16:creationId xmlns:a16="http://schemas.microsoft.com/office/drawing/2014/main" id="{01FB1DE3-F986-B386-F003-077818320084}"/>
                </a:ext>
              </a:extLst>
            </p:cNvPr>
            <p:cNvCxnSpPr/>
            <p:nvPr/>
          </p:nvCxnSpPr>
          <p:spPr bwMode="auto">
            <a:xfrm flipH="1">
              <a:off x="4876798" y="4038600"/>
              <a:ext cx="0" cy="60960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9" name="Đường nối Thẳng 21">
              <a:extLst>
                <a:ext uri="{FF2B5EF4-FFF2-40B4-BE49-F238E27FC236}">
                  <a16:creationId xmlns:a16="http://schemas.microsoft.com/office/drawing/2014/main" id="{0A7F2FFB-270F-7888-3641-69647B37D07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705598" y="3962400"/>
              <a:ext cx="0" cy="68580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Đường nối Thẳng 22">
              <a:extLst>
                <a:ext uri="{FF2B5EF4-FFF2-40B4-BE49-F238E27FC236}">
                  <a16:creationId xmlns:a16="http://schemas.microsoft.com/office/drawing/2014/main" id="{6F717F41-2344-8D83-56DB-9356854D44FA}"/>
                </a:ext>
              </a:extLst>
            </p:cNvPr>
            <p:cNvCxnSpPr/>
            <p:nvPr/>
          </p:nvCxnSpPr>
          <p:spPr bwMode="auto">
            <a:xfrm flipH="1">
              <a:off x="5789603" y="909637"/>
              <a:ext cx="0" cy="60960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Hộp Văn bản 23">
                  <a:extLst>
                    <a:ext uri="{FF2B5EF4-FFF2-40B4-BE49-F238E27FC236}">
                      <a16:creationId xmlns:a16="http://schemas.microsoft.com/office/drawing/2014/main" id="{B07122EA-3032-1B87-B35D-33949186FB84}"/>
                    </a:ext>
                  </a:extLst>
                </p:cNvPr>
                <p:cNvSpPr txBox="1"/>
                <p:nvPr/>
              </p:nvSpPr>
              <p:spPr>
                <a:xfrm>
                  <a:off x="4800599" y="1334571"/>
                  <a:ext cx="6476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BIAS</m:t>
                            </m:r>
                          </m:sub>
                        </m:sSub>
                      </m:oMath>
                    </m:oMathPara>
                  </a14:m>
                  <a:endParaRPr lang="vi-VN" sz="1800"/>
                </a:p>
              </p:txBody>
            </p:sp>
          </mc:Choice>
          <mc:Fallback xmlns="">
            <p:sp>
              <p:nvSpPr>
                <p:cNvPr id="141" name="Hộp Văn bản 23">
                  <a:extLst>
                    <a:ext uri="{FF2B5EF4-FFF2-40B4-BE49-F238E27FC236}">
                      <a16:creationId xmlns:a16="http://schemas.microsoft.com/office/drawing/2014/main" id="{B07122EA-3032-1B87-B35D-33949186FB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0599" y="1334571"/>
                  <a:ext cx="647699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3922"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Hộp Văn bản 24">
                  <a:extLst>
                    <a:ext uri="{FF2B5EF4-FFF2-40B4-BE49-F238E27FC236}">
                      <a16:creationId xmlns:a16="http://schemas.microsoft.com/office/drawing/2014/main" id="{3D45CBC2-546A-9ACE-C723-EC35FB570CFE}"/>
                    </a:ext>
                  </a:extLst>
                </p:cNvPr>
                <p:cNvSpPr txBox="1"/>
                <p:nvPr/>
              </p:nvSpPr>
              <p:spPr>
                <a:xfrm>
                  <a:off x="5391146" y="437077"/>
                  <a:ext cx="6476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DD</m:t>
                            </m:r>
                          </m:sub>
                        </m:sSub>
                      </m:oMath>
                    </m:oMathPara>
                  </a14:m>
                  <a:endParaRPr lang="vi-VN" sz="1800"/>
                </a:p>
              </p:txBody>
            </p:sp>
          </mc:Choice>
          <mc:Fallback xmlns="">
            <p:sp>
              <p:nvSpPr>
                <p:cNvPr id="142" name="Hộp Văn bản 24">
                  <a:extLst>
                    <a:ext uri="{FF2B5EF4-FFF2-40B4-BE49-F238E27FC236}">
                      <a16:creationId xmlns:a16="http://schemas.microsoft.com/office/drawing/2014/main" id="{3D45CBC2-546A-9ACE-C723-EC35FB570C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1146" y="437077"/>
                  <a:ext cx="647699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33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Hộp Văn bản 25">
                  <a:extLst>
                    <a:ext uri="{FF2B5EF4-FFF2-40B4-BE49-F238E27FC236}">
                      <a16:creationId xmlns:a16="http://schemas.microsoft.com/office/drawing/2014/main" id="{C288B517-5293-DF9C-3D3B-A300A8F188D8}"/>
                    </a:ext>
                  </a:extLst>
                </p:cNvPr>
                <p:cNvSpPr txBox="1"/>
                <p:nvPr/>
              </p:nvSpPr>
              <p:spPr>
                <a:xfrm>
                  <a:off x="4824407" y="2401371"/>
                  <a:ext cx="647699" cy="3745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CAS</m:t>
                            </m:r>
                          </m:sub>
                        </m:sSub>
                      </m:oMath>
                    </m:oMathPara>
                  </a14:m>
                  <a:endParaRPr lang="vi-VN" sz="1800"/>
                </a:p>
              </p:txBody>
            </p:sp>
          </mc:Choice>
          <mc:Fallback xmlns="">
            <p:sp>
              <p:nvSpPr>
                <p:cNvPr id="143" name="Hộp Văn bản 25">
                  <a:extLst>
                    <a:ext uri="{FF2B5EF4-FFF2-40B4-BE49-F238E27FC236}">
                      <a16:creationId xmlns:a16="http://schemas.microsoft.com/office/drawing/2014/main" id="{C288B517-5293-DF9C-3D3B-A300A8F188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4407" y="2401371"/>
                  <a:ext cx="647699" cy="374590"/>
                </a:xfrm>
                <a:prstGeom prst="rect">
                  <a:avLst/>
                </a:prstGeom>
                <a:blipFill>
                  <a:blip r:embed="rId8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Hộp Văn bản 26">
                  <a:extLst>
                    <a:ext uri="{FF2B5EF4-FFF2-40B4-BE49-F238E27FC236}">
                      <a16:creationId xmlns:a16="http://schemas.microsoft.com/office/drawing/2014/main" id="{AF717BD4-C311-CD6E-8C5D-238D24DE4D09}"/>
                    </a:ext>
                  </a:extLst>
                </p:cNvPr>
                <p:cNvSpPr txBox="1"/>
                <p:nvPr/>
              </p:nvSpPr>
              <p:spPr>
                <a:xfrm>
                  <a:off x="3900482" y="3364488"/>
                  <a:ext cx="6476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vi-VN" sz="1800"/>
                </a:p>
              </p:txBody>
            </p:sp>
          </mc:Choice>
          <mc:Fallback xmlns="">
            <p:sp>
              <p:nvSpPr>
                <p:cNvPr id="144" name="Hộp Văn bản 26">
                  <a:extLst>
                    <a:ext uri="{FF2B5EF4-FFF2-40B4-BE49-F238E27FC236}">
                      <a16:creationId xmlns:a16="http://schemas.microsoft.com/office/drawing/2014/main" id="{AF717BD4-C311-CD6E-8C5D-238D24DE4D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0482" y="3364488"/>
                  <a:ext cx="64769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Hộp Văn bản 27">
                  <a:extLst>
                    <a:ext uri="{FF2B5EF4-FFF2-40B4-BE49-F238E27FC236}">
                      <a16:creationId xmlns:a16="http://schemas.microsoft.com/office/drawing/2014/main" id="{C66E4770-0FEA-55D1-20DD-82BDA7D00613}"/>
                    </a:ext>
                  </a:extLst>
                </p:cNvPr>
                <p:cNvSpPr txBox="1"/>
                <p:nvPr/>
              </p:nvSpPr>
              <p:spPr>
                <a:xfrm>
                  <a:off x="6933400" y="3358634"/>
                  <a:ext cx="6476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vi-VN" sz="1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</m:acc>
                      </m:oMath>
                    </m:oMathPara>
                  </a14:m>
                  <a:endParaRPr lang="vi-VN" sz="1800"/>
                </a:p>
              </p:txBody>
            </p:sp>
          </mc:Choice>
          <mc:Fallback xmlns="">
            <p:sp>
              <p:nvSpPr>
                <p:cNvPr id="145" name="Hộp Văn bản 27">
                  <a:extLst>
                    <a:ext uri="{FF2B5EF4-FFF2-40B4-BE49-F238E27FC236}">
                      <a16:creationId xmlns:a16="http://schemas.microsoft.com/office/drawing/2014/main" id="{C66E4770-0FEA-55D1-20DD-82BDA7D006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3400" y="3358634"/>
                  <a:ext cx="647699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137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Hộp Văn bản 28">
                  <a:extLst>
                    <a:ext uri="{FF2B5EF4-FFF2-40B4-BE49-F238E27FC236}">
                      <a16:creationId xmlns:a16="http://schemas.microsoft.com/office/drawing/2014/main" id="{593BAE59-25BF-B226-9E78-EEA6E60D7A49}"/>
                    </a:ext>
                  </a:extLst>
                </p:cNvPr>
                <p:cNvSpPr txBox="1"/>
                <p:nvPr/>
              </p:nvSpPr>
              <p:spPr>
                <a:xfrm>
                  <a:off x="4565650" y="4608808"/>
                  <a:ext cx="6476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vi-VN" sz="1800" i="1" smtClean="0">
                            <a:latin typeface="Cambria Math" panose="02040503050406030204" pitchFamily="18" charset="0"/>
                          </a:rPr>
                          <m:t>OUT</m:t>
                        </m:r>
                      </m:oMath>
                    </m:oMathPara>
                  </a14:m>
                  <a:endParaRPr lang="vi-VN" sz="1800"/>
                </a:p>
              </p:txBody>
            </p:sp>
          </mc:Choice>
          <mc:Fallback xmlns="">
            <p:sp>
              <p:nvSpPr>
                <p:cNvPr id="146" name="Hộp Văn bản 28">
                  <a:extLst>
                    <a:ext uri="{FF2B5EF4-FFF2-40B4-BE49-F238E27FC236}">
                      <a16:creationId xmlns:a16="http://schemas.microsoft.com/office/drawing/2014/main" id="{593BAE59-25BF-B226-9E78-EEA6E60D7A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5650" y="4608808"/>
                  <a:ext cx="64769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Hộp Văn bản 29">
                  <a:extLst>
                    <a:ext uri="{FF2B5EF4-FFF2-40B4-BE49-F238E27FC236}">
                      <a16:creationId xmlns:a16="http://schemas.microsoft.com/office/drawing/2014/main" id="{1189CF9E-F6A4-CB93-E4FB-4A040B54C04B}"/>
                    </a:ext>
                  </a:extLst>
                </p:cNvPr>
                <p:cNvSpPr txBox="1"/>
                <p:nvPr/>
              </p:nvSpPr>
              <p:spPr>
                <a:xfrm>
                  <a:off x="6419850" y="4634208"/>
                  <a:ext cx="647699" cy="3699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vi-VN" sz="1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OUT</m:t>
                            </m:r>
                          </m:e>
                        </m:acc>
                      </m:oMath>
                    </m:oMathPara>
                  </a14:m>
                  <a:endParaRPr lang="vi-VN" sz="1800"/>
                </a:p>
              </p:txBody>
            </p:sp>
          </mc:Choice>
          <mc:Fallback xmlns="">
            <p:sp>
              <p:nvSpPr>
                <p:cNvPr id="147" name="Hộp Văn bản 29">
                  <a:extLst>
                    <a:ext uri="{FF2B5EF4-FFF2-40B4-BE49-F238E27FC236}">
                      <a16:creationId xmlns:a16="http://schemas.microsoft.com/office/drawing/2014/main" id="{1189CF9E-F6A4-CB93-E4FB-4A040B54C0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9850" y="4634208"/>
                  <a:ext cx="647699" cy="36990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Hộp Văn bản 53">
                <a:extLst>
                  <a:ext uri="{FF2B5EF4-FFF2-40B4-BE49-F238E27FC236}">
                    <a16:creationId xmlns:a16="http://schemas.microsoft.com/office/drawing/2014/main" id="{4AAC5651-7940-29E7-47EB-1D81FA8E895A}"/>
                  </a:ext>
                </a:extLst>
              </p:cNvPr>
              <p:cNvSpPr txBox="1"/>
              <p:nvPr/>
            </p:nvSpPr>
            <p:spPr>
              <a:xfrm>
                <a:off x="297411" y="1058551"/>
                <a:ext cx="11405803" cy="10429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>
                    <a:latin typeface="Arial" panose="020B0604020202020204" pitchFamily="34" charset="0"/>
                  </a:rPr>
                  <a:t>To calculate the sizing for cell better, we need to know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2000" i="1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000" i="1" smtClean="0">
                            <a:latin typeface="Cambria Math" panose="02040503050406030204" pitchFamily="18" charset="0"/>
                          </a:rPr>
                          <m:t>vth</m:t>
                        </m:r>
                      </m:sub>
                    </m:sSub>
                  </m:oMath>
                </a14:m>
                <a:r>
                  <a:rPr lang="en-US" sz="2000">
                    <a:latin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20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000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sz="2000">
                    <a:latin typeface="Arial" panose="020B0604020202020204" pitchFamily="34" charset="0"/>
                  </a:rPr>
                  <a:t>, this parameters depend on technology, and we will use monte carlo to find it. Monte Carlo simulations are carried out for 100 runs each for various WL values</a:t>
                </a:r>
                <a:endParaRPr lang="vi-VN" sz="2000"/>
              </a:p>
            </p:txBody>
          </p:sp>
        </mc:Choice>
        <mc:Fallback xmlns="">
          <p:sp>
            <p:nvSpPr>
              <p:cNvPr id="170" name="Hộp Văn bản 53">
                <a:extLst>
                  <a:ext uri="{FF2B5EF4-FFF2-40B4-BE49-F238E27FC236}">
                    <a16:creationId xmlns:a16="http://schemas.microsoft.com/office/drawing/2014/main" id="{4AAC5651-7940-29E7-47EB-1D81FA8E8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11" y="1058551"/>
                <a:ext cx="11405803" cy="1042978"/>
              </a:xfrm>
              <a:prstGeom prst="rect">
                <a:avLst/>
              </a:prstGeom>
              <a:blipFill>
                <a:blip r:embed="rId13"/>
                <a:stretch>
                  <a:fillRect l="-588" t="-3509" r="-534" b="-9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22855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989A5062-8540-C58D-EAB4-C0F55EAF0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FB551627-139A-4C33-EAB3-BA8D7A634949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42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FCB885E0-A63F-6424-5025-F5CDA106FEFC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Current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Cell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– Current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Hình ảnh 3">
            <a:extLst>
              <a:ext uri="{FF2B5EF4-FFF2-40B4-BE49-F238E27FC236}">
                <a16:creationId xmlns:a16="http://schemas.microsoft.com/office/drawing/2014/main" id="{7ECBDC66-805E-8878-FAAB-DA1D2D3EC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98" y="1373879"/>
            <a:ext cx="11035004" cy="52350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Hộp Văn bản 6">
                <a:extLst>
                  <a:ext uri="{FF2B5EF4-FFF2-40B4-BE49-F238E27FC236}">
                    <a16:creationId xmlns:a16="http://schemas.microsoft.com/office/drawing/2014/main" id="{11A82548-4A00-2FDA-3B1F-A41A20CA258E}"/>
                  </a:ext>
                </a:extLst>
              </p:cNvPr>
              <p:cNvSpPr txBox="1"/>
              <p:nvPr/>
            </p:nvSpPr>
            <p:spPr>
              <a:xfrm>
                <a:off x="679191" y="1004547"/>
                <a:ext cx="78400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0" i="0" u="none" strike="noStrike" baseline="0">
                    <a:latin typeface="+mj-lt"/>
                  </a:rPr>
                  <a:t>The values for </a:t>
                </a:r>
                <a:r>
                  <a:rPr lang="en-US" sz="1800" b="0" i="0" u="none" strike="noStrike" baseline="0" err="1">
                    <a:latin typeface="+mj-lt"/>
                  </a:rPr>
                  <a:t>Avt</a:t>
                </a:r>
                <a:r>
                  <a:rPr lang="en-US" sz="1800" b="0" i="0" u="none" strike="noStrike" baseline="0">
                    <a:latin typeface="+mj-lt"/>
                  </a:rPr>
                  <a:t> and Ab are estimated to be 3.3mV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800" b="0" i="0" u="none" strike="noStrike" baseline="0">
                    <a:latin typeface="+mj-lt"/>
                  </a:rPr>
                  <a:t>m and 10%</a:t>
                </a:r>
                <a:r>
                  <a:rPr lang="en-US" sz="1800"/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800" b="0" i="0" u="none" strike="noStrike" baseline="0">
                    <a:latin typeface="+mj-lt"/>
                  </a:rPr>
                  <a:t>m</a:t>
                </a:r>
                <a:endParaRPr lang="vi-VN" sz="1800">
                  <a:latin typeface="+mj-lt"/>
                </a:endParaRPr>
              </a:p>
            </p:txBody>
          </p:sp>
        </mc:Choice>
        <mc:Fallback xmlns="">
          <p:sp>
            <p:nvSpPr>
              <p:cNvPr id="3" name="Hộp Văn bản 6">
                <a:extLst>
                  <a:ext uri="{FF2B5EF4-FFF2-40B4-BE49-F238E27FC236}">
                    <a16:creationId xmlns:a16="http://schemas.microsoft.com/office/drawing/2014/main" id="{11A82548-4A00-2FDA-3B1F-A41A20CA2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91" y="1004547"/>
                <a:ext cx="7840046" cy="369332"/>
              </a:xfrm>
              <a:prstGeom prst="rect">
                <a:avLst/>
              </a:prstGeom>
              <a:blipFill>
                <a:blip r:embed="rId4"/>
                <a:stretch>
                  <a:fillRect l="-622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27390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791F137E-8511-A20F-5CF1-78679894B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06D2CB64-2997-CF40-8C71-A9DB1CACE7FC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43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F2942CA0-599B-A4ED-E809-9A0663C80511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Current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Cell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– Current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Hộp Văn bản 5">
                <a:extLst>
                  <a:ext uri="{FF2B5EF4-FFF2-40B4-BE49-F238E27FC236}">
                    <a16:creationId xmlns:a16="http://schemas.microsoft.com/office/drawing/2014/main" id="{12ED7009-1375-1498-E129-5368E745FBDF}"/>
                  </a:ext>
                </a:extLst>
              </p:cNvPr>
              <p:cNvSpPr txBox="1"/>
              <p:nvPr/>
            </p:nvSpPr>
            <p:spPr>
              <a:xfrm>
                <a:off x="435154" y="1223932"/>
                <a:ext cx="11666513" cy="19880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0" i="0" u="none" strike="noStrike" baseline="0">
                    <a:latin typeface="+mn-lt"/>
                  </a:rPr>
                  <a:t>In order to maintain an INL </a:t>
                </a:r>
                <a14:m>
                  <m:oMath xmlns:m="http://schemas.openxmlformats.org/officeDocument/2006/math">
                    <m:r>
                      <a:rPr lang="en-US" sz="2000" b="0" i="1" u="none" strike="noStrike" baseline="0" smtClean="0">
                        <a:latin typeface="Cambria Math" panose="02040503050406030204" pitchFamily="18" charset="0"/>
                      </a:rPr>
                      <m:t>≤ </m:t>
                    </m:r>
                  </m:oMath>
                </a14:m>
                <a:r>
                  <a:rPr lang="en-US" sz="2000" b="0" i="0" u="none" strike="noStrike" baseline="0">
                    <a:latin typeface="+mn-lt"/>
                  </a:rPr>
                  <a:t>0.5 LSB,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u="none" strike="noStrike" baseline="0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b="0" i="1" u="none" strike="noStrike" baseline="0" smtClean="0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US" sz="2000" b="0" i="1" u="none" strike="noStrike" baseline="0" smtClean="0">
                            <a:latin typeface="Cambria Math" panose="02040503050406030204" pitchFamily="18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en-US" sz="2000">
                    <a:latin typeface="+mn-lt"/>
                  </a:rPr>
                  <a:t> is defined as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  <m:r>
                        <a:rPr lang="vi-VN" sz="2000" dirty="0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vi-VN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vi-VN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vi-VN" sz="2000" i="1" dirty="0">
                              <a:latin typeface="Cambria Math" panose="02040503050406030204" pitchFamily="18" charset="0"/>
                            </a:rPr>
                            <m:t>C</m:t>
                          </m:r>
                          <m:rad>
                            <m:radPr>
                              <m:degHide m:val="on"/>
                              <m:ctrlPr>
                                <a:rPr lang="vi-VN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vi-VN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vi-VN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vi-VN" sz="2000" i="1" dirty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vi-VN" sz="2000">
                  <a:latin typeface="+mn-lt"/>
                </a:endParaRPr>
              </a:p>
              <a:p>
                <a:r>
                  <a:rPr lang="en-US" sz="2000">
                    <a:latin typeface="+mn-lt"/>
                  </a:rPr>
                  <a:t>Where </a:t>
                </a:r>
                <a:r>
                  <a:rPr lang="nl-NL" sz="2000" b="0" i="0" u="none" strike="noStrike" baseline="0">
                    <a:latin typeface="+mn-lt"/>
                  </a:rPr>
                  <a:t>C = inv norm(0</a:t>
                </a:r>
                <a:r>
                  <a:rPr lang="nl-NL" sz="2000">
                    <a:latin typeface="+mn-lt"/>
                  </a:rPr>
                  <a:t>.</a:t>
                </a:r>
                <a:r>
                  <a:rPr lang="nl-NL" sz="2000" b="0" i="0" u="none" strike="noStrike" baseline="0">
                    <a:latin typeface="+mn-lt"/>
                  </a:rPr>
                  <a:t>5 </a:t>
                </a:r>
                <a14:m>
                  <m:oMath xmlns:m="http://schemas.openxmlformats.org/officeDocument/2006/math">
                    <m:r>
                      <a:rPr lang="nl-NL" sz="2000" b="0" i="1" u="none" strike="noStrike" baseline="0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nl-NL" sz="2000" b="0" i="0" u="none" strike="noStrike" baseline="0">
                    <a:latin typeface="+mn-lt"/>
                  </a:rPr>
                  <a:t> yield/2). </a:t>
                </a:r>
                <a:r>
                  <a:rPr lang="en-US" sz="2000">
                    <a:latin typeface="+mn-lt"/>
                  </a:rPr>
                  <a:t>To maintain a high yield, the value of C was chosen to equal 3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sz="2000">
                  <a:latin typeface="+mn-lt"/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𝐼</m:t>
                        </m:r>
                      </m:den>
                    </m:f>
                    <m:r>
                      <a:rPr lang="vi-VN" sz="2000" dirty="0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vi-VN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vi-VN" sz="2000" i="1" dirty="0"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vi-VN" sz="20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vi-VN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vi-VN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vi-VN" sz="2000" i="1" dirty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vi-VN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20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vi-VN" sz="2000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vi-VN" sz="2000" i="1" dirty="0"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lang="vi-VN" sz="2000">
                    <a:latin typeface="+mn-lt"/>
                  </a:rPr>
                  <a:t>%</a:t>
                </a:r>
              </a:p>
            </p:txBody>
          </p:sp>
        </mc:Choice>
        <mc:Fallback xmlns="">
          <p:sp>
            <p:nvSpPr>
              <p:cNvPr id="4" name="Hộp Văn bản 5">
                <a:extLst>
                  <a:ext uri="{FF2B5EF4-FFF2-40B4-BE49-F238E27FC236}">
                    <a16:creationId xmlns:a16="http://schemas.microsoft.com/office/drawing/2014/main" id="{12ED7009-1375-1498-E129-5368E745F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54" y="1223932"/>
                <a:ext cx="11666513" cy="1988045"/>
              </a:xfrm>
              <a:prstGeom prst="rect">
                <a:avLst/>
              </a:prstGeom>
              <a:blipFill>
                <a:blip r:embed="rId3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ộp Văn bản 6">
                <a:extLst>
                  <a:ext uri="{FF2B5EF4-FFF2-40B4-BE49-F238E27FC236}">
                    <a16:creationId xmlns:a16="http://schemas.microsoft.com/office/drawing/2014/main" id="{E3DE2B04-5C5A-A433-6ABB-FDCCBFEFDC08}"/>
                  </a:ext>
                </a:extLst>
              </p:cNvPr>
              <p:cNvSpPr txBox="1"/>
              <p:nvPr/>
            </p:nvSpPr>
            <p:spPr>
              <a:xfrm>
                <a:off x="525487" y="3338251"/>
                <a:ext cx="11532637" cy="7866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2000" i="1">
                              <a:latin typeface="Cambria Math" panose="02040503050406030204" pitchFamily="18" charset="0"/>
                            </a:rPr>
                            <m:t>WL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2000" i="1">
                              <a:latin typeface="Cambria Math" panose="02040503050406030204" pitchFamily="18" charset="0"/>
                            </a:rPr>
                            <m:t>min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2 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(0.26%)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10%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4∗(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3.3∗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0.2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=820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^2</m:t>
                      </m:r>
                    </m:oMath>
                  </m:oMathPara>
                </a14:m>
                <a:endParaRPr lang="vi-VN" sz="2000"/>
              </a:p>
            </p:txBody>
          </p:sp>
        </mc:Choice>
        <mc:Fallback xmlns="">
          <p:sp>
            <p:nvSpPr>
              <p:cNvPr id="5" name="Hộp Văn bản 6">
                <a:extLst>
                  <a:ext uri="{FF2B5EF4-FFF2-40B4-BE49-F238E27FC236}">
                    <a16:creationId xmlns:a16="http://schemas.microsoft.com/office/drawing/2014/main" id="{E3DE2B04-5C5A-A433-6ABB-FDCCBFEFD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87" y="3338251"/>
                <a:ext cx="11532637" cy="7866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7">
                <a:extLst>
                  <a:ext uri="{FF2B5EF4-FFF2-40B4-BE49-F238E27FC236}">
                    <a16:creationId xmlns:a16="http://schemas.microsoft.com/office/drawing/2014/main" id="{4A6D9956-FE1C-BEE0-C7A2-D4D0411B6C55}"/>
                  </a:ext>
                </a:extLst>
              </p:cNvPr>
              <p:cNvSpPr txBox="1"/>
              <p:nvPr/>
            </p:nvSpPr>
            <p:spPr>
              <a:xfrm>
                <a:off x="525487" y="4117442"/>
                <a:ext cx="11666513" cy="9949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𝐹𝑢𝑙𝑙𝑠𝑐𝑎𝑙𝑒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b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00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vi-V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2000" i="1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2000" i="1">
                              <a:latin typeface="Cambria Math" panose="02040503050406030204" pitchFamily="18" charset="0"/>
                            </a:rPr>
                            <m:t>LSB</m:t>
                          </m:r>
                        </m:sub>
                      </m:sSub>
                      <m:r>
                        <a:rPr lang="vi-V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2000" i="1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sSup>
                            <m:sSupPr>
                              <m:ctrlPr>
                                <a:rPr lang="vi-V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vi-VN" sz="20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p>
                          </m:sSup>
                        </m:den>
                      </m:f>
                      <m:r>
                        <a:rPr lang="vi-V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20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vi-VN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vi-VN" sz="2000" i="1">
                          <a:latin typeface="Cambria Math" panose="02040503050406030204" pitchFamily="18" charset="0"/>
                        </a:rPr>
                        <m:t>44</m:t>
                      </m:r>
                      <m:r>
                        <m:rPr>
                          <m:sty m:val="p"/>
                        </m:rPr>
                        <a:rPr lang="vi-VN" sz="2000" i="1">
                          <a:latin typeface="Cambria Math" panose="02040503050406030204" pitchFamily="18" charset="0"/>
                        </a:rPr>
                        <m:t>uA</m:t>
                      </m:r>
                    </m:oMath>
                  </m:oMathPara>
                </a14:m>
                <a:endParaRPr lang="vi-VN" sz="2000">
                  <a:latin typeface="+mj-lt"/>
                </a:endParaRPr>
              </a:p>
            </p:txBody>
          </p:sp>
        </mc:Choice>
        <mc:Fallback xmlns="">
          <p:sp>
            <p:nvSpPr>
              <p:cNvPr id="7" name="Hộp Văn bản 7">
                <a:extLst>
                  <a:ext uri="{FF2B5EF4-FFF2-40B4-BE49-F238E27FC236}">
                    <a16:creationId xmlns:a16="http://schemas.microsoft.com/office/drawing/2014/main" id="{4A6D9956-FE1C-BEE0-C7A2-D4D0411B6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87" y="4117442"/>
                <a:ext cx="11666513" cy="9949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Hộp Văn bản 8">
            <a:extLst>
              <a:ext uri="{FF2B5EF4-FFF2-40B4-BE49-F238E27FC236}">
                <a16:creationId xmlns:a16="http://schemas.microsoft.com/office/drawing/2014/main" id="{947AA421-ABA1-68D1-E621-F5F780F7EBC9}"/>
              </a:ext>
            </a:extLst>
          </p:cNvPr>
          <p:cNvSpPr txBox="1"/>
          <p:nvPr/>
        </p:nvSpPr>
        <p:spPr>
          <a:xfrm>
            <a:off x="525486" y="5151479"/>
            <a:ext cx="116665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>
                <a:latin typeface="+mn-lt"/>
              </a:rPr>
              <a:t>Choosing </a:t>
            </a:r>
            <a:r>
              <a:rPr lang="en-US" sz="2000" b="0" i="0" u="none" strike="noStrike" baseline="0" err="1">
                <a:latin typeface="+mn-lt"/>
              </a:rPr>
              <a:t>Vov</a:t>
            </a:r>
            <a:r>
              <a:rPr lang="en-US" sz="2000" b="0" i="0" u="none" strike="noStrike" baseline="0">
                <a:latin typeface="+mn-lt"/>
              </a:rPr>
              <a:t> = 0.2V, so (W/L) = 4</a:t>
            </a:r>
          </a:p>
          <a:p>
            <a:r>
              <a:rPr lang="en-US" sz="2000">
                <a:latin typeface="+mn-lt"/>
              </a:rPr>
              <a:t>=&gt; L 14.32um, W = 57.28um</a:t>
            </a:r>
          </a:p>
        </p:txBody>
      </p:sp>
    </p:spTree>
    <p:extLst>
      <p:ext uri="{BB962C8B-B14F-4D97-AF65-F5344CB8AC3E}">
        <p14:creationId xmlns:p14="http://schemas.microsoft.com/office/powerpoint/2010/main" val="519984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CDFF8924-84AE-6846-9D6A-126F1CB71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0DF96741-91C4-FEAF-4096-993C03B68C3A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44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3745E98B-96E9-48E7-AE67-6CAA59205AE7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Current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Design –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impedance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Hộp Văn bản 3">
                <a:extLst>
                  <a:ext uri="{FF2B5EF4-FFF2-40B4-BE49-F238E27FC236}">
                    <a16:creationId xmlns:a16="http://schemas.microsoft.com/office/drawing/2014/main" id="{9BFF6273-B255-7156-077C-E63B9BF9E1F5}"/>
                  </a:ext>
                </a:extLst>
              </p:cNvPr>
              <p:cNvSpPr txBox="1"/>
              <p:nvPr/>
            </p:nvSpPr>
            <p:spPr>
              <a:xfrm>
                <a:off x="468086" y="1173713"/>
                <a:ext cx="10730204" cy="1965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latin typeface="+mj-lt"/>
                  </a:rPr>
                  <a:t>The current cell output resistance influences the INL by approximately</a:t>
                </a:r>
              </a:p>
              <a:p>
                <a:pPr algn="ctr"/>
                <a:r>
                  <a:rPr lang="en-US" sz="2400">
                    <a:latin typeface="+mj-lt"/>
                  </a:rPr>
                  <a:t>INL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</m:oMath>
                </a14:m>
                <a:endParaRPr lang="en-US" sz="2400">
                  <a:latin typeface="+mj-lt"/>
                </a:endParaRPr>
              </a:p>
              <a:p>
                <a:r>
                  <a:rPr lang="en-US" sz="2400">
                    <a:latin typeface="+mj-lt"/>
                  </a:rPr>
                  <a:t>The required current cell output impedance for a given SFDR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𝑢𝑛𝑖𝑡</m:t>
                          </m:r>
                        </m:sub>
                      </m:sSub>
                      <m:r>
                        <a:rPr lang="en-US" sz="2400" dirty="0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f>
                            <m:f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𝑆𝐹𝐷𝑅</m:t>
                              </m:r>
                            </m:num>
                            <m:den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2400">
                  <a:latin typeface="+mj-lt"/>
                </a:endParaRPr>
              </a:p>
            </p:txBody>
          </p:sp>
        </mc:Choice>
        <mc:Fallback xmlns="">
          <p:sp>
            <p:nvSpPr>
              <p:cNvPr id="2" name="Hộp Văn bản 3">
                <a:extLst>
                  <a:ext uri="{FF2B5EF4-FFF2-40B4-BE49-F238E27FC236}">
                    <a16:creationId xmlns:a16="http://schemas.microsoft.com/office/drawing/2014/main" id="{9BFF6273-B255-7156-077C-E63B9BF9E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86" y="1173713"/>
                <a:ext cx="10730204" cy="1965410"/>
              </a:xfrm>
              <a:prstGeom prst="rect">
                <a:avLst/>
              </a:prstGeom>
              <a:blipFill>
                <a:blip r:embed="rId3"/>
                <a:stretch>
                  <a:fillRect l="-909" t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Hộp Văn bản 4">
            <a:extLst>
              <a:ext uri="{FF2B5EF4-FFF2-40B4-BE49-F238E27FC236}">
                <a16:creationId xmlns:a16="http://schemas.microsoft.com/office/drawing/2014/main" id="{273D10EF-FB39-BAB7-2CCD-A92D0CC5DA76}"/>
              </a:ext>
            </a:extLst>
          </p:cNvPr>
          <p:cNvSpPr txBox="1"/>
          <p:nvPr/>
        </p:nvSpPr>
        <p:spPr>
          <a:xfrm>
            <a:off x="468086" y="3486150"/>
            <a:ext cx="107900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0">
                <a:solidFill>
                  <a:srgbClr val="000000"/>
                </a:solidFill>
                <a:latin typeface="+mj-lt"/>
              </a:rPr>
              <a:t>For this design, with </a:t>
            </a:r>
            <a:r>
              <a:rPr lang="en-US" sz="2400" b="1">
                <a:latin typeface="+mj-lt"/>
              </a:rPr>
              <a:t>70</a:t>
            </a:r>
            <a:r>
              <a:rPr lang="en-US" sz="2400" b="1" i="0" u="none" strike="noStrike" baseline="0">
                <a:solidFill>
                  <a:srgbClr val="000000"/>
                </a:solidFill>
                <a:latin typeface="+mj-lt"/>
              </a:rPr>
              <a:t> dB SFDR, 12 bit and 25Ω 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+mj-lt"/>
              </a:rPr>
              <a:t>load resistance the minimum required current cell output resistance is calculated to be </a:t>
            </a:r>
            <a:r>
              <a:rPr lang="en-US" sz="2400" b="1" i="0" u="none" strike="noStrike" baseline="0">
                <a:solidFill>
                  <a:srgbClr val="000000"/>
                </a:solidFill>
                <a:latin typeface="+mj-lt"/>
              </a:rPr>
              <a:t>100 MΩ. </a:t>
            </a:r>
            <a:endParaRPr lang="vi-VN" sz="2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353858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E57FE5F7-16BA-4697-B757-7FB829210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2B39294B-438B-0E10-536E-444F84672E37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45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25F27BE4-5BD0-DBE7-21B2-48A889C72E6F}"/>
              </a:ext>
            </a:extLst>
          </p:cNvPr>
          <p:cNvSpPr txBox="1">
            <a:spLocks/>
          </p:cNvSpPr>
          <p:nvPr/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Current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Steering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DAC</a:t>
            </a:r>
          </a:p>
        </p:txBody>
      </p:sp>
      <p:sp>
        <p:nvSpPr>
          <p:cNvPr id="5" name="Hộp Văn bản 55">
            <a:extLst>
              <a:ext uri="{FF2B5EF4-FFF2-40B4-BE49-F238E27FC236}">
                <a16:creationId xmlns:a16="http://schemas.microsoft.com/office/drawing/2014/main" id="{5BFC4651-BA15-B72C-5DA4-6286E866C741}"/>
              </a:ext>
            </a:extLst>
          </p:cNvPr>
          <p:cNvSpPr txBox="1"/>
          <p:nvPr/>
        </p:nvSpPr>
        <p:spPr>
          <a:xfrm>
            <a:off x="6997611" y="5529895"/>
            <a:ext cx="49792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>
                <a:effectLst/>
                <a:latin typeface="+mj-lt"/>
                <a:ea typeface="Times New Roman" panose="02020603050405020304" pitchFamily="18" charset="0"/>
              </a:rPr>
              <a:t>Current Steering architecture with two types of implementation a) The Binary Implementation and b) The Unary Implementation.</a:t>
            </a:r>
            <a:endParaRPr lang="vi-VN" sz="1600">
              <a:latin typeface="+mj-lt"/>
            </a:endParaRPr>
          </a:p>
        </p:txBody>
      </p:sp>
      <p:sp>
        <p:nvSpPr>
          <p:cNvPr id="8" name="Hộp Văn bản 58">
            <a:extLst>
              <a:ext uri="{FF2B5EF4-FFF2-40B4-BE49-F238E27FC236}">
                <a16:creationId xmlns:a16="http://schemas.microsoft.com/office/drawing/2014/main" id="{4188A583-B257-5323-E050-7EEB579381CE}"/>
              </a:ext>
            </a:extLst>
          </p:cNvPr>
          <p:cNvSpPr txBox="1"/>
          <p:nvPr/>
        </p:nvSpPr>
        <p:spPr>
          <a:xfrm>
            <a:off x="215091" y="1019046"/>
            <a:ext cx="62518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/>
              <a:t>Current Steering DAC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Generates output current</a:t>
            </a:r>
            <a:r>
              <a:rPr lang="en-US" sz="1600"/>
              <a:t> by summing contributions from </a:t>
            </a:r>
            <a:r>
              <a:rPr lang="en-US" sz="1600" b="1"/>
              <a:t>active current sources</a:t>
            </a:r>
            <a:r>
              <a:rPr lang="en-US" sz="16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Current is </a:t>
            </a:r>
            <a:r>
              <a:rPr lang="en-US" sz="1600" b="1"/>
              <a:t>steered</a:t>
            </a:r>
            <a:r>
              <a:rPr lang="en-US" sz="1600"/>
              <a:t> to output nodes—</a:t>
            </a:r>
            <a:r>
              <a:rPr lang="en-US" sz="1600" b="1"/>
              <a:t>not just switched off</a:t>
            </a:r>
            <a:r>
              <a:rPr lang="en-US" sz="1600"/>
              <a:t>—to maintain stable biasing.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Supports </a:t>
            </a:r>
            <a:r>
              <a:rPr lang="en-US" sz="1600" b="1"/>
              <a:t>binary, unary,</a:t>
            </a:r>
            <a:r>
              <a:rPr lang="en-US" sz="1600"/>
              <a:t> or </a:t>
            </a:r>
            <a:r>
              <a:rPr lang="en-US" sz="1600" b="1"/>
              <a:t>segmented</a:t>
            </a:r>
            <a:r>
              <a:rPr lang="en-US" sz="1600"/>
              <a:t> input coding</a:t>
            </a:r>
          </a:p>
        </p:txBody>
      </p:sp>
      <p:sp>
        <p:nvSpPr>
          <p:cNvPr id="9" name="Hộp Văn bản 60">
            <a:extLst>
              <a:ext uri="{FF2B5EF4-FFF2-40B4-BE49-F238E27FC236}">
                <a16:creationId xmlns:a16="http://schemas.microsoft.com/office/drawing/2014/main" id="{2A0F3B05-7C64-15F3-9F24-B1F9B5BB1B9D}"/>
              </a:ext>
            </a:extLst>
          </p:cNvPr>
          <p:cNvSpPr txBox="1"/>
          <p:nvPr/>
        </p:nvSpPr>
        <p:spPr>
          <a:xfrm>
            <a:off x="215091" y="2570616"/>
            <a:ext cx="669973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/>
              <a:t>Output Configurations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Single-ended</a:t>
            </a:r>
            <a:r>
              <a:rPr lang="en-US" sz="1600"/>
              <a:t>: Used in low-frequency/control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Differential</a:t>
            </a:r>
            <a:r>
              <a:rPr lang="en-US" sz="1600"/>
              <a:t>: Preferred in modern systems for better </a:t>
            </a:r>
            <a:r>
              <a:rPr lang="en-US" sz="1600" b="1"/>
              <a:t>noise immunity</a:t>
            </a:r>
            <a:r>
              <a:rPr lang="en-US" sz="1600"/>
              <a:t> and </a:t>
            </a:r>
            <a:r>
              <a:rPr lang="en-US" sz="1600" b="1"/>
              <a:t>distortion suppression</a:t>
            </a:r>
            <a:r>
              <a:rPr lang="en-US" sz="1600"/>
              <a:t>.</a:t>
            </a:r>
          </a:p>
          <a:p>
            <a:pPr>
              <a:buNone/>
            </a:pPr>
            <a:r>
              <a:rPr lang="en-US" sz="1600" b="1"/>
              <a:t>Key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Output impedance = </a:t>
            </a:r>
            <a:r>
              <a:rPr lang="en-US" sz="1600" b="1"/>
              <a:t>parallel of active current cells</a:t>
            </a:r>
            <a:r>
              <a:rPr lang="en-US" sz="16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Differential outputs</a:t>
            </a:r>
            <a:r>
              <a:rPr lang="en-US" sz="1600"/>
              <a:t> cancel even-order harmonics and reduce common-mode noise.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Compact area</a:t>
            </a:r>
            <a:r>
              <a:rPr lang="en-US" sz="1600"/>
              <a:t>, </a:t>
            </a:r>
            <a:r>
              <a:rPr lang="en-US" sz="1600" b="1"/>
              <a:t>high-speed</a:t>
            </a:r>
            <a:r>
              <a:rPr lang="en-US" sz="1600"/>
              <a:t> operation.</a:t>
            </a:r>
          </a:p>
          <a:p>
            <a:endParaRPr lang="en-US" sz="1800"/>
          </a:p>
        </p:txBody>
      </p:sp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5260BC0-0643-C5C4-454E-54BA9139A0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967" y="4860983"/>
            <a:ext cx="3955424" cy="1708092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841CEDCF-1B90-A36C-CBDA-11C542C92393}"/>
              </a:ext>
            </a:extLst>
          </p:cNvPr>
          <p:cNvGrpSpPr/>
          <p:nvPr/>
        </p:nvGrpSpPr>
        <p:grpSpPr>
          <a:xfrm>
            <a:off x="7195090" y="1038454"/>
            <a:ext cx="4584340" cy="4425450"/>
            <a:chOff x="7362825" y="1112400"/>
            <a:chExt cx="4327250" cy="4043539"/>
          </a:xfrm>
        </p:grpSpPr>
        <p:pic>
          <p:nvPicPr>
            <p:cNvPr id="13" name="Hình ảnh 4" descr="Ảnh có chứa màu đen, bóng tối&#10;&#10;Nội dung do AI tạo ra có thể không chính xác.">
              <a:extLst>
                <a:ext uri="{FF2B5EF4-FFF2-40B4-BE49-F238E27FC236}">
                  <a16:creationId xmlns:a16="http://schemas.microsoft.com/office/drawing/2014/main" id="{9033A7F3-2352-EC88-3EF9-A3BF8C8D8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0757" y="1112400"/>
              <a:ext cx="4039316" cy="2010392"/>
            </a:xfrm>
            <a:prstGeom prst="rect">
              <a:avLst/>
            </a:prstGeom>
          </p:spPr>
        </p:pic>
        <p:pic>
          <p:nvPicPr>
            <p:cNvPr id="14" name="Hình ảnh 5" descr="Ảnh có chứa màu đen, bóng tối&#10;&#10;Nội dung do AI tạo ra có thể không chính xác.">
              <a:extLst>
                <a:ext uri="{FF2B5EF4-FFF2-40B4-BE49-F238E27FC236}">
                  <a16:creationId xmlns:a16="http://schemas.microsoft.com/office/drawing/2014/main" id="{91B7D7D0-3A85-0CA5-DB44-730869B41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0757" y="3145013"/>
              <a:ext cx="4039318" cy="201092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15F94E-88A3-CDEF-B5C7-928BCAF5AF8E}"/>
                </a:ext>
              </a:extLst>
            </p:cNvPr>
            <p:cNvSpPr txBox="1"/>
            <p:nvPr/>
          </p:nvSpPr>
          <p:spPr>
            <a:xfrm>
              <a:off x="7362825" y="1112400"/>
              <a:ext cx="638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800"/>
                <a:t>a)</a:t>
              </a:r>
              <a:endParaRPr lang="en-GB" sz="18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D049AC6-9A6D-94CF-9178-789F5667DE0E}"/>
                </a:ext>
              </a:extLst>
            </p:cNvPr>
            <p:cNvSpPr txBox="1"/>
            <p:nvPr/>
          </p:nvSpPr>
          <p:spPr>
            <a:xfrm>
              <a:off x="7467599" y="3207698"/>
              <a:ext cx="638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800"/>
                <a:t>b)</a:t>
              </a:r>
              <a:endParaRPr lang="en-GB" sz="1800"/>
            </a:p>
          </p:txBody>
        </p:sp>
      </p:grpSp>
    </p:spTree>
    <p:extLst>
      <p:ext uri="{BB962C8B-B14F-4D97-AF65-F5344CB8AC3E}">
        <p14:creationId xmlns:p14="http://schemas.microsoft.com/office/powerpoint/2010/main" val="35760023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4184AA87-0C74-ADDB-E4C7-785639FED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C3C0A503-DEE1-3075-040F-F3E0E7BE0E0A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46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BD9838EA-9D20-CBA8-6769-8553177A227D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Thermometer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Encoder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Schematic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Cadence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Hình ảnh 2">
            <a:extLst>
              <a:ext uri="{FF2B5EF4-FFF2-40B4-BE49-F238E27FC236}">
                <a16:creationId xmlns:a16="http://schemas.microsoft.com/office/drawing/2014/main" id="{FBF8257F-79E1-FD87-260B-C306369C7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15" y="1200150"/>
            <a:ext cx="4847922" cy="5098222"/>
          </a:xfrm>
          <a:prstGeom prst="rect">
            <a:avLst/>
          </a:prstGeom>
        </p:spPr>
      </p:pic>
      <p:sp>
        <p:nvSpPr>
          <p:cNvPr id="8" name="Hộp Văn bản 5">
            <a:extLst>
              <a:ext uri="{FF2B5EF4-FFF2-40B4-BE49-F238E27FC236}">
                <a16:creationId xmlns:a16="http://schemas.microsoft.com/office/drawing/2014/main" id="{B4ED99FB-12FC-287A-D4D8-949750873475}"/>
              </a:ext>
            </a:extLst>
          </p:cNvPr>
          <p:cNvSpPr txBox="1"/>
          <p:nvPr/>
        </p:nvSpPr>
        <p:spPr>
          <a:xfrm>
            <a:off x="1542566" y="1400155"/>
            <a:ext cx="100002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err="1">
                <a:solidFill>
                  <a:schemeClr val="bg1"/>
                </a:solidFill>
              </a:rPr>
              <a:t>Wp</a:t>
            </a:r>
            <a:r>
              <a:rPr lang="vi-VN" sz="1100">
                <a:solidFill>
                  <a:schemeClr val="bg1"/>
                </a:solidFill>
              </a:rPr>
              <a:t> = 600nm</a:t>
            </a:r>
          </a:p>
          <a:p>
            <a:r>
              <a:rPr lang="vi-VN" sz="1100" err="1">
                <a:solidFill>
                  <a:schemeClr val="bg1"/>
                </a:solidFill>
              </a:rPr>
              <a:t>FingerP</a:t>
            </a:r>
            <a:r>
              <a:rPr lang="vi-VN" sz="1100">
                <a:solidFill>
                  <a:schemeClr val="bg1"/>
                </a:solidFill>
              </a:rPr>
              <a:t> = 8</a:t>
            </a:r>
          </a:p>
          <a:p>
            <a:r>
              <a:rPr lang="vi-VN" sz="1100" err="1">
                <a:solidFill>
                  <a:schemeClr val="bg1"/>
                </a:solidFill>
              </a:rPr>
              <a:t>Wn</a:t>
            </a:r>
            <a:r>
              <a:rPr lang="vi-VN" sz="1100">
                <a:solidFill>
                  <a:schemeClr val="bg1"/>
                </a:solidFill>
              </a:rPr>
              <a:t> = 200n</a:t>
            </a:r>
          </a:p>
          <a:p>
            <a:r>
              <a:rPr lang="vi-VN" sz="1100" err="1">
                <a:solidFill>
                  <a:schemeClr val="bg1"/>
                </a:solidFill>
              </a:rPr>
              <a:t>FingerN</a:t>
            </a:r>
            <a:r>
              <a:rPr lang="vi-VN" sz="1100">
                <a:solidFill>
                  <a:schemeClr val="bg1"/>
                </a:solidFill>
              </a:rPr>
              <a:t> = 8</a:t>
            </a:r>
          </a:p>
          <a:p>
            <a:endParaRPr lang="vi-VN" sz="1100">
              <a:solidFill>
                <a:schemeClr val="bg1"/>
              </a:solidFill>
            </a:endParaRPr>
          </a:p>
        </p:txBody>
      </p:sp>
      <p:sp>
        <p:nvSpPr>
          <p:cNvPr id="9" name="Hộp Văn bản 6">
            <a:extLst>
              <a:ext uri="{FF2B5EF4-FFF2-40B4-BE49-F238E27FC236}">
                <a16:creationId xmlns:a16="http://schemas.microsoft.com/office/drawing/2014/main" id="{A3C66F07-84ED-4F00-E415-FC72016ED426}"/>
              </a:ext>
            </a:extLst>
          </p:cNvPr>
          <p:cNvSpPr txBox="1"/>
          <p:nvPr/>
        </p:nvSpPr>
        <p:spPr>
          <a:xfrm>
            <a:off x="542540" y="3129409"/>
            <a:ext cx="100002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err="1">
                <a:solidFill>
                  <a:schemeClr val="bg1"/>
                </a:solidFill>
              </a:rPr>
              <a:t>Wp</a:t>
            </a:r>
            <a:r>
              <a:rPr lang="vi-VN" sz="1100">
                <a:solidFill>
                  <a:schemeClr val="bg1"/>
                </a:solidFill>
              </a:rPr>
              <a:t> = 600nm</a:t>
            </a:r>
          </a:p>
          <a:p>
            <a:r>
              <a:rPr lang="vi-VN" sz="1100" err="1">
                <a:solidFill>
                  <a:schemeClr val="bg1"/>
                </a:solidFill>
              </a:rPr>
              <a:t>FingerP</a:t>
            </a:r>
            <a:r>
              <a:rPr lang="vi-VN" sz="1100">
                <a:solidFill>
                  <a:schemeClr val="bg1"/>
                </a:solidFill>
              </a:rPr>
              <a:t> = 8</a:t>
            </a:r>
          </a:p>
          <a:p>
            <a:r>
              <a:rPr lang="vi-VN" sz="1100" err="1">
                <a:solidFill>
                  <a:schemeClr val="bg1"/>
                </a:solidFill>
              </a:rPr>
              <a:t>Wn</a:t>
            </a:r>
            <a:r>
              <a:rPr lang="vi-VN" sz="1100">
                <a:solidFill>
                  <a:schemeClr val="bg1"/>
                </a:solidFill>
              </a:rPr>
              <a:t> = 200n</a:t>
            </a:r>
          </a:p>
          <a:p>
            <a:r>
              <a:rPr lang="vi-VN" sz="1100" err="1">
                <a:solidFill>
                  <a:schemeClr val="bg1"/>
                </a:solidFill>
              </a:rPr>
              <a:t>FingerN</a:t>
            </a:r>
            <a:r>
              <a:rPr lang="vi-VN" sz="1100">
                <a:solidFill>
                  <a:schemeClr val="bg1"/>
                </a:solidFill>
              </a:rPr>
              <a:t> = 8</a:t>
            </a:r>
          </a:p>
          <a:p>
            <a:endParaRPr lang="vi-VN" sz="1100">
              <a:solidFill>
                <a:schemeClr val="bg1"/>
              </a:solidFill>
            </a:endParaRPr>
          </a:p>
        </p:txBody>
      </p:sp>
      <p:sp>
        <p:nvSpPr>
          <p:cNvPr id="10" name="Hộp Văn bản 7">
            <a:extLst>
              <a:ext uri="{FF2B5EF4-FFF2-40B4-BE49-F238E27FC236}">
                <a16:creationId xmlns:a16="http://schemas.microsoft.com/office/drawing/2014/main" id="{7DB738C8-492D-3191-5DDC-74C825B4381D}"/>
              </a:ext>
            </a:extLst>
          </p:cNvPr>
          <p:cNvSpPr txBox="1"/>
          <p:nvPr/>
        </p:nvSpPr>
        <p:spPr>
          <a:xfrm>
            <a:off x="542540" y="4009315"/>
            <a:ext cx="100002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err="1">
                <a:solidFill>
                  <a:schemeClr val="bg1"/>
                </a:solidFill>
              </a:rPr>
              <a:t>Wp</a:t>
            </a:r>
            <a:r>
              <a:rPr lang="vi-VN" sz="1100">
                <a:solidFill>
                  <a:schemeClr val="bg1"/>
                </a:solidFill>
              </a:rPr>
              <a:t> = 600nm</a:t>
            </a:r>
          </a:p>
          <a:p>
            <a:r>
              <a:rPr lang="vi-VN" sz="1100" err="1">
                <a:solidFill>
                  <a:schemeClr val="bg1"/>
                </a:solidFill>
              </a:rPr>
              <a:t>FingerP</a:t>
            </a:r>
            <a:r>
              <a:rPr lang="vi-VN" sz="1100">
                <a:solidFill>
                  <a:schemeClr val="bg1"/>
                </a:solidFill>
              </a:rPr>
              <a:t> = 10</a:t>
            </a:r>
          </a:p>
          <a:p>
            <a:r>
              <a:rPr lang="vi-VN" sz="1100" err="1">
                <a:solidFill>
                  <a:schemeClr val="bg1"/>
                </a:solidFill>
              </a:rPr>
              <a:t>Wn</a:t>
            </a:r>
            <a:r>
              <a:rPr lang="vi-VN" sz="1100">
                <a:solidFill>
                  <a:schemeClr val="bg1"/>
                </a:solidFill>
              </a:rPr>
              <a:t> = 200n</a:t>
            </a:r>
          </a:p>
          <a:p>
            <a:r>
              <a:rPr lang="vi-VN" sz="1100" err="1">
                <a:solidFill>
                  <a:schemeClr val="bg1"/>
                </a:solidFill>
              </a:rPr>
              <a:t>FingerN</a:t>
            </a:r>
            <a:r>
              <a:rPr lang="vi-VN" sz="1100">
                <a:solidFill>
                  <a:schemeClr val="bg1"/>
                </a:solidFill>
              </a:rPr>
              <a:t> = 10</a:t>
            </a:r>
          </a:p>
          <a:p>
            <a:endParaRPr lang="vi-VN" sz="1100">
              <a:solidFill>
                <a:schemeClr val="bg1"/>
              </a:solidFill>
            </a:endParaRPr>
          </a:p>
        </p:txBody>
      </p:sp>
      <p:sp>
        <p:nvSpPr>
          <p:cNvPr id="11" name="Hộp Văn bản 8">
            <a:extLst>
              <a:ext uri="{FF2B5EF4-FFF2-40B4-BE49-F238E27FC236}">
                <a16:creationId xmlns:a16="http://schemas.microsoft.com/office/drawing/2014/main" id="{6428E0F6-F2A3-1105-5847-218835411E71}"/>
              </a:ext>
            </a:extLst>
          </p:cNvPr>
          <p:cNvSpPr txBox="1"/>
          <p:nvPr/>
        </p:nvSpPr>
        <p:spPr>
          <a:xfrm>
            <a:off x="542540" y="4955645"/>
            <a:ext cx="100002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err="1">
                <a:solidFill>
                  <a:schemeClr val="bg1"/>
                </a:solidFill>
              </a:rPr>
              <a:t>Wp</a:t>
            </a:r>
            <a:r>
              <a:rPr lang="vi-VN" sz="1100">
                <a:solidFill>
                  <a:schemeClr val="bg1"/>
                </a:solidFill>
              </a:rPr>
              <a:t> = 600nm</a:t>
            </a:r>
          </a:p>
          <a:p>
            <a:r>
              <a:rPr lang="vi-VN" sz="1100" err="1">
                <a:solidFill>
                  <a:schemeClr val="bg1"/>
                </a:solidFill>
              </a:rPr>
              <a:t>FingerP</a:t>
            </a:r>
            <a:r>
              <a:rPr lang="vi-VN" sz="1100">
                <a:solidFill>
                  <a:schemeClr val="bg1"/>
                </a:solidFill>
              </a:rPr>
              <a:t> = 18</a:t>
            </a:r>
          </a:p>
          <a:p>
            <a:r>
              <a:rPr lang="vi-VN" sz="1100" err="1">
                <a:solidFill>
                  <a:schemeClr val="bg1"/>
                </a:solidFill>
              </a:rPr>
              <a:t>Wn</a:t>
            </a:r>
            <a:r>
              <a:rPr lang="vi-VN" sz="1100">
                <a:solidFill>
                  <a:schemeClr val="bg1"/>
                </a:solidFill>
              </a:rPr>
              <a:t> = 200n</a:t>
            </a:r>
          </a:p>
          <a:p>
            <a:r>
              <a:rPr lang="vi-VN" sz="1100" err="1">
                <a:solidFill>
                  <a:schemeClr val="bg1"/>
                </a:solidFill>
              </a:rPr>
              <a:t>FingerN</a:t>
            </a:r>
            <a:r>
              <a:rPr lang="vi-VN" sz="1100">
                <a:solidFill>
                  <a:schemeClr val="bg1"/>
                </a:solidFill>
              </a:rPr>
              <a:t> = 18</a:t>
            </a:r>
          </a:p>
          <a:p>
            <a:endParaRPr lang="vi-VN" sz="1100">
              <a:solidFill>
                <a:schemeClr val="bg1"/>
              </a:solidFill>
            </a:endParaRPr>
          </a:p>
        </p:txBody>
      </p:sp>
      <p:sp>
        <p:nvSpPr>
          <p:cNvPr id="12" name="Hộp Văn bản 9">
            <a:extLst>
              <a:ext uri="{FF2B5EF4-FFF2-40B4-BE49-F238E27FC236}">
                <a16:creationId xmlns:a16="http://schemas.microsoft.com/office/drawing/2014/main" id="{4B8A4551-FA2F-FF59-5A93-AEC1C70EB659}"/>
              </a:ext>
            </a:extLst>
          </p:cNvPr>
          <p:cNvSpPr txBox="1"/>
          <p:nvPr/>
        </p:nvSpPr>
        <p:spPr>
          <a:xfrm>
            <a:off x="4999587" y="1049850"/>
            <a:ext cx="1057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err="1">
                <a:solidFill>
                  <a:schemeClr val="tx1"/>
                </a:solidFill>
              </a:rPr>
              <a:t>Wp</a:t>
            </a:r>
            <a:r>
              <a:rPr lang="vi-VN" sz="1100">
                <a:solidFill>
                  <a:schemeClr val="tx1"/>
                </a:solidFill>
              </a:rPr>
              <a:t> = 600nm</a:t>
            </a:r>
          </a:p>
          <a:p>
            <a:r>
              <a:rPr lang="vi-VN" sz="1100" err="1">
                <a:solidFill>
                  <a:schemeClr val="tx1"/>
                </a:solidFill>
              </a:rPr>
              <a:t>FingerP</a:t>
            </a:r>
            <a:r>
              <a:rPr lang="vi-VN" sz="1100">
                <a:solidFill>
                  <a:schemeClr val="tx1"/>
                </a:solidFill>
              </a:rPr>
              <a:t> = 8</a:t>
            </a:r>
          </a:p>
          <a:p>
            <a:r>
              <a:rPr lang="vi-VN" sz="1100" err="1">
                <a:solidFill>
                  <a:schemeClr val="tx1"/>
                </a:solidFill>
              </a:rPr>
              <a:t>Wn</a:t>
            </a:r>
            <a:r>
              <a:rPr lang="vi-VN" sz="1100">
                <a:solidFill>
                  <a:schemeClr val="tx1"/>
                </a:solidFill>
              </a:rPr>
              <a:t> = 200n</a:t>
            </a:r>
          </a:p>
          <a:p>
            <a:r>
              <a:rPr lang="vi-VN" sz="1100" err="1">
                <a:solidFill>
                  <a:schemeClr val="tx1"/>
                </a:solidFill>
              </a:rPr>
              <a:t>FingerN</a:t>
            </a:r>
            <a:r>
              <a:rPr lang="vi-VN" sz="1100">
                <a:solidFill>
                  <a:schemeClr val="tx1"/>
                </a:solidFill>
              </a:rPr>
              <a:t> = 8</a:t>
            </a:r>
          </a:p>
        </p:txBody>
      </p:sp>
      <p:sp>
        <p:nvSpPr>
          <p:cNvPr id="13" name="Hộp Văn bản 10">
            <a:extLst>
              <a:ext uri="{FF2B5EF4-FFF2-40B4-BE49-F238E27FC236}">
                <a16:creationId xmlns:a16="http://schemas.microsoft.com/office/drawing/2014/main" id="{E9F8EECB-FAA7-FFCD-2F73-2BA0A8F1538D}"/>
              </a:ext>
            </a:extLst>
          </p:cNvPr>
          <p:cNvSpPr txBox="1"/>
          <p:nvPr/>
        </p:nvSpPr>
        <p:spPr>
          <a:xfrm>
            <a:off x="4999587" y="1902399"/>
            <a:ext cx="1057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err="1">
                <a:solidFill>
                  <a:schemeClr val="tx1"/>
                </a:solidFill>
              </a:rPr>
              <a:t>Wp</a:t>
            </a:r>
            <a:r>
              <a:rPr lang="vi-VN" sz="1100">
                <a:solidFill>
                  <a:schemeClr val="tx1"/>
                </a:solidFill>
              </a:rPr>
              <a:t> = 600nm</a:t>
            </a:r>
          </a:p>
          <a:p>
            <a:r>
              <a:rPr lang="vi-VN" sz="1100" err="1">
                <a:solidFill>
                  <a:schemeClr val="tx1"/>
                </a:solidFill>
              </a:rPr>
              <a:t>FingerP</a:t>
            </a:r>
            <a:r>
              <a:rPr lang="vi-VN" sz="1100">
                <a:solidFill>
                  <a:schemeClr val="tx1"/>
                </a:solidFill>
              </a:rPr>
              <a:t> = 2</a:t>
            </a:r>
          </a:p>
          <a:p>
            <a:r>
              <a:rPr lang="vi-VN" sz="1100" err="1">
                <a:solidFill>
                  <a:schemeClr val="tx1"/>
                </a:solidFill>
              </a:rPr>
              <a:t>Wn</a:t>
            </a:r>
            <a:r>
              <a:rPr lang="vi-VN" sz="1100">
                <a:solidFill>
                  <a:schemeClr val="tx1"/>
                </a:solidFill>
              </a:rPr>
              <a:t> = 200n</a:t>
            </a:r>
          </a:p>
          <a:p>
            <a:r>
              <a:rPr lang="vi-VN" sz="1100" err="1">
                <a:solidFill>
                  <a:schemeClr val="tx1"/>
                </a:solidFill>
              </a:rPr>
              <a:t>FingerN</a:t>
            </a:r>
            <a:r>
              <a:rPr lang="vi-VN" sz="1100">
                <a:solidFill>
                  <a:schemeClr val="tx1"/>
                </a:solidFill>
              </a:rPr>
              <a:t> = 2</a:t>
            </a:r>
          </a:p>
        </p:txBody>
      </p:sp>
      <p:sp>
        <p:nvSpPr>
          <p:cNvPr id="14" name="Hộp Văn bản 11">
            <a:extLst>
              <a:ext uri="{FF2B5EF4-FFF2-40B4-BE49-F238E27FC236}">
                <a16:creationId xmlns:a16="http://schemas.microsoft.com/office/drawing/2014/main" id="{290D1055-01BB-C1ED-2041-4B9F571EA9C6}"/>
              </a:ext>
            </a:extLst>
          </p:cNvPr>
          <p:cNvSpPr txBox="1"/>
          <p:nvPr/>
        </p:nvSpPr>
        <p:spPr>
          <a:xfrm>
            <a:off x="4999586" y="2692934"/>
            <a:ext cx="1057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err="1">
                <a:solidFill>
                  <a:schemeClr val="tx1"/>
                </a:solidFill>
              </a:rPr>
              <a:t>Wp</a:t>
            </a:r>
            <a:r>
              <a:rPr lang="vi-VN" sz="1100">
                <a:solidFill>
                  <a:schemeClr val="tx1"/>
                </a:solidFill>
              </a:rPr>
              <a:t> = 600nm</a:t>
            </a:r>
          </a:p>
          <a:p>
            <a:r>
              <a:rPr lang="vi-VN" sz="1100" err="1">
                <a:solidFill>
                  <a:schemeClr val="tx1"/>
                </a:solidFill>
              </a:rPr>
              <a:t>FingerP</a:t>
            </a:r>
            <a:r>
              <a:rPr lang="vi-VN" sz="1100">
                <a:solidFill>
                  <a:schemeClr val="tx1"/>
                </a:solidFill>
              </a:rPr>
              <a:t> = 6</a:t>
            </a:r>
          </a:p>
          <a:p>
            <a:r>
              <a:rPr lang="vi-VN" sz="1100" err="1">
                <a:solidFill>
                  <a:schemeClr val="tx1"/>
                </a:solidFill>
              </a:rPr>
              <a:t>Wn</a:t>
            </a:r>
            <a:r>
              <a:rPr lang="vi-VN" sz="1100">
                <a:solidFill>
                  <a:schemeClr val="tx1"/>
                </a:solidFill>
              </a:rPr>
              <a:t> = 200n</a:t>
            </a:r>
          </a:p>
          <a:p>
            <a:r>
              <a:rPr lang="vi-VN" sz="1100" err="1">
                <a:solidFill>
                  <a:schemeClr val="tx1"/>
                </a:solidFill>
              </a:rPr>
              <a:t>FingerN</a:t>
            </a:r>
            <a:r>
              <a:rPr lang="vi-VN" sz="1100">
                <a:solidFill>
                  <a:schemeClr val="tx1"/>
                </a:solidFill>
              </a:rPr>
              <a:t> = 6</a:t>
            </a:r>
          </a:p>
        </p:txBody>
      </p:sp>
      <p:sp>
        <p:nvSpPr>
          <p:cNvPr id="15" name="Hộp Văn bản 12">
            <a:extLst>
              <a:ext uri="{FF2B5EF4-FFF2-40B4-BE49-F238E27FC236}">
                <a16:creationId xmlns:a16="http://schemas.microsoft.com/office/drawing/2014/main" id="{B783BFA7-6943-AB8D-BA74-F43F7A2530BB}"/>
              </a:ext>
            </a:extLst>
          </p:cNvPr>
          <p:cNvSpPr txBox="1"/>
          <p:nvPr/>
        </p:nvSpPr>
        <p:spPr>
          <a:xfrm>
            <a:off x="4999586" y="3454728"/>
            <a:ext cx="1057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err="1">
                <a:solidFill>
                  <a:schemeClr val="tx1"/>
                </a:solidFill>
              </a:rPr>
              <a:t>Wp</a:t>
            </a:r>
            <a:r>
              <a:rPr lang="vi-VN" sz="1100">
                <a:solidFill>
                  <a:schemeClr val="tx1"/>
                </a:solidFill>
              </a:rPr>
              <a:t> = 600nm</a:t>
            </a:r>
          </a:p>
          <a:p>
            <a:r>
              <a:rPr lang="vi-VN" sz="1100" err="1">
                <a:solidFill>
                  <a:schemeClr val="tx1"/>
                </a:solidFill>
              </a:rPr>
              <a:t>FingerP</a:t>
            </a:r>
            <a:r>
              <a:rPr lang="vi-VN" sz="1100">
                <a:solidFill>
                  <a:schemeClr val="tx1"/>
                </a:solidFill>
              </a:rPr>
              <a:t> = 4</a:t>
            </a:r>
          </a:p>
          <a:p>
            <a:r>
              <a:rPr lang="vi-VN" sz="1100" err="1">
                <a:solidFill>
                  <a:schemeClr val="tx1"/>
                </a:solidFill>
              </a:rPr>
              <a:t>Wn</a:t>
            </a:r>
            <a:r>
              <a:rPr lang="vi-VN" sz="1100">
                <a:solidFill>
                  <a:schemeClr val="tx1"/>
                </a:solidFill>
              </a:rPr>
              <a:t> = 200n</a:t>
            </a:r>
          </a:p>
          <a:p>
            <a:r>
              <a:rPr lang="vi-VN" sz="1100" err="1">
                <a:solidFill>
                  <a:schemeClr val="tx1"/>
                </a:solidFill>
              </a:rPr>
              <a:t>FingerN</a:t>
            </a:r>
            <a:r>
              <a:rPr lang="vi-VN" sz="1100">
                <a:solidFill>
                  <a:schemeClr val="tx1"/>
                </a:solidFill>
              </a:rPr>
              <a:t> = 4</a:t>
            </a:r>
          </a:p>
        </p:txBody>
      </p:sp>
      <p:sp>
        <p:nvSpPr>
          <p:cNvPr id="16" name="Hộp Văn bản 13">
            <a:extLst>
              <a:ext uri="{FF2B5EF4-FFF2-40B4-BE49-F238E27FC236}">
                <a16:creationId xmlns:a16="http://schemas.microsoft.com/office/drawing/2014/main" id="{7363F004-6C86-84DA-2C07-69B4EDD7135C}"/>
              </a:ext>
            </a:extLst>
          </p:cNvPr>
          <p:cNvSpPr txBox="1"/>
          <p:nvPr/>
        </p:nvSpPr>
        <p:spPr>
          <a:xfrm>
            <a:off x="4999586" y="4216522"/>
            <a:ext cx="1057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err="1">
                <a:solidFill>
                  <a:schemeClr val="tx1"/>
                </a:solidFill>
              </a:rPr>
              <a:t>Wp</a:t>
            </a:r>
            <a:r>
              <a:rPr lang="vi-VN" sz="1100">
                <a:solidFill>
                  <a:schemeClr val="tx1"/>
                </a:solidFill>
              </a:rPr>
              <a:t> = 600nm</a:t>
            </a:r>
          </a:p>
          <a:p>
            <a:r>
              <a:rPr lang="vi-VN" sz="1100" err="1">
                <a:solidFill>
                  <a:schemeClr val="tx1"/>
                </a:solidFill>
              </a:rPr>
              <a:t>FingerP</a:t>
            </a:r>
            <a:r>
              <a:rPr lang="vi-VN" sz="1100">
                <a:solidFill>
                  <a:schemeClr val="tx1"/>
                </a:solidFill>
              </a:rPr>
              <a:t> = 10</a:t>
            </a:r>
          </a:p>
          <a:p>
            <a:r>
              <a:rPr lang="vi-VN" sz="1100" err="1">
                <a:solidFill>
                  <a:schemeClr val="tx1"/>
                </a:solidFill>
              </a:rPr>
              <a:t>Wn</a:t>
            </a:r>
            <a:r>
              <a:rPr lang="vi-VN" sz="1100">
                <a:solidFill>
                  <a:schemeClr val="tx1"/>
                </a:solidFill>
              </a:rPr>
              <a:t> = 200n</a:t>
            </a:r>
          </a:p>
          <a:p>
            <a:r>
              <a:rPr lang="vi-VN" sz="1100" err="1">
                <a:solidFill>
                  <a:schemeClr val="tx1"/>
                </a:solidFill>
              </a:rPr>
              <a:t>FingerN</a:t>
            </a:r>
            <a:r>
              <a:rPr lang="vi-VN" sz="1100">
                <a:solidFill>
                  <a:schemeClr val="tx1"/>
                </a:solidFill>
              </a:rPr>
              <a:t> = 10</a:t>
            </a:r>
          </a:p>
        </p:txBody>
      </p:sp>
      <p:sp>
        <p:nvSpPr>
          <p:cNvPr id="17" name="Hộp Văn bản 14">
            <a:extLst>
              <a:ext uri="{FF2B5EF4-FFF2-40B4-BE49-F238E27FC236}">
                <a16:creationId xmlns:a16="http://schemas.microsoft.com/office/drawing/2014/main" id="{029DE267-A99D-247F-2B2A-F47EB34E8DE6}"/>
              </a:ext>
            </a:extLst>
          </p:cNvPr>
          <p:cNvSpPr txBox="1"/>
          <p:nvPr/>
        </p:nvSpPr>
        <p:spPr>
          <a:xfrm>
            <a:off x="4999586" y="4949964"/>
            <a:ext cx="1057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err="1">
                <a:solidFill>
                  <a:schemeClr val="tx1"/>
                </a:solidFill>
              </a:rPr>
              <a:t>Wp</a:t>
            </a:r>
            <a:r>
              <a:rPr lang="vi-VN" sz="1100">
                <a:solidFill>
                  <a:schemeClr val="tx1"/>
                </a:solidFill>
              </a:rPr>
              <a:t> = 600nm</a:t>
            </a:r>
          </a:p>
          <a:p>
            <a:r>
              <a:rPr lang="vi-VN" sz="1100" err="1">
                <a:solidFill>
                  <a:schemeClr val="tx1"/>
                </a:solidFill>
              </a:rPr>
              <a:t>FingerP</a:t>
            </a:r>
            <a:r>
              <a:rPr lang="vi-VN" sz="1100">
                <a:solidFill>
                  <a:schemeClr val="tx1"/>
                </a:solidFill>
              </a:rPr>
              <a:t> = 10</a:t>
            </a:r>
          </a:p>
          <a:p>
            <a:r>
              <a:rPr lang="vi-VN" sz="1100" err="1">
                <a:solidFill>
                  <a:schemeClr val="tx1"/>
                </a:solidFill>
              </a:rPr>
              <a:t>Wn</a:t>
            </a:r>
            <a:r>
              <a:rPr lang="vi-VN" sz="1100">
                <a:solidFill>
                  <a:schemeClr val="tx1"/>
                </a:solidFill>
              </a:rPr>
              <a:t> = 200n</a:t>
            </a:r>
          </a:p>
          <a:p>
            <a:r>
              <a:rPr lang="vi-VN" sz="1100" err="1">
                <a:solidFill>
                  <a:schemeClr val="tx1"/>
                </a:solidFill>
              </a:rPr>
              <a:t>FingerN</a:t>
            </a:r>
            <a:r>
              <a:rPr lang="vi-VN" sz="1100">
                <a:solidFill>
                  <a:schemeClr val="tx1"/>
                </a:solidFill>
              </a:rPr>
              <a:t> = 10</a:t>
            </a:r>
          </a:p>
        </p:txBody>
      </p:sp>
      <p:sp>
        <p:nvSpPr>
          <p:cNvPr id="18" name="Hộp Văn bản 15">
            <a:extLst>
              <a:ext uri="{FF2B5EF4-FFF2-40B4-BE49-F238E27FC236}">
                <a16:creationId xmlns:a16="http://schemas.microsoft.com/office/drawing/2014/main" id="{37871F8E-4740-DD35-F90F-943FDD757433}"/>
              </a:ext>
            </a:extLst>
          </p:cNvPr>
          <p:cNvSpPr txBox="1"/>
          <p:nvPr/>
        </p:nvSpPr>
        <p:spPr>
          <a:xfrm>
            <a:off x="4999586" y="5657850"/>
            <a:ext cx="1057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err="1">
                <a:solidFill>
                  <a:schemeClr val="tx1"/>
                </a:solidFill>
              </a:rPr>
              <a:t>Wp</a:t>
            </a:r>
            <a:r>
              <a:rPr lang="vi-VN" sz="1100">
                <a:solidFill>
                  <a:schemeClr val="tx1"/>
                </a:solidFill>
              </a:rPr>
              <a:t> = 600nm</a:t>
            </a:r>
          </a:p>
          <a:p>
            <a:r>
              <a:rPr lang="vi-VN" sz="1100" err="1">
                <a:solidFill>
                  <a:schemeClr val="tx1"/>
                </a:solidFill>
              </a:rPr>
              <a:t>FingerP</a:t>
            </a:r>
            <a:r>
              <a:rPr lang="vi-VN" sz="1100">
                <a:solidFill>
                  <a:schemeClr val="tx1"/>
                </a:solidFill>
              </a:rPr>
              <a:t> = 10</a:t>
            </a:r>
          </a:p>
          <a:p>
            <a:r>
              <a:rPr lang="vi-VN" sz="1100" err="1">
                <a:solidFill>
                  <a:schemeClr val="tx1"/>
                </a:solidFill>
              </a:rPr>
              <a:t>Wn</a:t>
            </a:r>
            <a:r>
              <a:rPr lang="vi-VN" sz="1100">
                <a:solidFill>
                  <a:schemeClr val="tx1"/>
                </a:solidFill>
              </a:rPr>
              <a:t> = 200n</a:t>
            </a:r>
          </a:p>
          <a:p>
            <a:r>
              <a:rPr lang="vi-VN" sz="1100" err="1">
                <a:solidFill>
                  <a:schemeClr val="tx1"/>
                </a:solidFill>
              </a:rPr>
              <a:t>FingerN</a:t>
            </a:r>
            <a:r>
              <a:rPr lang="vi-VN" sz="1100">
                <a:solidFill>
                  <a:schemeClr val="tx1"/>
                </a:solidFill>
              </a:rPr>
              <a:t> = 10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D42601F-53F9-56A2-EF77-121D4688A18C}"/>
              </a:ext>
            </a:extLst>
          </p:cNvPr>
          <p:cNvCxnSpPr>
            <a:cxnSpLocks/>
          </p:cNvCxnSpPr>
          <p:nvPr/>
        </p:nvCxnSpPr>
        <p:spPr>
          <a:xfrm flipH="1">
            <a:off x="4219575" y="1304925"/>
            <a:ext cx="777785" cy="952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8A04DDF-73DF-17E3-69A4-6E1E9882D61E}"/>
              </a:ext>
            </a:extLst>
          </p:cNvPr>
          <p:cNvCxnSpPr>
            <a:cxnSpLocks/>
          </p:cNvCxnSpPr>
          <p:nvPr/>
        </p:nvCxnSpPr>
        <p:spPr>
          <a:xfrm flipH="1">
            <a:off x="4219575" y="2055829"/>
            <a:ext cx="848462" cy="1120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F36D652-C22C-CDFE-C795-6CE552474A5E}"/>
              </a:ext>
            </a:extLst>
          </p:cNvPr>
          <p:cNvCxnSpPr>
            <a:cxnSpLocks/>
          </p:cNvCxnSpPr>
          <p:nvPr/>
        </p:nvCxnSpPr>
        <p:spPr>
          <a:xfrm flipH="1">
            <a:off x="4219575" y="2863759"/>
            <a:ext cx="796855" cy="772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1397CA-203E-4CDD-B59F-A515B9FC2932}"/>
              </a:ext>
            </a:extLst>
          </p:cNvPr>
          <p:cNvCxnSpPr>
            <a:cxnSpLocks/>
          </p:cNvCxnSpPr>
          <p:nvPr/>
        </p:nvCxnSpPr>
        <p:spPr>
          <a:xfrm flipH="1">
            <a:off x="4184740" y="3612675"/>
            <a:ext cx="883297" cy="744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C6A793F-DF0C-B7EC-5A15-E0C7B4BF67CB}"/>
              </a:ext>
            </a:extLst>
          </p:cNvPr>
          <p:cNvCxnSpPr>
            <a:cxnSpLocks/>
          </p:cNvCxnSpPr>
          <p:nvPr/>
        </p:nvCxnSpPr>
        <p:spPr>
          <a:xfrm flipH="1">
            <a:off x="4184740" y="4342709"/>
            <a:ext cx="883297" cy="1121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F06A318-BDDC-B749-F23C-1A064E2A65AC}"/>
              </a:ext>
            </a:extLst>
          </p:cNvPr>
          <p:cNvCxnSpPr>
            <a:cxnSpLocks/>
          </p:cNvCxnSpPr>
          <p:nvPr/>
        </p:nvCxnSpPr>
        <p:spPr>
          <a:xfrm flipH="1">
            <a:off x="4216685" y="5059984"/>
            <a:ext cx="851352" cy="1197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3AAEA39-14AA-C6A0-E263-5913FBE804B9}"/>
              </a:ext>
            </a:extLst>
          </p:cNvPr>
          <p:cNvCxnSpPr>
            <a:cxnSpLocks/>
          </p:cNvCxnSpPr>
          <p:nvPr/>
        </p:nvCxnSpPr>
        <p:spPr>
          <a:xfrm flipH="1">
            <a:off x="4222880" y="5829425"/>
            <a:ext cx="845157" cy="752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18EEF089-CE41-1B4B-D900-A5E45B67B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9793" y="1593426"/>
            <a:ext cx="5922092" cy="418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4296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131AEA93-F12F-1A29-215F-216254EB2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9F761198-00A8-9B4B-FD50-253289E1D454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47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D78AAF10-843C-C621-2CF2-EB3109BD5A7F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Thermometer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Encoder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Nhóm 17">
            <a:extLst>
              <a:ext uri="{FF2B5EF4-FFF2-40B4-BE49-F238E27FC236}">
                <a16:creationId xmlns:a16="http://schemas.microsoft.com/office/drawing/2014/main" id="{AA6101ED-BAB2-6D92-813F-01BDEA22C8D7}"/>
              </a:ext>
            </a:extLst>
          </p:cNvPr>
          <p:cNvGrpSpPr/>
          <p:nvPr/>
        </p:nvGrpSpPr>
        <p:grpSpPr>
          <a:xfrm>
            <a:off x="0" y="1190625"/>
            <a:ext cx="12192000" cy="5075236"/>
            <a:chOff x="0" y="865949"/>
            <a:chExt cx="12192000" cy="5126102"/>
          </a:xfrm>
        </p:grpSpPr>
        <p:pic>
          <p:nvPicPr>
            <p:cNvPr id="7" name="Hình ảnh 3">
              <a:extLst>
                <a:ext uri="{FF2B5EF4-FFF2-40B4-BE49-F238E27FC236}">
                  <a16:creationId xmlns:a16="http://schemas.microsoft.com/office/drawing/2014/main" id="{6EDF6922-1C49-EB05-D3A0-5464F727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865949"/>
              <a:ext cx="12192000" cy="5126102"/>
            </a:xfrm>
            <a:prstGeom prst="rect">
              <a:avLst/>
            </a:prstGeom>
          </p:spPr>
        </p:pic>
        <p:sp>
          <p:nvSpPr>
            <p:cNvPr id="8" name="Hình chữ nhật 1">
              <a:extLst>
                <a:ext uri="{FF2B5EF4-FFF2-40B4-BE49-F238E27FC236}">
                  <a16:creationId xmlns:a16="http://schemas.microsoft.com/office/drawing/2014/main" id="{23996944-9979-A322-38BF-635AAD115F4D}"/>
                </a:ext>
              </a:extLst>
            </p:cNvPr>
            <p:cNvSpPr/>
            <p:nvPr/>
          </p:nvSpPr>
          <p:spPr>
            <a:xfrm>
              <a:off x="0" y="1149350"/>
              <a:ext cx="577850" cy="12763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9" name="Hộp Văn bản 2">
              <a:extLst>
                <a:ext uri="{FF2B5EF4-FFF2-40B4-BE49-F238E27FC236}">
                  <a16:creationId xmlns:a16="http://schemas.microsoft.com/office/drawing/2014/main" id="{B73CE344-61A2-FF75-70F7-1F2C2B84233F}"/>
                </a:ext>
              </a:extLst>
            </p:cNvPr>
            <p:cNvSpPr txBox="1"/>
            <p:nvPr/>
          </p:nvSpPr>
          <p:spPr>
            <a:xfrm>
              <a:off x="695325" y="1165225"/>
              <a:ext cx="419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A</a:t>
              </a:r>
              <a:endParaRPr lang="vi-VN" sz="1600"/>
            </a:p>
          </p:txBody>
        </p:sp>
        <p:sp>
          <p:nvSpPr>
            <p:cNvPr id="10" name="Hình chữ nhật 5">
              <a:extLst>
                <a:ext uri="{FF2B5EF4-FFF2-40B4-BE49-F238E27FC236}">
                  <a16:creationId xmlns:a16="http://schemas.microsoft.com/office/drawing/2014/main" id="{8DDF860C-CCA3-1B71-7C7D-4C7BC66F14C6}"/>
                </a:ext>
              </a:extLst>
            </p:cNvPr>
            <p:cNvSpPr/>
            <p:nvPr/>
          </p:nvSpPr>
          <p:spPr>
            <a:xfrm>
              <a:off x="0" y="2540000"/>
              <a:ext cx="577850" cy="30607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1" name="Hộp Văn bản 6">
              <a:extLst>
                <a:ext uri="{FF2B5EF4-FFF2-40B4-BE49-F238E27FC236}">
                  <a16:creationId xmlns:a16="http://schemas.microsoft.com/office/drawing/2014/main" id="{D61145B1-2CA4-21EC-CEE5-1F18D2E48F99}"/>
                </a:ext>
              </a:extLst>
            </p:cNvPr>
            <p:cNvSpPr txBox="1"/>
            <p:nvPr/>
          </p:nvSpPr>
          <p:spPr>
            <a:xfrm>
              <a:off x="577850" y="4847305"/>
              <a:ext cx="12001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T1</a:t>
              </a:r>
              <a:endParaRPr lang="vi-VN" sz="1600"/>
            </a:p>
          </p:txBody>
        </p:sp>
        <p:sp>
          <p:nvSpPr>
            <p:cNvPr id="12" name="Hộp Văn bản 8">
              <a:extLst>
                <a:ext uri="{FF2B5EF4-FFF2-40B4-BE49-F238E27FC236}">
                  <a16:creationId xmlns:a16="http://schemas.microsoft.com/office/drawing/2014/main" id="{54DE705D-67A1-D390-E570-8DF85F7C51FA}"/>
                </a:ext>
              </a:extLst>
            </p:cNvPr>
            <p:cNvSpPr txBox="1"/>
            <p:nvPr/>
          </p:nvSpPr>
          <p:spPr>
            <a:xfrm>
              <a:off x="695325" y="1633778"/>
              <a:ext cx="419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B</a:t>
              </a:r>
              <a:endParaRPr lang="vi-VN" sz="1600"/>
            </a:p>
          </p:txBody>
        </p:sp>
        <p:sp>
          <p:nvSpPr>
            <p:cNvPr id="13" name="Hộp Văn bản 9">
              <a:extLst>
                <a:ext uri="{FF2B5EF4-FFF2-40B4-BE49-F238E27FC236}">
                  <a16:creationId xmlns:a16="http://schemas.microsoft.com/office/drawing/2014/main" id="{C7F9EB3A-6BB1-83E6-FC33-130B2E263573}"/>
                </a:ext>
              </a:extLst>
            </p:cNvPr>
            <p:cNvSpPr txBox="1"/>
            <p:nvPr/>
          </p:nvSpPr>
          <p:spPr>
            <a:xfrm>
              <a:off x="695325" y="2090302"/>
              <a:ext cx="419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C</a:t>
              </a:r>
              <a:endParaRPr lang="vi-VN" sz="1600"/>
            </a:p>
          </p:txBody>
        </p:sp>
        <p:sp>
          <p:nvSpPr>
            <p:cNvPr id="14" name="Hộp Văn bản 10">
              <a:extLst>
                <a:ext uri="{FF2B5EF4-FFF2-40B4-BE49-F238E27FC236}">
                  <a16:creationId xmlns:a16="http://schemas.microsoft.com/office/drawing/2014/main" id="{0730503D-17A0-80E0-B9E6-DF01BD1C7399}"/>
                </a:ext>
              </a:extLst>
            </p:cNvPr>
            <p:cNvSpPr txBox="1"/>
            <p:nvPr/>
          </p:nvSpPr>
          <p:spPr>
            <a:xfrm>
              <a:off x="577850" y="5303829"/>
              <a:ext cx="1200150" cy="341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T1</a:t>
              </a:r>
              <a:endParaRPr lang="vi-VN" sz="1600"/>
            </a:p>
          </p:txBody>
        </p:sp>
        <p:sp>
          <p:nvSpPr>
            <p:cNvPr id="15" name="Hộp Văn bản 11">
              <a:extLst>
                <a:ext uri="{FF2B5EF4-FFF2-40B4-BE49-F238E27FC236}">
                  <a16:creationId xmlns:a16="http://schemas.microsoft.com/office/drawing/2014/main" id="{14E2DE93-303F-B6A4-536B-199AC0D810F9}"/>
                </a:ext>
              </a:extLst>
            </p:cNvPr>
            <p:cNvSpPr txBox="1"/>
            <p:nvPr/>
          </p:nvSpPr>
          <p:spPr>
            <a:xfrm>
              <a:off x="577850" y="4857076"/>
              <a:ext cx="1200150" cy="341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T2</a:t>
              </a:r>
              <a:endParaRPr lang="vi-VN" sz="1600"/>
            </a:p>
          </p:txBody>
        </p:sp>
        <p:sp>
          <p:nvSpPr>
            <p:cNvPr id="16" name="Hộp Văn bản 12">
              <a:extLst>
                <a:ext uri="{FF2B5EF4-FFF2-40B4-BE49-F238E27FC236}">
                  <a16:creationId xmlns:a16="http://schemas.microsoft.com/office/drawing/2014/main" id="{EE89642D-23A9-9F6F-5F4B-4B118C6ABED3}"/>
                </a:ext>
              </a:extLst>
            </p:cNvPr>
            <p:cNvSpPr txBox="1"/>
            <p:nvPr/>
          </p:nvSpPr>
          <p:spPr>
            <a:xfrm>
              <a:off x="577850" y="4380667"/>
              <a:ext cx="1200150" cy="341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T3</a:t>
              </a:r>
              <a:endParaRPr lang="vi-VN" sz="1600"/>
            </a:p>
          </p:txBody>
        </p:sp>
        <p:sp>
          <p:nvSpPr>
            <p:cNvPr id="17" name="Hộp Văn bản 13">
              <a:extLst>
                <a:ext uri="{FF2B5EF4-FFF2-40B4-BE49-F238E27FC236}">
                  <a16:creationId xmlns:a16="http://schemas.microsoft.com/office/drawing/2014/main" id="{3142AEF4-1514-8CDB-7302-38C2B202A821}"/>
                </a:ext>
              </a:extLst>
            </p:cNvPr>
            <p:cNvSpPr txBox="1"/>
            <p:nvPr/>
          </p:nvSpPr>
          <p:spPr>
            <a:xfrm>
              <a:off x="577850" y="3934332"/>
              <a:ext cx="1200150" cy="341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T4</a:t>
              </a:r>
              <a:endParaRPr lang="vi-VN" sz="1600"/>
            </a:p>
          </p:txBody>
        </p:sp>
        <p:sp>
          <p:nvSpPr>
            <p:cNvPr id="18" name="Hộp Văn bản 14">
              <a:extLst>
                <a:ext uri="{FF2B5EF4-FFF2-40B4-BE49-F238E27FC236}">
                  <a16:creationId xmlns:a16="http://schemas.microsoft.com/office/drawing/2014/main" id="{FD7BF982-54FC-5DFF-3CB0-3D0F0870B5B4}"/>
                </a:ext>
              </a:extLst>
            </p:cNvPr>
            <p:cNvSpPr txBox="1"/>
            <p:nvPr/>
          </p:nvSpPr>
          <p:spPr>
            <a:xfrm>
              <a:off x="577850" y="3039640"/>
              <a:ext cx="1200150" cy="341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T6</a:t>
              </a:r>
              <a:endParaRPr lang="vi-VN" sz="1600"/>
            </a:p>
          </p:txBody>
        </p:sp>
        <p:sp>
          <p:nvSpPr>
            <p:cNvPr id="19" name="Hộp Văn bản 15">
              <a:extLst>
                <a:ext uri="{FF2B5EF4-FFF2-40B4-BE49-F238E27FC236}">
                  <a16:creationId xmlns:a16="http://schemas.microsoft.com/office/drawing/2014/main" id="{A2639265-B5F7-03C4-647A-A64A22AA6B51}"/>
                </a:ext>
              </a:extLst>
            </p:cNvPr>
            <p:cNvSpPr txBox="1"/>
            <p:nvPr/>
          </p:nvSpPr>
          <p:spPr>
            <a:xfrm>
              <a:off x="577850" y="3493008"/>
              <a:ext cx="1200150" cy="341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T5</a:t>
              </a:r>
              <a:endParaRPr lang="vi-VN" sz="1600"/>
            </a:p>
          </p:txBody>
        </p:sp>
        <p:sp>
          <p:nvSpPr>
            <p:cNvPr id="20" name="Hộp Văn bản 16">
              <a:extLst>
                <a:ext uri="{FF2B5EF4-FFF2-40B4-BE49-F238E27FC236}">
                  <a16:creationId xmlns:a16="http://schemas.microsoft.com/office/drawing/2014/main" id="{76861331-7B6F-B6AA-10D4-17CF175EA8FA}"/>
                </a:ext>
              </a:extLst>
            </p:cNvPr>
            <p:cNvSpPr txBox="1"/>
            <p:nvPr/>
          </p:nvSpPr>
          <p:spPr>
            <a:xfrm>
              <a:off x="581025" y="2597572"/>
              <a:ext cx="1200150" cy="341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T7</a:t>
              </a:r>
              <a:endParaRPr lang="vi-VN" sz="1600"/>
            </a:p>
          </p:txBody>
        </p:sp>
      </p:grpSp>
    </p:spTree>
    <p:extLst>
      <p:ext uri="{BB962C8B-B14F-4D97-AF65-F5344CB8AC3E}">
        <p14:creationId xmlns:p14="http://schemas.microsoft.com/office/powerpoint/2010/main" val="41198512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736FCB15-6AB4-06C6-DE1B-7F00C1CB3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C679B66-0672-EB37-EBAC-4A9F85DD8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90346"/>
            <a:ext cx="6096000" cy="3259248"/>
          </a:xfrm>
          <a:prstGeom prst="rect">
            <a:avLst/>
          </a:prstGeom>
        </p:spPr>
      </p:pic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58125047-196C-1DC6-ED01-3A67F9ABBE53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48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89ECFCB6-777A-F53F-0F97-C980F363BD5E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Local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Decoder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Hình ảnh 3">
            <a:extLst>
              <a:ext uri="{FF2B5EF4-FFF2-40B4-BE49-F238E27FC236}">
                <a16:creationId xmlns:a16="http://schemas.microsoft.com/office/drawing/2014/main" id="{03BA1D0D-1EED-4CFA-44C5-A12E7D17A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85416"/>
            <a:ext cx="6301936" cy="198312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6E3A7A3-C793-F16F-8F78-B8CEAFC059DD}"/>
              </a:ext>
            </a:extLst>
          </p:cNvPr>
          <p:cNvGrpSpPr/>
          <p:nvPr/>
        </p:nvGrpSpPr>
        <p:grpSpPr>
          <a:xfrm>
            <a:off x="893762" y="3505200"/>
            <a:ext cx="4350638" cy="2928261"/>
            <a:chOff x="893762" y="3505200"/>
            <a:chExt cx="4350638" cy="2928261"/>
          </a:xfrm>
        </p:grpSpPr>
        <p:sp>
          <p:nvSpPr>
            <p:cNvPr id="21" name="Hộp Văn bản 5">
              <a:extLst>
                <a:ext uri="{FF2B5EF4-FFF2-40B4-BE49-F238E27FC236}">
                  <a16:creationId xmlns:a16="http://schemas.microsoft.com/office/drawing/2014/main" id="{E39647CE-1192-DDA5-63E6-BB53C3BCA9BC}"/>
                </a:ext>
              </a:extLst>
            </p:cNvPr>
            <p:cNvSpPr txBox="1"/>
            <p:nvPr/>
          </p:nvSpPr>
          <p:spPr>
            <a:xfrm>
              <a:off x="893762" y="4260593"/>
              <a:ext cx="100002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100" err="1">
                  <a:solidFill>
                    <a:schemeClr val="bg1"/>
                  </a:solidFill>
                </a:rPr>
                <a:t>Wp</a:t>
              </a:r>
              <a:r>
                <a:rPr lang="vi-VN" sz="1100">
                  <a:solidFill>
                    <a:schemeClr val="bg1"/>
                  </a:solidFill>
                </a:rPr>
                <a:t> = 600nm</a:t>
              </a:r>
            </a:p>
            <a:p>
              <a:r>
                <a:rPr lang="vi-VN" sz="1100" err="1">
                  <a:solidFill>
                    <a:schemeClr val="bg1"/>
                  </a:solidFill>
                </a:rPr>
                <a:t>FingerP</a:t>
              </a:r>
              <a:r>
                <a:rPr lang="vi-VN" sz="1100">
                  <a:solidFill>
                    <a:schemeClr val="bg1"/>
                  </a:solidFill>
                </a:rPr>
                <a:t> = 8</a:t>
              </a:r>
            </a:p>
            <a:p>
              <a:r>
                <a:rPr lang="vi-VN" sz="1100" err="1">
                  <a:solidFill>
                    <a:schemeClr val="bg1"/>
                  </a:solidFill>
                </a:rPr>
                <a:t>Wn</a:t>
              </a:r>
              <a:r>
                <a:rPr lang="vi-VN" sz="1100">
                  <a:solidFill>
                    <a:schemeClr val="bg1"/>
                  </a:solidFill>
                </a:rPr>
                <a:t> = 200n</a:t>
              </a:r>
            </a:p>
            <a:p>
              <a:r>
                <a:rPr lang="vi-VN" sz="1100" err="1">
                  <a:solidFill>
                    <a:schemeClr val="bg1"/>
                  </a:solidFill>
                </a:rPr>
                <a:t>FingerN</a:t>
              </a:r>
              <a:r>
                <a:rPr lang="vi-VN" sz="1100">
                  <a:solidFill>
                    <a:schemeClr val="bg1"/>
                  </a:solidFill>
                </a:rPr>
                <a:t> = 8</a:t>
              </a:r>
            </a:p>
          </p:txBody>
        </p:sp>
        <p:sp>
          <p:nvSpPr>
            <p:cNvPr id="22" name="Hộp Văn bản 7">
              <a:extLst>
                <a:ext uri="{FF2B5EF4-FFF2-40B4-BE49-F238E27FC236}">
                  <a16:creationId xmlns:a16="http://schemas.microsoft.com/office/drawing/2014/main" id="{A3F50A84-0A51-738D-B7F9-6A9661ED86D2}"/>
                </a:ext>
              </a:extLst>
            </p:cNvPr>
            <p:cNvSpPr txBox="1"/>
            <p:nvPr/>
          </p:nvSpPr>
          <p:spPr>
            <a:xfrm>
              <a:off x="2392749" y="5664020"/>
              <a:ext cx="100002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100" err="1">
                  <a:solidFill>
                    <a:schemeClr val="bg1"/>
                  </a:solidFill>
                </a:rPr>
                <a:t>Wp</a:t>
              </a:r>
              <a:r>
                <a:rPr lang="vi-VN" sz="1100">
                  <a:solidFill>
                    <a:schemeClr val="bg1"/>
                  </a:solidFill>
                </a:rPr>
                <a:t> = 600nm</a:t>
              </a:r>
            </a:p>
            <a:p>
              <a:r>
                <a:rPr lang="vi-VN" sz="1100" err="1">
                  <a:solidFill>
                    <a:schemeClr val="bg1"/>
                  </a:solidFill>
                </a:rPr>
                <a:t>FingerP</a:t>
              </a:r>
              <a:r>
                <a:rPr lang="vi-VN" sz="1100">
                  <a:solidFill>
                    <a:schemeClr val="bg1"/>
                  </a:solidFill>
                </a:rPr>
                <a:t> = 8</a:t>
              </a:r>
            </a:p>
            <a:p>
              <a:r>
                <a:rPr lang="vi-VN" sz="1100" err="1">
                  <a:solidFill>
                    <a:schemeClr val="bg1"/>
                  </a:solidFill>
                </a:rPr>
                <a:t>Wn</a:t>
              </a:r>
              <a:r>
                <a:rPr lang="vi-VN" sz="1100">
                  <a:solidFill>
                    <a:schemeClr val="bg1"/>
                  </a:solidFill>
                </a:rPr>
                <a:t> = 200n</a:t>
              </a:r>
            </a:p>
            <a:p>
              <a:r>
                <a:rPr lang="vi-VN" sz="1100" err="1">
                  <a:solidFill>
                    <a:schemeClr val="bg1"/>
                  </a:solidFill>
                </a:rPr>
                <a:t>FingerN</a:t>
              </a:r>
              <a:r>
                <a:rPr lang="vi-VN" sz="1100">
                  <a:solidFill>
                    <a:schemeClr val="bg1"/>
                  </a:solidFill>
                </a:rPr>
                <a:t> = 8</a:t>
              </a:r>
            </a:p>
          </p:txBody>
        </p:sp>
        <p:sp>
          <p:nvSpPr>
            <p:cNvPr id="23" name="Hộp Văn bản 8">
              <a:extLst>
                <a:ext uri="{FF2B5EF4-FFF2-40B4-BE49-F238E27FC236}">
                  <a16:creationId xmlns:a16="http://schemas.microsoft.com/office/drawing/2014/main" id="{0DEFBE34-B5AC-588D-6503-14B2A0E39E7C}"/>
                </a:ext>
              </a:extLst>
            </p:cNvPr>
            <p:cNvSpPr txBox="1"/>
            <p:nvPr/>
          </p:nvSpPr>
          <p:spPr>
            <a:xfrm>
              <a:off x="4244374" y="5482057"/>
              <a:ext cx="100002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100" err="1">
                  <a:solidFill>
                    <a:schemeClr val="bg1"/>
                  </a:solidFill>
                </a:rPr>
                <a:t>Wp</a:t>
              </a:r>
              <a:r>
                <a:rPr lang="vi-VN" sz="1100">
                  <a:solidFill>
                    <a:schemeClr val="bg1"/>
                  </a:solidFill>
                </a:rPr>
                <a:t> = 600nm</a:t>
              </a:r>
            </a:p>
            <a:p>
              <a:r>
                <a:rPr lang="vi-VN" sz="1100" err="1">
                  <a:solidFill>
                    <a:schemeClr val="bg1"/>
                  </a:solidFill>
                </a:rPr>
                <a:t>FingerP</a:t>
              </a:r>
              <a:r>
                <a:rPr lang="vi-VN" sz="1100">
                  <a:solidFill>
                    <a:schemeClr val="bg1"/>
                  </a:solidFill>
                </a:rPr>
                <a:t> = 16</a:t>
              </a:r>
            </a:p>
            <a:p>
              <a:r>
                <a:rPr lang="vi-VN" sz="1100" err="1">
                  <a:solidFill>
                    <a:schemeClr val="bg1"/>
                  </a:solidFill>
                </a:rPr>
                <a:t>Wn</a:t>
              </a:r>
              <a:r>
                <a:rPr lang="vi-VN" sz="1100">
                  <a:solidFill>
                    <a:schemeClr val="bg1"/>
                  </a:solidFill>
                </a:rPr>
                <a:t> = 200n</a:t>
              </a:r>
            </a:p>
            <a:p>
              <a:r>
                <a:rPr lang="vi-VN" sz="1100" err="1">
                  <a:solidFill>
                    <a:schemeClr val="bg1"/>
                  </a:solidFill>
                </a:rPr>
                <a:t>FingerN</a:t>
              </a:r>
              <a:r>
                <a:rPr lang="vi-VN" sz="1100">
                  <a:solidFill>
                    <a:schemeClr val="bg1"/>
                  </a:solidFill>
                </a:rPr>
                <a:t> = 16</a:t>
              </a:r>
            </a:p>
          </p:txBody>
        </p:sp>
        <p:sp>
          <p:nvSpPr>
            <p:cNvPr id="24" name="Hộp Văn bản 9">
              <a:extLst>
                <a:ext uri="{FF2B5EF4-FFF2-40B4-BE49-F238E27FC236}">
                  <a16:creationId xmlns:a16="http://schemas.microsoft.com/office/drawing/2014/main" id="{464385D0-D04B-7A3D-29B1-D56CDD6FD719}"/>
                </a:ext>
              </a:extLst>
            </p:cNvPr>
            <p:cNvSpPr txBox="1"/>
            <p:nvPr/>
          </p:nvSpPr>
          <p:spPr>
            <a:xfrm>
              <a:off x="3744361" y="3505200"/>
              <a:ext cx="100002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100" err="1">
                  <a:solidFill>
                    <a:schemeClr val="bg1"/>
                  </a:solidFill>
                </a:rPr>
                <a:t>Wp</a:t>
              </a:r>
              <a:r>
                <a:rPr lang="vi-VN" sz="1100">
                  <a:solidFill>
                    <a:schemeClr val="bg1"/>
                  </a:solidFill>
                </a:rPr>
                <a:t> = 600nm</a:t>
              </a:r>
            </a:p>
            <a:p>
              <a:r>
                <a:rPr lang="vi-VN" sz="1100" err="1">
                  <a:solidFill>
                    <a:schemeClr val="bg1"/>
                  </a:solidFill>
                </a:rPr>
                <a:t>FingerP</a:t>
              </a:r>
              <a:r>
                <a:rPr lang="vi-VN" sz="1100">
                  <a:solidFill>
                    <a:schemeClr val="bg1"/>
                  </a:solidFill>
                </a:rPr>
                <a:t> = 16</a:t>
              </a:r>
            </a:p>
            <a:p>
              <a:r>
                <a:rPr lang="vi-VN" sz="1100" err="1">
                  <a:solidFill>
                    <a:schemeClr val="bg1"/>
                  </a:solidFill>
                </a:rPr>
                <a:t>Wn</a:t>
              </a:r>
              <a:r>
                <a:rPr lang="vi-VN" sz="1100">
                  <a:solidFill>
                    <a:schemeClr val="bg1"/>
                  </a:solidFill>
                </a:rPr>
                <a:t> = 200n</a:t>
              </a:r>
            </a:p>
            <a:p>
              <a:r>
                <a:rPr lang="vi-VN" sz="1100" err="1">
                  <a:solidFill>
                    <a:schemeClr val="bg1"/>
                  </a:solidFill>
                </a:rPr>
                <a:t>FingerN</a:t>
              </a:r>
              <a:r>
                <a:rPr lang="vi-VN" sz="1100">
                  <a:solidFill>
                    <a:schemeClr val="bg1"/>
                  </a:solidFill>
                </a:rPr>
                <a:t> = 16</a:t>
              </a:r>
            </a:p>
          </p:txBody>
        </p:sp>
      </p:grpSp>
      <p:pic>
        <p:nvPicPr>
          <p:cNvPr id="2" name="Picture 1" descr="A computer drawing of a computer chip&#10;&#10;AI-generated content may be incorrect.">
            <a:extLst>
              <a:ext uri="{FF2B5EF4-FFF2-40B4-BE49-F238E27FC236}">
                <a16:creationId xmlns:a16="http://schemas.microsoft.com/office/drawing/2014/main" id="{A0E512D7-4A41-2B9A-9A30-0958FBEC1A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7990" y="1552940"/>
            <a:ext cx="493776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2369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249760A5-FDD5-33BA-AF4A-456AE15F5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6B8549D5-8229-1853-98A2-043D7B3A6498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49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865FFBE3-6A2D-68AB-A868-735C1093133D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Local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Decoder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- Testbench</a:t>
            </a:r>
          </a:p>
        </p:txBody>
      </p:sp>
      <p:pic>
        <p:nvPicPr>
          <p:cNvPr id="2" name="Hình ảnh 2">
            <a:extLst>
              <a:ext uri="{FF2B5EF4-FFF2-40B4-BE49-F238E27FC236}">
                <a16:creationId xmlns:a16="http://schemas.microsoft.com/office/drawing/2014/main" id="{FA5CA1FC-5E50-2CC0-AE92-133047523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2436"/>
            <a:ext cx="12192000" cy="503032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65E287-01FF-E971-6729-E9236A0B734E}"/>
              </a:ext>
            </a:extLst>
          </p:cNvPr>
          <p:cNvSpPr/>
          <p:nvPr/>
        </p:nvSpPr>
        <p:spPr>
          <a:xfrm>
            <a:off x="152400" y="2771775"/>
            <a:ext cx="1685925" cy="1809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D8F400-56CB-FAE8-D01F-183D51FD70CF}"/>
              </a:ext>
            </a:extLst>
          </p:cNvPr>
          <p:cNvSpPr txBox="1"/>
          <p:nvPr/>
        </p:nvSpPr>
        <p:spPr>
          <a:xfrm>
            <a:off x="414337" y="2285174"/>
            <a:ext cx="1162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solidFill>
                  <a:schemeClr val="bg1"/>
                </a:solidFill>
              </a:rPr>
              <a:t>VDD, VSS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F1A17B-81EF-8F0A-4F3D-B489CCF5F7C9}"/>
              </a:ext>
            </a:extLst>
          </p:cNvPr>
          <p:cNvSpPr/>
          <p:nvPr/>
        </p:nvSpPr>
        <p:spPr>
          <a:xfrm>
            <a:off x="2252662" y="2781300"/>
            <a:ext cx="2662238" cy="1809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D44A4C-8B15-320B-6813-3581CAE7A36B}"/>
              </a:ext>
            </a:extLst>
          </p:cNvPr>
          <p:cNvSpPr txBox="1"/>
          <p:nvPr/>
        </p:nvSpPr>
        <p:spPr>
          <a:xfrm>
            <a:off x="2514598" y="2294699"/>
            <a:ext cx="1834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err="1">
                <a:solidFill>
                  <a:schemeClr val="bg1"/>
                </a:solidFill>
              </a:rPr>
              <a:t>Input</a:t>
            </a:r>
            <a:r>
              <a:rPr lang="vi-VN">
                <a:solidFill>
                  <a:schemeClr val="bg1"/>
                </a:solidFill>
              </a:rPr>
              <a:t> B2T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4878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FC092EC2-2822-61AA-C2F2-F522F4033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70251EAB-BAE1-DA7C-CC56-DFD87AB09EED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50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CAF0907E-04D3-50E6-EC37-A3B05F2DA751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Local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Decoder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Nhóm 10">
            <a:extLst>
              <a:ext uri="{FF2B5EF4-FFF2-40B4-BE49-F238E27FC236}">
                <a16:creationId xmlns:a16="http://schemas.microsoft.com/office/drawing/2014/main" id="{4867BAAA-9E19-CC17-8D5B-56CB06BC8188}"/>
              </a:ext>
            </a:extLst>
          </p:cNvPr>
          <p:cNvGrpSpPr/>
          <p:nvPr/>
        </p:nvGrpSpPr>
        <p:grpSpPr>
          <a:xfrm>
            <a:off x="0" y="1273360"/>
            <a:ext cx="12192000" cy="5219515"/>
            <a:chOff x="0" y="819242"/>
            <a:chExt cx="12192000" cy="5219515"/>
          </a:xfrm>
        </p:grpSpPr>
        <p:pic>
          <p:nvPicPr>
            <p:cNvPr id="4" name="Hình ảnh 3">
              <a:extLst>
                <a:ext uri="{FF2B5EF4-FFF2-40B4-BE49-F238E27FC236}">
                  <a16:creationId xmlns:a16="http://schemas.microsoft.com/office/drawing/2014/main" id="{101B0174-A269-EF94-275F-6518368B9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819242"/>
              <a:ext cx="12192000" cy="5219515"/>
            </a:xfrm>
            <a:prstGeom prst="rect">
              <a:avLst/>
            </a:prstGeom>
          </p:spPr>
        </p:pic>
        <p:sp>
          <p:nvSpPr>
            <p:cNvPr id="5" name="Hộp Văn bản 1">
              <a:extLst>
                <a:ext uri="{FF2B5EF4-FFF2-40B4-BE49-F238E27FC236}">
                  <a16:creationId xmlns:a16="http://schemas.microsoft.com/office/drawing/2014/main" id="{C00A6403-7E39-B653-8200-69FCA5DB12CC}"/>
                </a:ext>
              </a:extLst>
            </p:cNvPr>
            <p:cNvSpPr txBox="1"/>
            <p:nvPr/>
          </p:nvSpPr>
          <p:spPr>
            <a:xfrm>
              <a:off x="853440" y="1242060"/>
              <a:ext cx="9296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ROW</a:t>
              </a:r>
              <a:endParaRPr lang="vi-VN"/>
            </a:p>
          </p:txBody>
        </p:sp>
        <p:sp>
          <p:nvSpPr>
            <p:cNvPr id="11" name="Hộp Văn bản 2">
              <a:extLst>
                <a:ext uri="{FF2B5EF4-FFF2-40B4-BE49-F238E27FC236}">
                  <a16:creationId xmlns:a16="http://schemas.microsoft.com/office/drawing/2014/main" id="{67BC8AAF-9C99-2606-5269-19FA0615EBE5}"/>
                </a:ext>
              </a:extLst>
            </p:cNvPr>
            <p:cNvSpPr txBox="1"/>
            <p:nvPr/>
          </p:nvSpPr>
          <p:spPr>
            <a:xfrm>
              <a:off x="853440" y="2123566"/>
              <a:ext cx="9296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COL</a:t>
              </a:r>
              <a:endParaRPr lang="vi-VN"/>
            </a:p>
          </p:txBody>
        </p:sp>
        <p:sp>
          <p:nvSpPr>
            <p:cNvPr id="12" name="Hộp Văn bản 5">
              <a:extLst>
                <a:ext uri="{FF2B5EF4-FFF2-40B4-BE49-F238E27FC236}">
                  <a16:creationId xmlns:a16="http://schemas.microsoft.com/office/drawing/2014/main" id="{385724D2-D63B-A15A-9B99-62132ADC0D5C}"/>
                </a:ext>
              </a:extLst>
            </p:cNvPr>
            <p:cNvSpPr txBox="1"/>
            <p:nvPr/>
          </p:nvSpPr>
          <p:spPr>
            <a:xfrm>
              <a:off x="640080" y="4888136"/>
              <a:ext cx="1143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PRE ROW</a:t>
              </a:r>
              <a:endParaRPr lang="vi-VN"/>
            </a:p>
          </p:txBody>
        </p:sp>
        <p:sp>
          <p:nvSpPr>
            <p:cNvPr id="13" name="Hộp Văn bản 6">
              <a:extLst>
                <a:ext uri="{FF2B5EF4-FFF2-40B4-BE49-F238E27FC236}">
                  <a16:creationId xmlns:a16="http://schemas.microsoft.com/office/drawing/2014/main" id="{808397E6-7709-E04C-993E-C3451552F01F}"/>
                </a:ext>
              </a:extLst>
            </p:cNvPr>
            <p:cNvSpPr txBox="1"/>
            <p:nvPr/>
          </p:nvSpPr>
          <p:spPr>
            <a:xfrm>
              <a:off x="640080" y="3142043"/>
              <a:ext cx="1143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OUTN</a:t>
              </a:r>
              <a:endParaRPr lang="vi-VN"/>
            </a:p>
          </p:txBody>
        </p:sp>
        <p:sp>
          <p:nvSpPr>
            <p:cNvPr id="14" name="Hộp Văn bản 7">
              <a:extLst>
                <a:ext uri="{FF2B5EF4-FFF2-40B4-BE49-F238E27FC236}">
                  <a16:creationId xmlns:a16="http://schemas.microsoft.com/office/drawing/2014/main" id="{75B3E050-F6A6-50BF-A931-DC5065A6EE2C}"/>
                </a:ext>
              </a:extLst>
            </p:cNvPr>
            <p:cNvSpPr txBox="1"/>
            <p:nvPr/>
          </p:nvSpPr>
          <p:spPr>
            <a:xfrm>
              <a:off x="693420" y="4092034"/>
              <a:ext cx="1143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OUTP</a:t>
              </a:r>
              <a:endParaRPr lang="vi-VN"/>
            </a:p>
          </p:txBody>
        </p:sp>
        <p:sp>
          <p:nvSpPr>
            <p:cNvPr id="15" name="Hình chữ nhật 8">
              <a:extLst>
                <a:ext uri="{FF2B5EF4-FFF2-40B4-BE49-F238E27FC236}">
                  <a16:creationId xmlns:a16="http://schemas.microsoft.com/office/drawing/2014/main" id="{A2F28178-8187-9FA8-4655-1349668B94C9}"/>
                </a:ext>
              </a:extLst>
            </p:cNvPr>
            <p:cNvSpPr/>
            <p:nvPr/>
          </p:nvSpPr>
          <p:spPr>
            <a:xfrm>
              <a:off x="0" y="1149350"/>
              <a:ext cx="577850" cy="12763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6" name="Hình chữ nhật 9">
              <a:extLst>
                <a:ext uri="{FF2B5EF4-FFF2-40B4-BE49-F238E27FC236}">
                  <a16:creationId xmlns:a16="http://schemas.microsoft.com/office/drawing/2014/main" id="{4F732A95-0D1D-5A8B-B5B8-A73C3D89834A}"/>
                </a:ext>
              </a:extLst>
            </p:cNvPr>
            <p:cNvSpPr/>
            <p:nvPr/>
          </p:nvSpPr>
          <p:spPr>
            <a:xfrm>
              <a:off x="0" y="2969572"/>
              <a:ext cx="577850" cy="12763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</p:spTree>
    <p:extLst>
      <p:ext uri="{BB962C8B-B14F-4D97-AF65-F5344CB8AC3E}">
        <p14:creationId xmlns:p14="http://schemas.microsoft.com/office/powerpoint/2010/main" val="29354798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89A10298-216E-4F3C-94AB-204955916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C6461575-2AB7-2211-6806-67EEA379D4E5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51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5EDE2261-B42F-C497-B1C5-FF9E7075309C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Latch –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Schematic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Hình ảnh 2">
            <a:extLst>
              <a:ext uri="{FF2B5EF4-FFF2-40B4-BE49-F238E27FC236}">
                <a16:creationId xmlns:a16="http://schemas.microsoft.com/office/drawing/2014/main" id="{E3045E49-F087-26CE-EA37-5EC4A23B5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1093559"/>
            <a:ext cx="9677400" cy="5478920"/>
          </a:xfrm>
          <a:prstGeom prst="rect">
            <a:avLst/>
          </a:prstGeom>
        </p:spPr>
      </p:pic>
      <p:sp>
        <p:nvSpPr>
          <p:cNvPr id="8" name="Hộp Văn bản 3">
            <a:extLst>
              <a:ext uri="{FF2B5EF4-FFF2-40B4-BE49-F238E27FC236}">
                <a16:creationId xmlns:a16="http://schemas.microsoft.com/office/drawing/2014/main" id="{DA08E649-C583-7CAE-75D6-73666057E9E9}"/>
              </a:ext>
            </a:extLst>
          </p:cNvPr>
          <p:cNvSpPr txBox="1"/>
          <p:nvPr/>
        </p:nvSpPr>
        <p:spPr>
          <a:xfrm>
            <a:off x="5595982" y="2009985"/>
            <a:ext cx="12090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err="1">
                <a:solidFill>
                  <a:schemeClr val="bg1"/>
                </a:solidFill>
              </a:rPr>
              <a:t>Wp</a:t>
            </a:r>
            <a:r>
              <a:rPr lang="vi-VN" sz="1100">
                <a:solidFill>
                  <a:schemeClr val="bg1"/>
                </a:solidFill>
              </a:rPr>
              <a:t> = 200nm</a:t>
            </a:r>
          </a:p>
          <a:p>
            <a:r>
              <a:rPr lang="vi-VN" sz="1100" err="1">
                <a:solidFill>
                  <a:schemeClr val="bg1"/>
                </a:solidFill>
              </a:rPr>
              <a:t>FingerP</a:t>
            </a:r>
            <a:r>
              <a:rPr lang="vi-VN" sz="1100">
                <a:solidFill>
                  <a:schemeClr val="bg1"/>
                </a:solidFill>
              </a:rPr>
              <a:t> = 10</a:t>
            </a:r>
          </a:p>
          <a:p>
            <a:r>
              <a:rPr lang="vi-VN" sz="1100" err="1">
                <a:solidFill>
                  <a:schemeClr val="bg1"/>
                </a:solidFill>
              </a:rPr>
              <a:t>Wn</a:t>
            </a:r>
            <a:r>
              <a:rPr lang="vi-VN" sz="1100">
                <a:solidFill>
                  <a:schemeClr val="bg1"/>
                </a:solidFill>
              </a:rPr>
              <a:t> = 200n</a:t>
            </a:r>
          </a:p>
          <a:p>
            <a:r>
              <a:rPr lang="vi-VN" sz="1100" err="1">
                <a:solidFill>
                  <a:schemeClr val="bg1"/>
                </a:solidFill>
              </a:rPr>
              <a:t>FingerN</a:t>
            </a:r>
            <a:r>
              <a:rPr lang="vi-VN" sz="1100">
                <a:solidFill>
                  <a:schemeClr val="bg1"/>
                </a:solidFill>
              </a:rPr>
              <a:t> = 10</a:t>
            </a:r>
          </a:p>
        </p:txBody>
      </p:sp>
      <p:sp>
        <p:nvSpPr>
          <p:cNvPr id="9" name="Hộp Văn bản 5">
            <a:extLst>
              <a:ext uri="{FF2B5EF4-FFF2-40B4-BE49-F238E27FC236}">
                <a16:creationId xmlns:a16="http://schemas.microsoft.com/office/drawing/2014/main" id="{B934CB63-33FA-DD46-0A6A-57C5ADCB93BE}"/>
              </a:ext>
            </a:extLst>
          </p:cNvPr>
          <p:cNvSpPr txBox="1"/>
          <p:nvPr/>
        </p:nvSpPr>
        <p:spPr>
          <a:xfrm>
            <a:off x="1760966" y="4408527"/>
            <a:ext cx="9549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err="1">
                <a:solidFill>
                  <a:schemeClr val="bg1"/>
                </a:solidFill>
              </a:rPr>
              <a:t>Wn</a:t>
            </a:r>
            <a:r>
              <a:rPr lang="vi-VN" sz="1100">
                <a:solidFill>
                  <a:schemeClr val="bg1"/>
                </a:solidFill>
              </a:rPr>
              <a:t> = 200n</a:t>
            </a:r>
          </a:p>
          <a:p>
            <a:r>
              <a:rPr lang="vi-VN" sz="1100" err="1">
                <a:solidFill>
                  <a:schemeClr val="bg1"/>
                </a:solidFill>
              </a:rPr>
              <a:t>FingerN</a:t>
            </a:r>
            <a:r>
              <a:rPr lang="vi-VN" sz="1100">
                <a:solidFill>
                  <a:schemeClr val="bg1"/>
                </a:solidFill>
              </a:rPr>
              <a:t> = 6</a:t>
            </a:r>
          </a:p>
        </p:txBody>
      </p:sp>
      <p:sp>
        <p:nvSpPr>
          <p:cNvPr id="10" name="Hộp Văn bản 6">
            <a:extLst>
              <a:ext uri="{FF2B5EF4-FFF2-40B4-BE49-F238E27FC236}">
                <a16:creationId xmlns:a16="http://schemas.microsoft.com/office/drawing/2014/main" id="{0F422368-88C9-FB5B-6762-5971059B7B35}"/>
              </a:ext>
            </a:extLst>
          </p:cNvPr>
          <p:cNvSpPr txBox="1"/>
          <p:nvPr/>
        </p:nvSpPr>
        <p:spPr>
          <a:xfrm>
            <a:off x="5103362" y="4468620"/>
            <a:ext cx="985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err="1">
                <a:solidFill>
                  <a:schemeClr val="bg1"/>
                </a:solidFill>
              </a:rPr>
              <a:t>Wp</a:t>
            </a:r>
            <a:r>
              <a:rPr lang="vi-VN" sz="1100">
                <a:solidFill>
                  <a:schemeClr val="bg1"/>
                </a:solidFill>
              </a:rPr>
              <a:t> = 200nm</a:t>
            </a:r>
          </a:p>
          <a:p>
            <a:r>
              <a:rPr lang="vi-VN" sz="1100" err="1">
                <a:solidFill>
                  <a:schemeClr val="bg1"/>
                </a:solidFill>
              </a:rPr>
              <a:t>FingerP</a:t>
            </a:r>
            <a:r>
              <a:rPr lang="vi-VN" sz="1100">
                <a:solidFill>
                  <a:schemeClr val="bg1"/>
                </a:solidFill>
              </a:rPr>
              <a:t> = 4</a:t>
            </a:r>
          </a:p>
          <a:p>
            <a:r>
              <a:rPr lang="vi-VN" sz="1100" err="1">
                <a:solidFill>
                  <a:schemeClr val="bg1"/>
                </a:solidFill>
              </a:rPr>
              <a:t>Wn</a:t>
            </a:r>
            <a:r>
              <a:rPr lang="vi-VN" sz="1100">
                <a:solidFill>
                  <a:schemeClr val="bg1"/>
                </a:solidFill>
              </a:rPr>
              <a:t> = 200n</a:t>
            </a:r>
          </a:p>
          <a:p>
            <a:r>
              <a:rPr lang="vi-VN" sz="1100" err="1">
                <a:solidFill>
                  <a:schemeClr val="bg1"/>
                </a:solidFill>
              </a:rPr>
              <a:t>FingerN</a:t>
            </a:r>
            <a:r>
              <a:rPr lang="vi-VN" sz="1100">
                <a:solidFill>
                  <a:schemeClr val="bg1"/>
                </a:solidFill>
              </a:rPr>
              <a:t> = 2</a:t>
            </a:r>
          </a:p>
        </p:txBody>
      </p:sp>
      <p:sp>
        <p:nvSpPr>
          <p:cNvPr id="11" name="Hộp Văn bản 9">
            <a:extLst>
              <a:ext uri="{FF2B5EF4-FFF2-40B4-BE49-F238E27FC236}">
                <a16:creationId xmlns:a16="http://schemas.microsoft.com/office/drawing/2014/main" id="{B70F15F9-1044-6299-A22F-0F38BBDCA014}"/>
              </a:ext>
            </a:extLst>
          </p:cNvPr>
          <p:cNvSpPr txBox="1"/>
          <p:nvPr/>
        </p:nvSpPr>
        <p:spPr>
          <a:xfrm>
            <a:off x="9818431" y="4468620"/>
            <a:ext cx="985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err="1">
                <a:solidFill>
                  <a:schemeClr val="bg1"/>
                </a:solidFill>
              </a:rPr>
              <a:t>Wp</a:t>
            </a:r>
            <a:r>
              <a:rPr lang="vi-VN" sz="1100">
                <a:solidFill>
                  <a:schemeClr val="bg1"/>
                </a:solidFill>
              </a:rPr>
              <a:t> = 200nm</a:t>
            </a:r>
          </a:p>
          <a:p>
            <a:r>
              <a:rPr lang="vi-VN" sz="1100" err="1">
                <a:solidFill>
                  <a:schemeClr val="bg1"/>
                </a:solidFill>
              </a:rPr>
              <a:t>FingerP</a:t>
            </a:r>
            <a:r>
              <a:rPr lang="vi-VN" sz="1100">
                <a:solidFill>
                  <a:schemeClr val="bg1"/>
                </a:solidFill>
              </a:rPr>
              <a:t> = 1</a:t>
            </a:r>
          </a:p>
          <a:p>
            <a:r>
              <a:rPr lang="vi-VN" sz="1100" err="1">
                <a:solidFill>
                  <a:schemeClr val="bg1"/>
                </a:solidFill>
              </a:rPr>
              <a:t>Wn</a:t>
            </a:r>
            <a:r>
              <a:rPr lang="vi-VN" sz="1100">
                <a:solidFill>
                  <a:schemeClr val="bg1"/>
                </a:solidFill>
              </a:rPr>
              <a:t> = 200n</a:t>
            </a:r>
          </a:p>
          <a:p>
            <a:r>
              <a:rPr lang="vi-VN" sz="1100" err="1">
                <a:solidFill>
                  <a:schemeClr val="bg1"/>
                </a:solidFill>
              </a:rPr>
              <a:t>FingerN</a:t>
            </a:r>
            <a:r>
              <a:rPr lang="vi-VN" sz="1100">
                <a:solidFill>
                  <a:schemeClr val="bg1"/>
                </a:solidFill>
              </a:rPr>
              <a:t> = 1</a:t>
            </a:r>
          </a:p>
        </p:txBody>
      </p:sp>
      <p:sp>
        <p:nvSpPr>
          <p:cNvPr id="12" name="Hộp Văn bản 10">
            <a:extLst>
              <a:ext uri="{FF2B5EF4-FFF2-40B4-BE49-F238E27FC236}">
                <a16:creationId xmlns:a16="http://schemas.microsoft.com/office/drawing/2014/main" id="{05FA5891-B9DB-A004-0DC4-3AA5DAEA8440}"/>
              </a:ext>
            </a:extLst>
          </p:cNvPr>
          <p:cNvSpPr txBox="1"/>
          <p:nvPr/>
        </p:nvSpPr>
        <p:spPr>
          <a:xfrm>
            <a:off x="8213469" y="5021070"/>
            <a:ext cx="985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err="1">
                <a:solidFill>
                  <a:schemeClr val="bg1"/>
                </a:solidFill>
              </a:rPr>
              <a:t>Wp</a:t>
            </a:r>
            <a:r>
              <a:rPr lang="vi-VN" sz="1100">
                <a:solidFill>
                  <a:schemeClr val="bg1"/>
                </a:solidFill>
              </a:rPr>
              <a:t> = 200nm</a:t>
            </a:r>
          </a:p>
          <a:p>
            <a:r>
              <a:rPr lang="vi-VN" sz="1100" err="1">
                <a:solidFill>
                  <a:schemeClr val="bg1"/>
                </a:solidFill>
              </a:rPr>
              <a:t>FingerP</a:t>
            </a:r>
            <a:r>
              <a:rPr lang="vi-VN" sz="1100">
                <a:solidFill>
                  <a:schemeClr val="bg1"/>
                </a:solidFill>
              </a:rPr>
              <a:t> = 1</a:t>
            </a:r>
          </a:p>
          <a:p>
            <a:r>
              <a:rPr lang="vi-VN" sz="1100" err="1">
                <a:solidFill>
                  <a:schemeClr val="bg1"/>
                </a:solidFill>
              </a:rPr>
              <a:t>Wn</a:t>
            </a:r>
            <a:r>
              <a:rPr lang="vi-VN" sz="1100">
                <a:solidFill>
                  <a:schemeClr val="bg1"/>
                </a:solidFill>
              </a:rPr>
              <a:t> = 200n</a:t>
            </a:r>
          </a:p>
          <a:p>
            <a:r>
              <a:rPr lang="vi-VN" sz="1100" err="1">
                <a:solidFill>
                  <a:schemeClr val="bg1"/>
                </a:solidFill>
              </a:rPr>
              <a:t>FingerN</a:t>
            </a:r>
            <a:r>
              <a:rPr lang="vi-VN" sz="1100">
                <a:solidFill>
                  <a:schemeClr val="bg1"/>
                </a:solidFill>
              </a:rPr>
              <a:t> = 1</a:t>
            </a:r>
          </a:p>
        </p:txBody>
      </p:sp>
      <p:sp>
        <p:nvSpPr>
          <p:cNvPr id="13" name="Hộp Văn bản 11">
            <a:extLst>
              <a:ext uri="{FF2B5EF4-FFF2-40B4-BE49-F238E27FC236}">
                <a16:creationId xmlns:a16="http://schemas.microsoft.com/office/drawing/2014/main" id="{9662BFCA-97ED-34C2-8CAC-0FD79794C9A6}"/>
              </a:ext>
            </a:extLst>
          </p:cNvPr>
          <p:cNvSpPr txBox="1"/>
          <p:nvPr/>
        </p:nvSpPr>
        <p:spPr>
          <a:xfrm>
            <a:off x="6511434" y="4471947"/>
            <a:ext cx="9549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err="1">
                <a:solidFill>
                  <a:schemeClr val="bg1"/>
                </a:solidFill>
              </a:rPr>
              <a:t>Wn</a:t>
            </a:r>
            <a:r>
              <a:rPr lang="vi-VN" sz="1100">
                <a:solidFill>
                  <a:schemeClr val="bg1"/>
                </a:solidFill>
              </a:rPr>
              <a:t> = 200n</a:t>
            </a:r>
          </a:p>
          <a:p>
            <a:r>
              <a:rPr lang="vi-VN" sz="1100" err="1">
                <a:solidFill>
                  <a:schemeClr val="bg1"/>
                </a:solidFill>
              </a:rPr>
              <a:t>FingerN</a:t>
            </a:r>
            <a:r>
              <a:rPr lang="vi-VN" sz="1100">
                <a:solidFill>
                  <a:schemeClr val="bg1"/>
                </a:solidFill>
              </a:rPr>
              <a:t> = 8</a:t>
            </a:r>
          </a:p>
        </p:txBody>
      </p:sp>
    </p:spTree>
    <p:extLst>
      <p:ext uri="{BB962C8B-B14F-4D97-AF65-F5344CB8AC3E}">
        <p14:creationId xmlns:p14="http://schemas.microsoft.com/office/powerpoint/2010/main" val="17996269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FCAE98AC-E289-FBC0-223E-D271FE7BC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78BEC623-6F0C-1A87-1041-B909A97D7346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52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04FEEC81-249A-0AF6-9EE5-A09B05256FA7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Latch –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" name="Nhóm 1">
            <a:extLst>
              <a:ext uri="{FF2B5EF4-FFF2-40B4-BE49-F238E27FC236}">
                <a16:creationId xmlns:a16="http://schemas.microsoft.com/office/drawing/2014/main" id="{6D05B38B-CC32-A4C0-133C-59AB5017F974}"/>
              </a:ext>
            </a:extLst>
          </p:cNvPr>
          <p:cNvGrpSpPr/>
          <p:nvPr/>
        </p:nvGrpSpPr>
        <p:grpSpPr>
          <a:xfrm>
            <a:off x="0" y="1126979"/>
            <a:ext cx="12192000" cy="5259678"/>
            <a:chOff x="0" y="593888"/>
            <a:chExt cx="12192000" cy="5259678"/>
          </a:xfrm>
        </p:grpSpPr>
        <p:pic>
          <p:nvPicPr>
            <p:cNvPr id="14" name="Hình ảnh 3">
              <a:extLst>
                <a:ext uri="{FF2B5EF4-FFF2-40B4-BE49-F238E27FC236}">
                  <a16:creationId xmlns:a16="http://schemas.microsoft.com/office/drawing/2014/main" id="{F913DE33-C9B4-0661-A697-1DE819EB7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93888"/>
              <a:ext cx="12192000" cy="5259678"/>
            </a:xfrm>
            <a:prstGeom prst="rect">
              <a:avLst/>
            </a:prstGeom>
          </p:spPr>
        </p:pic>
        <p:sp>
          <p:nvSpPr>
            <p:cNvPr id="15" name="Hộp Văn bản 5">
              <a:extLst>
                <a:ext uri="{FF2B5EF4-FFF2-40B4-BE49-F238E27FC236}">
                  <a16:creationId xmlns:a16="http://schemas.microsoft.com/office/drawing/2014/main" id="{2CD91122-7BBF-F854-FE1A-72B89C41FC4E}"/>
                </a:ext>
              </a:extLst>
            </p:cNvPr>
            <p:cNvSpPr txBox="1"/>
            <p:nvPr/>
          </p:nvSpPr>
          <p:spPr>
            <a:xfrm>
              <a:off x="239349" y="1247266"/>
              <a:ext cx="12313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OUTN local decoder</a:t>
              </a:r>
              <a:endParaRPr lang="vi-VN"/>
            </a:p>
          </p:txBody>
        </p:sp>
        <p:sp>
          <p:nvSpPr>
            <p:cNvPr id="16" name="Hộp Văn bản 6">
              <a:extLst>
                <a:ext uri="{FF2B5EF4-FFF2-40B4-BE49-F238E27FC236}">
                  <a16:creationId xmlns:a16="http://schemas.microsoft.com/office/drawing/2014/main" id="{E46BB984-6976-3986-650C-1187FDC0A308}"/>
                </a:ext>
              </a:extLst>
            </p:cNvPr>
            <p:cNvSpPr txBox="1"/>
            <p:nvPr/>
          </p:nvSpPr>
          <p:spPr>
            <a:xfrm>
              <a:off x="163149" y="2108326"/>
              <a:ext cx="12313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OUTP local decoder</a:t>
              </a:r>
              <a:endParaRPr lang="vi-VN"/>
            </a:p>
          </p:txBody>
        </p:sp>
        <p:sp>
          <p:nvSpPr>
            <p:cNvPr id="17" name="Hộp Văn bản 7">
              <a:extLst>
                <a:ext uri="{FF2B5EF4-FFF2-40B4-BE49-F238E27FC236}">
                  <a16:creationId xmlns:a16="http://schemas.microsoft.com/office/drawing/2014/main" id="{392EE073-DAD9-C5EB-76C3-EE7B50C0CA5B}"/>
                </a:ext>
              </a:extLst>
            </p:cNvPr>
            <p:cNvSpPr txBox="1"/>
            <p:nvPr/>
          </p:nvSpPr>
          <p:spPr>
            <a:xfrm>
              <a:off x="163148" y="2996169"/>
              <a:ext cx="12313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CLK</a:t>
              </a:r>
              <a:endParaRPr lang="vi-VN"/>
            </a:p>
          </p:txBody>
        </p:sp>
        <p:sp>
          <p:nvSpPr>
            <p:cNvPr id="18" name="Hộp Văn bản 8">
              <a:extLst>
                <a:ext uri="{FF2B5EF4-FFF2-40B4-BE49-F238E27FC236}">
                  <a16:creationId xmlns:a16="http://schemas.microsoft.com/office/drawing/2014/main" id="{F87D0654-A2BD-0DAA-9696-582D71337BE8}"/>
                </a:ext>
              </a:extLst>
            </p:cNvPr>
            <p:cNvSpPr txBox="1"/>
            <p:nvPr/>
          </p:nvSpPr>
          <p:spPr>
            <a:xfrm>
              <a:off x="163147" y="3934778"/>
              <a:ext cx="12313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OUTN latch</a:t>
              </a:r>
              <a:endParaRPr lang="vi-VN"/>
            </a:p>
          </p:txBody>
        </p:sp>
        <p:sp>
          <p:nvSpPr>
            <p:cNvPr id="19" name="Hộp Văn bản 9">
              <a:extLst>
                <a:ext uri="{FF2B5EF4-FFF2-40B4-BE49-F238E27FC236}">
                  <a16:creationId xmlns:a16="http://schemas.microsoft.com/office/drawing/2014/main" id="{9D774811-E26B-C768-6DA9-25BB02549BD8}"/>
                </a:ext>
              </a:extLst>
            </p:cNvPr>
            <p:cNvSpPr txBox="1"/>
            <p:nvPr/>
          </p:nvSpPr>
          <p:spPr>
            <a:xfrm>
              <a:off x="163146" y="4873387"/>
              <a:ext cx="12313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OUTP latch</a:t>
              </a:r>
              <a:endParaRPr lang="vi-VN"/>
            </a:p>
          </p:txBody>
        </p:sp>
      </p:grpSp>
    </p:spTree>
    <p:extLst>
      <p:ext uri="{BB962C8B-B14F-4D97-AF65-F5344CB8AC3E}">
        <p14:creationId xmlns:p14="http://schemas.microsoft.com/office/powerpoint/2010/main" val="8046629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40E91C41-C94C-EED6-3E71-965DCDDA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160D57D5-3A0A-C65B-81A7-DBF87ACCDEFD}"/>
              </a:ext>
            </a:extLst>
          </p:cNvPr>
          <p:cNvSpPr txBox="1"/>
          <p:nvPr/>
        </p:nvSpPr>
        <p:spPr>
          <a:xfrm>
            <a:off x="10058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53</a:t>
            </a:fld>
            <a:endParaRPr/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DA55A2E5-5E0D-D70A-D3FD-B9D76FA1B2B9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Driver – </a:t>
            </a:r>
            <a:r>
              <a:rPr lang="vi-VN" sz="4000" b="1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Nhóm 7">
            <a:extLst>
              <a:ext uri="{FF2B5EF4-FFF2-40B4-BE49-F238E27FC236}">
                <a16:creationId xmlns:a16="http://schemas.microsoft.com/office/drawing/2014/main" id="{E62B8975-C875-12F4-1451-30ECC587368C}"/>
              </a:ext>
            </a:extLst>
          </p:cNvPr>
          <p:cNvGrpSpPr/>
          <p:nvPr/>
        </p:nvGrpSpPr>
        <p:grpSpPr>
          <a:xfrm>
            <a:off x="0" y="1103078"/>
            <a:ext cx="12192000" cy="5250331"/>
            <a:chOff x="0" y="1018438"/>
            <a:chExt cx="12192000" cy="5250331"/>
          </a:xfrm>
        </p:grpSpPr>
        <p:pic>
          <p:nvPicPr>
            <p:cNvPr id="3" name="Hình ảnh 3">
              <a:extLst>
                <a:ext uri="{FF2B5EF4-FFF2-40B4-BE49-F238E27FC236}">
                  <a16:creationId xmlns:a16="http://schemas.microsoft.com/office/drawing/2014/main" id="{59B1F6CB-81D8-879A-466D-62AC50511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18438"/>
              <a:ext cx="12192000" cy="5250331"/>
            </a:xfrm>
            <a:prstGeom prst="rect">
              <a:avLst/>
            </a:prstGeom>
          </p:spPr>
        </p:pic>
        <p:sp>
          <p:nvSpPr>
            <p:cNvPr id="4" name="Hộp Văn bản 1">
              <a:extLst>
                <a:ext uri="{FF2B5EF4-FFF2-40B4-BE49-F238E27FC236}">
                  <a16:creationId xmlns:a16="http://schemas.microsoft.com/office/drawing/2014/main" id="{A57CC99E-2F56-454D-7085-DA7E7528EC72}"/>
                </a:ext>
              </a:extLst>
            </p:cNvPr>
            <p:cNvSpPr txBox="1"/>
            <p:nvPr/>
          </p:nvSpPr>
          <p:spPr>
            <a:xfrm>
              <a:off x="239349" y="1406016"/>
              <a:ext cx="12313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INN</a:t>
              </a:r>
              <a:endParaRPr lang="vi-VN"/>
            </a:p>
          </p:txBody>
        </p:sp>
        <p:sp>
          <p:nvSpPr>
            <p:cNvPr id="5" name="Hộp Văn bản 2">
              <a:extLst>
                <a:ext uri="{FF2B5EF4-FFF2-40B4-BE49-F238E27FC236}">
                  <a16:creationId xmlns:a16="http://schemas.microsoft.com/office/drawing/2014/main" id="{CF0BA725-17D1-CBD4-A2A6-E98123E78946}"/>
                </a:ext>
              </a:extLst>
            </p:cNvPr>
            <p:cNvSpPr txBox="1"/>
            <p:nvPr/>
          </p:nvSpPr>
          <p:spPr>
            <a:xfrm>
              <a:off x="239348" y="2714116"/>
              <a:ext cx="12313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INP</a:t>
              </a:r>
              <a:endParaRPr lang="vi-VN"/>
            </a:p>
          </p:txBody>
        </p:sp>
        <p:sp>
          <p:nvSpPr>
            <p:cNvPr id="7" name="Hộp Văn bản 5">
              <a:extLst>
                <a:ext uri="{FF2B5EF4-FFF2-40B4-BE49-F238E27FC236}">
                  <a16:creationId xmlns:a16="http://schemas.microsoft.com/office/drawing/2014/main" id="{12B41968-4D23-B8E6-121D-87488C88AAE7}"/>
                </a:ext>
              </a:extLst>
            </p:cNvPr>
            <p:cNvSpPr txBox="1"/>
            <p:nvPr/>
          </p:nvSpPr>
          <p:spPr>
            <a:xfrm>
              <a:off x="391748" y="5006466"/>
              <a:ext cx="12313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OUTP</a:t>
              </a:r>
              <a:endParaRPr lang="vi-VN"/>
            </a:p>
          </p:txBody>
        </p:sp>
        <p:sp>
          <p:nvSpPr>
            <p:cNvPr id="8" name="Hộp Văn bản 6">
              <a:extLst>
                <a:ext uri="{FF2B5EF4-FFF2-40B4-BE49-F238E27FC236}">
                  <a16:creationId xmlns:a16="http://schemas.microsoft.com/office/drawing/2014/main" id="{F5BE795C-45DC-574B-172D-62DD959F507B}"/>
                </a:ext>
              </a:extLst>
            </p:cNvPr>
            <p:cNvSpPr txBox="1"/>
            <p:nvPr/>
          </p:nvSpPr>
          <p:spPr>
            <a:xfrm>
              <a:off x="391747" y="3698366"/>
              <a:ext cx="12313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OUTN</a:t>
              </a:r>
              <a:endParaRPr lang="vi-VN"/>
            </a:p>
          </p:txBody>
        </p:sp>
      </p:grpSp>
    </p:spTree>
    <p:extLst>
      <p:ext uri="{BB962C8B-B14F-4D97-AF65-F5344CB8AC3E}">
        <p14:creationId xmlns:p14="http://schemas.microsoft.com/office/powerpoint/2010/main" val="2775748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3688D1-6B9D-DF94-D9C7-58D7321337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4" name="Picture 3" descr="A graph showing a sound wave&#10;&#10;AI-generated content may be incorrect.">
            <a:extLst>
              <a:ext uri="{FF2B5EF4-FFF2-40B4-BE49-F238E27FC236}">
                <a16:creationId xmlns:a16="http://schemas.microsoft.com/office/drawing/2014/main" id="{9D216860-A4CD-A23F-19F8-F1EB447EF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56" y="1060451"/>
            <a:ext cx="10787944" cy="5295900"/>
          </a:xfrm>
          <a:prstGeom prst="rect">
            <a:avLst/>
          </a:prstGeom>
        </p:spPr>
      </p:pic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DEF0DC9A-17F8-6067-81E2-019887DB65C4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en-US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Post simulation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39356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95DB72-EBC2-30C0-4FC9-201B3D3227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55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88E2E72-2278-568E-84E7-0EACE1ADD0FE}"/>
              </a:ext>
            </a:extLst>
          </p:cNvPr>
          <p:cNvGrpSpPr/>
          <p:nvPr/>
        </p:nvGrpSpPr>
        <p:grpSpPr>
          <a:xfrm>
            <a:off x="423862" y="1032050"/>
            <a:ext cx="11344275" cy="5324301"/>
            <a:chOff x="423862" y="1032050"/>
            <a:chExt cx="11344275" cy="532430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ACDB948-42AF-E058-5548-B4E6F5B7D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3862" y="1032050"/>
              <a:ext cx="11344275" cy="532430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05D670-CBAC-838C-9FD0-2E9C2590F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25707" y="1362075"/>
              <a:ext cx="3673929" cy="1590674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D5CDA83-6894-2FA6-52FE-FECCA4168E8F}"/>
                </a:ext>
              </a:extLst>
            </p:cNvPr>
            <p:cNvCxnSpPr>
              <a:stCxn id="8" idx="2"/>
            </p:cNvCxnSpPr>
            <p:nvPr/>
          </p:nvCxnSpPr>
          <p:spPr>
            <a:xfrm flipH="1">
              <a:off x="6848475" y="2952749"/>
              <a:ext cx="1114197" cy="153352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Google Shape;177;p3">
            <a:extLst>
              <a:ext uri="{FF2B5EF4-FFF2-40B4-BE49-F238E27FC236}">
                <a16:creationId xmlns:a16="http://schemas.microsoft.com/office/drawing/2014/main" id="{4EDEA9A1-5F4B-6C85-398B-8AACC7E0A9FB}"/>
              </a:ext>
            </a:extLst>
          </p:cNvPr>
          <p:cNvSpPr txBox="1">
            <a:spLocks/>
          </p:cNvSpPr>
          <p:nvPr/>
        </p:nvSpPr>
        <p:spPr>
          <a:xfrm>
            <a:off x="893762" y="142875"/>
            <a:ext cx="10821988" cy="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Clr>
                <a:srgbClr val="3376C7"/>
              </a:buClr>
              <a:buSzPts val="4000"/>
            </a:pPr>
            <a:r>
              <a:rPr lang="en-US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r>
              <a:rPr lang="vi-VN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4000" b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Post simulation @100MSPS</a:t>
            </a:r>
            <a:endParaRPr lang="vi-VN" sz="4000" b="1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03919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A49EF-8BEB-CFB3-8F7F-F48ABFE07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2;p9">
            <a:extLst>
              <a:ext uri="{FF2B5EF4-FFF2-40B4-BE49-F238E27FC236}">
                <a16:creationId xmlns:a16="http://schemas.microsoft.com/office/drawing/2014/main" id="{214F6E6D-EE05-6560-7F78-9CD75E870E1C}"/>
              </a:ext>
            </a:extLst>
          </p:cNvPr>
          <p:cNvSpPr txBox="1">
            <a:spLocks/>
          </p:cNvSpPr>
          <p:nvPr/>
        </p:nvSpPr>
        <p:spPr>
          <a:xfrm>
            <a:off x="239349" y="116632"/>
            <a:ext cx="11419448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n-GB" sz="2800" b="1">
                <a:solidFill>
                  <a:srgbClr val="002060"/>
                </a:solidFill>
                <a:latin typeface="+mj-lt"/>
              </a:rPr>
              <a:t>General system of Optical communication system – DSP based</a:t>
            </a:r>
            <a:endParaRPr lang="en-GB" sz="1100" b="1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11" name="Hình ảnh 10">
            <a:extLst>
              <a:ext uri="{FF2B5EF4-FFF2-40B4-BE49-F238E27FC236}">
                <a16:creationId xmlns:a16="http://schemas.microsoft.com/office/drawing/2014/main" id="{3DE8A57E-0B9C-B657-EE21-1FED3C1F1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586" b="98606" l="682" r="96959">
                        <a14:foregroundMark x1="24751" y1="8267" x2="16046" y2="19024"/>
                        <a14:foregroundMark x1="16046" y1="19024" x2="10697" y2="66434"/>
                        <a14:foregroundMark x1="10697" y1="66434" x2="40745" y2="97908"/>
                        <a14:foregroundMark x1="40745" y1="97908" x2="79182" y2="93127"/>
                        <a14:foregroundMark x1="79182" y1="93127" x2="95333" y2="64741"/>
                        <a14:foregroundMark x1="95333" y1="64741" x2="97063" y2="30179"/>
                        <a14:foregroundMark x1="97063" y1="30179" x2="92461" y2="18747"/>
                        <a14:foregroundMark x1="87315" y1="11670" x2="12166" y2="15538"/>
                        <a14:foregroundMark x1="12166" y1="15538" x2="11327" y2="16633"/>
                        <a14:foregroundMark x1="16413" y1="5677" x2="12113" y2="6873"/>
                        <a14:foregroundMark x1="12113" y1="6873" x2="1573" y2="25896"/>
                        <a14:foregroundMark x1="1573" y1="25896" x2="5349" y2="88247"/>
                        <a14:foregroundMark x1="5349" y1="88247" x2="15574" y2="48606"/>
                        <a14:foregroundMark x1="15574" y1="48606" x2="14840" y2="14641"/>
                        <a14:foregroundMark x1="14840" y1="14641" x2="14473" y2="12749"/>
                        <a14:foregroundMark x1="682" y1="7570" x2="78920" y2="5378"/>
                        <a14:foregroundMark x1="85632" y1="4781" x2="75406" y2="9064"/>
                        <a14:foregroundMark x1="83849" y1="3586" x2="44782" y2="7171"/>
                        <a14:foregroundMark x1="96120" y1="83865" x2="87939" y2="98606"/>
                        <a14:foregroundMark x1="87939" y1="98606" x2="87782" y2="98606"/>
                        <a14:foregroundMark x1="34190" y1="24303" x2="55532" y2="32171"/>
                        <a14:foregroundMark x1="78343" y1="22211" x2="61615" y2="20518"/>
                        <a14:foregroundMark x1="23650" y1="88048" x2="19612" y2="90239"/>
                        <a14:backgroundMark x1="90718" y1="7470" x2="96277" y2="8865"/>
                        <a14:backgroundMark x1="87100" y1="8068" x2="90456" y2="17430"/>
                        <a14:backgroundMark x1="90456" y1="17430" x2="92659" y2="18227"/>
                        <a14:backgroundMark x1="88149" y1="10657" x2="89460" y2="13347"/>
                        <a14:backgroundMark x1="92973" y1="13944" x2="90718" y2="14641"/>
                        <a14:backgroundMark x1="89407" y1="16036" x2="92764" y2="10458"/>
                        <a14:backgroundMark x1="88464" y1="16633" x2="91505" y2="12052"/>
                        <a14:backgroundMark x1="88883" y1="14741" x2="90561" y2="11753"/>
                        <a14:backgroundMark x1="89460" y1="14442" x2="91085" y2="12052"/>
                        <a14:backgroundMark x1="90666" y1="17131" x2="93393" y2="14143"/>
                        <a14:backgroundMark x1="90299" y1="15837" x2="92973" y2="1364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203" y="576492"/>
            <a:ext cx="11125594" cy="585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547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8E5F51-3EA0-DC32-CED2-E422E0CE66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3" name="Google Shape;92;p9">
            <a:extLst>
              <a:ext uri="{FF2B5EF4-FFF2-40B4-BE49-F238E27FC236}">
                <a16:creationId xmlns:a16="http://schemas.microsoft.com/office/drawing/2014/main" id="{639909DB-60D2-66BE-1116-1E013539BB0B}"/>
              </a:ext>
            </a:extLst>
          </p:cNvPr>
          <p:cNvSpPr txBox="1">
            <a:spLocks/>
          </p:cNvSpPr>
          <p:nvPr/>
        </p:nvSpPr>
        <p:spPr>
          <a:xfrm>
            <a:off x="239349" y="116632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n-US" sz="2800" b="1">
                <a:solidFill>
                  <a:srgbClr val="002060"/>
                </a:solidFill>
                <a:latin typeface="+mj-lt"/>
              </a:rPr>
              <a:t>Appendix</a:t>
            </a:r>
            <a:endParaRPr lang="en-GB" sz="1100" b="1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E2F0B769-7110-AEDC-14B5-A80E7CB1F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014" y="817306"/>
            <a:ext cx="4279638" cy="5223388"/>
          </a:xfrm>
          <a:prstGeom prst="rect">
            <a:avLst/>
          </a:prstGeom>
        </p:spPr>
      </p:pic>
      <p:sp>
        <p:nvSpPr>
          <p:cNvPr id="5" name="Hộp Văn bản 6">
            <a:extLst>
              <a:ext uri="{FF2B5EF4-FFF2-40B4-BE49-F238E27FC236}">
                <a16:creationId xmlns:a16="http://schemas.microsoft.com/office/drawing/2014/main" id="{5914E14B-BB20-530E-F42B-1D7698F1C9D5}"/>
              </a:ext>
            </a:extLst>
          </p:cNvPr>
          <p:cNvSpPr txBox="1"/>
          <p:nvPr/>
        </p:nvSpPr>
        <p:spPr>
          <a:xfrm>
            <a:off x="1101014" y="6040694"/>
            <a:ext cx="52679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/>
              <a:t>A 2 GS/s 14-bit </a:t>
            </a:r>
            <a:r>
              <a:rPr lang="vi-VN" err="1"/>
              <a:t>current-steering</a:t>
            </a:r>
            <a:r>
              <a:rPr lang="vi-VN"/>
              <a:t> DAC in 65 </a:t>
            </a:r>
            <a:r>
              <a:rPr lang="vi-VN" err="1"/>
              <a:t>nm</a:t>
            </a:r>
            <a:r>
              <a:rPr lang="vi-VN"/>
              <a:t> CMOS </a:t>
            </a:r>
            <a:r>
              <a:rPr lang="vi-VN" err="1"/>
              <a:t>technology</a:t>
            </a:r>
            <a:r>
              <a:rPr lang="vi-VN"/>
              <a:t> </a:t>
            </a:r>
            <a:r>
              <a:rPr lang="vi-VN" err="1"/>
              <a:t>for</a:t>
            </a:r>
            <a:r>
              <a:rPr lang="vi-VN"/>
              <a:t> </a:t>
            </a:r>
            <a:r>
              <a:rPr lang="vi-VN" err="1"/>
              <a:t>wireless</a:t>
            </a:r>
            <a:r>
              <a:rPr lang="vi-VN"/>
              <a:t> </a:t>
            </a:r>
            <a:r>
              <a:rPr lang="vi-VN" err="1"/>
              <a:t>transmitter</a:t>
            </a:r>
            <a:endParaRPr lang="vi-VN"/>
          </a:p>
        </p:txBody>
      </p:sp>
      <p:pic>
        <p:nvPicPr>
          <p:cNvPr id="6" name="Hình ảnh 8">
            <a:extLst>
              <a:ext uri="{FF2B5EF4-FFF2-40B4-BE49-F238E27FC236}">
                <a16:creationId xmlns:a16="http://schemas.microsoft.com/office/drawing/2014/main" id="{8D428320-5108-0AD2-0DDB-D134A88DB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069" y="1643302"/>
            <a:ext cx="5277587" cy="3524742"/>
          </a:xfrm>
          <a:prstGeom prst="rect">
            <a:avLst/>
          </a:prstGeom>
        </p:spPr>
      </p:pic>
      <p:sp>
        <p:nvSpPr>
          <p:cNvPr id="7" name="Hộp Văn bản 10">
            <a:extLst>
              <a:ext uri="{FF2B5EF4-FFF2-40B4-BE49-F238E27FC236}">
                <a16:creationId xmlns:a16="http://schemas.microsoft.com/office/drawing/2014/main" id="{17CD9818-450E-971A-931D-7454E4599E0A}"/>
              </a:ext>
            </a:extLst>
          </p:cNvPr>
          <p:cNvSpPr txBox="1"/>
          <p:nvPr/>
        </p:nvSpPr>
        <p:spPr>
          <a:xfrm>
            <a:off x="7682954" y="5219010"/>
            <a:ext cx="34080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>
                <a:latin typeface="Times-Roman"/>
              </a:rPr>
              <a:t>A 12 bit 2.9 GS/s DAC With IM3 &lt; -</a:t>
            </a:r>
            <a:r>
              <a:rPr lang="en-US" sz="1400" b="0" i="0" u="none" strike="noStrike" baseline="0">
                <a:latin typeface="T1"/>
              </a:rPr>
              <a:t> </a:t>
            </a:r>
            <a:r>
              <a:rPr lang="en-US" sz="1400" b="0" i="0" u="none" strike="noStrike" baseline="0">
                <a:latin typeface="Times-Roman"/>
              </a:rPr>
              <a:t>60 </a:t>
            </a:r>
            <a:r>
              <a:rPr lang="en-US" sz="1400" b="0" i="0" u="none" strike="noStrike" baseline="0" err="1">
                <a:latin typeface="Times-Roman"/>
              </a:rPr>
              <a:t>dBc</a:t>
            </a:r>
            <a:endParaRPr lang="en-US" sz="1400" b="0" i="0" u="none" strike="noStrike" baseline="0">
              <a:latin typeface="Times-Roman"/>
            </a:endParaRPr>
          </a:p>
          <a:p>
            <a:pPr algn="l"/>
            <a:r>
              <a:rPr lang="vi-VN" sz="1400" b="0" i="0" u="none" strike="noStrike" baseline="0" err="1">
                <a:latin typeface="Times-Roman"/>
              </a:rPr>
              <a:t>Beyond</a:t>
            </a:r>
            <a:r>
              <a:rPr lang="vi-VN" sz="1400" b="0" i="0" u="none" strike="noStrike" baseline="0">
                <a:latin typeface="Times-Roman"/>
              </a:rPr>
              <a:t> 1 </a:t>
            </a:r>
            <a:r>
              <a:rPr lang="vi-VN" sz="1400" b="0" i="0" u="none" strike="noStrike" baseline="0" err="1">
                <a:latin typeface="Times-Roman"/>
              </a:rPr>
              <a:t>GHz</a:t>
            </a:r>
            <a:r>
              <a:rPr lang="vi-VN" sz="1400" b="0" i="0" u="none" strike="noStrike" baseline="0">
                <a:latin typeface="Times-Roman"/>
              </a:rPr>
              <a:t> in 65 </a:t>
            </a:r>
            <a:r>
              <a:rPr lang="vi-VN" sz="1400" b="0" i="0" u="none" strike="noStrike" baseline="0" err="1">
                <a:latin typeface="Times-Roman"/>
              </a:rPr>
              <a:t>nm</a:t>
            </a:r>
            <a:r>
              <a:rPr lang="vi-VN" sz="1400" b="0" i="0" u="none" strike="noStrike" baseline="0">
                <a:latin typeface="Times-Roman"/>
              </a:rPr>
              <a:t> CMOS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959501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BF032-DE5E-EEEE-5A83-D0DABE238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2;p9">
            <a:extLst>
              <a:ext uri="{FF2B5EF4-FFF2-40B4-BE49-F238E27FC236}">
                <a16:creationId xmlns:a16="http://schemas.microsoft.com/office/drawing/2014/main" id="{29CF6FA3-D777-57C9-DE37-BF5E09036DDB}"/>
              </a:ext>
            </a:extLst>
          </p:cNvPr>
          <p:cNvSpPr txBox="1">
            <a:spLocks/>
          </p:cNvSpPr>
          <p:nvPr/>
        </p:nvSpPr>
        <p:spPr>
          <a:xfrm>
            <a:off x="239349" y="116632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n-US" sz="2800" b="1">
                <a:solidFill>
                  <a:srgbClr val="002060"/>
                </a:solidFill>
                <a:latin typeface="+mj-lt"/>
              </a:rPr>
              <a:t>Appendix</a:t>
            </a:r>
            <a:endParaRPr lang="en-GB" sz="1100" b="1">
              <a:solidFill>
                <a:srgbClr val="C00000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E044C9-035E-1A8F-C5C0-D3CACF0AE6FE}"/>
              </a:ext>
            </a:extLst>
          </p:cNvPr>
          <p:cNvSpPr txBox="1"/>
          <p:nvPr/>
        </p:nvSpPr>
        <p:spPr>
          <a:xfrm>
            <a:off x="239349" y="65573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/>
              <a:t>Voltage scaling DAC</a:t>
            </a:r>
          </a:p>
        </p:txBody>
      </p:sp>
      <p:pic>
        <p:nvPicPr>
          <p:cNvPr id="10" name="Hình ảnh 2" descr="Ảnh có chứa biểu đồ, hàng&#10;&#10;Nội dung do AI tạo ra có thể không chính xác.">
            <a:extLst>
              <a:ext uri="{FF2B5EF4-FFF2-40B4-BE49-F238E27FC236}">
                <a16:creationId xmlns:a16="http://schemas.microsoft.com/office/drawing/2014/main" id="{A8F04189-485D-80AC-2CBF-29DDA7677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1" y="1143456"/>
            <a:ext cx="3805272" cy="3178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7">
                <a:extLst>
                  <a:ext uri="{FF2B5EF4-FFF2-40B4-BE49-F238E27FC236}">
                    <a16:creationId xmlns:a16="http://schemas.microsoft.com/office/drawing/2014/main" id="{ADFE588B-A6B0-9CAA-C365-B62894629CCE}"/>
                  </a:ext>
                </a:extLst>
              </p:cNvPr>
              <p:cNvSpPr txBox="1"/>
              <p:nvPr/>
            </p:nvSpPr>
            <p:spPr>
              <a:xfrm>
                <a:off x="4210361" y="1975140"/>
                <a:ext cx="7981639" cy="28325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800"/>
                  <a:t>This DAC uses 2</a:t>
                </a:r>
                <a:r>
                  <a:rPr lang="en-US" sz="1800" baseline="30000"/>
                  <a:t>N</a:t>
                </a:r>
                <a:r>
                  <a:rPr lang="en-US" sz="1800"/>
                  <a:t> equal resistors to divide the reference voltage into 2</a:t>
                </a:r>
                <a:r>
                  <a:rPr lang="en-US" sz="1800" baseline="30000"/>
                  <a:t>N</a:t>
                </a:r>
                <a:r>
                  <a:rPr lang="en-US" sz="1800"/>
                  <a:t> levels.</a:t>
                </a:r>
                <a:br>
                  <a:rPr lang="en-US" sz="1800"/>
                </a:br>
                <a:r>
                  <a:rPr lang="en-US" sz="1800"/>
                  <a:t>Digital input controls switches to select one of these voltage levels as output.</a:t>
                </a:r>
                <a:br>
                  <a:rPr lang="en-US" sz="1800"/>
                </a:br>
                <a:r>
                  <a:rPr lang="en-US" sz="1800"/>
                  <a:t>The output voltage is given by: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 dirty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 dirty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  <m:r>
                        <a:rPr lang="vi-VN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vi-VN" sz="1800" i="1" dirty="0">
                              <a:latin typeface="Cambria Math" panose="02040503050406030204" pitchFamily="18" charset="0"/>
                            </a:rPr>
                            <m:t>k</m:t>
                          </m:r>
                        </m:num>
                        <m:den>
                          <m:sSup>
                            <m:sSupPr>
                              <m:ctrlPr>
                                <a:rPr lang="vi-VN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sz="1800" i="1" dirty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  <m:r>
                            <a:rPr lang="vi-VN" sz="1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vi-VN" sz="1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sSub>
                        <m:sSubPr>
                          <m:ctrlPr>
                            <a:rPr lang="vi-VN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 dirty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 dirty="0">
                              <a:latin typeface="Cambria Math" panose="02040503050406030204" pitchFamily="18" charset="0"/>
                            </a:rPr>
                            <m:t>ref</m:t>
                          </m:r>
                        </m:sub>
                      </m:sSub>
                      <m:r>
                        <a:rPr lang="vi-VN" sz="1800" i="1" dirty="0" smtClean="0">
                          <a:latin typeface="Cambria Math" panose="02040503050406030204" pitchFamily="18" charset="0"/>
                        </a:rPr>
                        <m:t>​ </m:t>
                      </m:r>
                    </m:oMath>
                  </m:oMathPara>
                </a14:m>
                <a:endParaRPr lang="vi-VN" sz="1800"/>
              </a:p>
              <a:p>
                <a:pPr algn="just"/>
                <a:r>
                  <a:rPr lang="en-US" sz="1800"/>
                  <a:t>It is simple and monotonic but not practical for high resolutions (N &gt; 8) due to large area and delay.</a:t>
                </a:r>
              </a:p>
              <a:p>
                <a:pPr algn="just"/>
                <a:r>
                  <a:rPr lang="en-US" sz="1800"/>
                  <a:t>An output buffer is needed to drive the load and reduce distortion at high frequencies.</a:t>
                </a:r>
                <a:endParaRPr lang="vi-VN" sz="1800"/>
              </a:p>
            </p:txBody>
          </p:sp>
        </mc:Choice>
        <mc:Fallback xmlns="">
          <p:sp>
            <p:nvSpPr>
              <p:cNvPr id="11" name="Hộp Văn bản 7">
                <a:extLst>
                  <a:ext uri="{FF2B5EF4-FFF2-40B4-BE49-F238E27FC236}">
                    <a16:creationId xmlns:a16="http://schemas.microsoft.com/office/drawing/2014/main" id="{ADFE588B-A6B0-9CAA-C365-B62894629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361" y="1975140"/>
                <a:ext cx="7981639" cy="2832507"/>
              </a:xfrm>
              <a:prstGeom prst="rect">
                <a:avLst/>
              </a:prstGeom>
              <a:blipFill>
                <a:blip r:embed="rId3"/>
                <a:stretch>
                  <a:fillRect l="-688" t="-1075" r="-611" b="-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Hộp Văn bản 9">
            <a:extLst>
              <a:ext uri="{FF2B5EF4-FFF2-40B4-BE49-F238E27FC236}">
                <a16:creationId xmlns:a16="http://schemas.microsoft.com/office/drawing/2014/main" id="{1B10F213-8CB8-8ABB-83E0-9BE41C83F896}"/>
              </a:ext>
            </a:extLst>
          </p:cNvPr>
          <p:cNvSpPr txBox="1"/>
          <p:nvPr/>
        </p:nvSpPr>
        <p:spPr>
          <a:xfrm>
            <a:off x="-209206" y="4507078"/>
            <a:ext cx="41124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vi-VN" sz="1400" err="1">
                <a:effectLst/>
                <a:latin typeface="+mn-lt"/>
                <a:ea typeface="Times New Roman" panose="02020603050405020304" pitchFamily="18" charset="0"/>
              </a:rPr>
              <a:t>Resistor</a:t>
            </a:r>
            <a:r>
              <a:rPr lang="vi-VN" sz="140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err="1">
                <a:effectLst/>
                <a:latin typeface="+mn-lt"/>
                <a:ea typeface="Times New Roman" panose="02020603050405020304" pitchFamily="18" charset="0"/>
              </a:rPr>
              <a:t>String</a:t>
            </a:r>
            <a:r>
              <a:rPr lang="vi-VN" sz="1400">
                <a:effectLst/>
                <a:latin typeface="+mn-lt"/>
                <a:ea typeface="Times New Roman" panose="02020603050405020304" pitchFamily="18" charset="0"/>
              </a:rPr>
              <a:t> DAC</a:t>
            </a:r>
          </a:p>
        </p:txBody>
      </p:sp>
    </p:spTree>
    <p:extLst>
      <p:ext uri="{BB962C8B-B14F-4D97-AF65-F5344CB8AC3E}">
        <p14:creationId xmlns:p14="http://schemas.microsoft.com/office/powerpoint/2010/main" val="9235130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1F4D2-738F-F7BB-B654-B923AFCF3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2;p9">
            <a:extLst>
              <a:ext uri="{FF2B5EF4-FFF2-40B4-BE49-F238E27FC236}">
                <a16:creationId xmlns:a16="http://schemas.microsoft.com/office/drawing/2014/main" id="{44F81BFF-F26D-4C76-F70B-A52FB5D27B02}"/>
              </a:ext>
            </a:extLst>
          </p:cNvPr>
          <p:cNvSpPr txBox="1">
            <a:spLocks/>
          </p:cNvSpPr>
          <p:nvPr/>
        </p:nvSpPr>
        <p:spPr>
          <a:xfrm>
            <a:off x="239349" y="116632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n-US" sz="2800" b="1">
                <a:solidFill>
                  <a:srgbClr val="002060"/>
                </a:solidFill>
                <a:latin typeface="+mj-lt"/>
              </a:rPr>
              <a:t>Appendix</a:t>
            </a:r>
            <a:endParaRPr lang="en-GB" sz="1100" b="1">
              <a:solidFill>
                <a:srgbClr val="C00000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B0AEC1-360A-DC1A-7B22-64CA7E9E0D86}"/>
              </a:ext>
            </a:extLst>
          </p:cNvPr>
          <p:cNvSpPr txBox="1"/>
          <p:nvPr/>
        </p:nvSpPr>
        <p:spPr>
          <a:xfrm>
            <a:off x="221341" y="474059"/>
            <a:ext cx="114002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/>
              <a:t>Binary weighted resistor and R-2R resistor ladder – Current scaling</a:t>
            </a:r>
          </a:p>
        </p:txBody>
      </p:sp>
      <p:pic>
        <p:nvPicPr>
          <p:cNvPr id="2" name="Hình ảnh 4" descr="Ảnh có chứa biểu đồ, hàng, Bản vẽ kỹ thuật&#10;&#10;Nội dung do AI tạo ra có thể không chính xác.">
            <a:extLst>
              <a:ext uri="{FF2B5EF4-FFF2-40B4-BE49-F238E27FC236}">
                <a16:creationId xmlns:a16="http://schemas.microsoft.com/office/drawing/2014/main" id="{E0F9D4F9-DA6D-B614-00C4-22ED5351F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000" y="914182"/>
            <a:ext cx="5860060" cy="2956668"/>
          </a:xfrm>
          <a:prstGeom prst="rect">
            <a:avLst/>
          </a:prstGeom>
        </p:spPr>
      </p:pic>
      <p:pic>
        <p:nvPicPr>
          <p:cNvPr id="4" name="Hình ảnh 1" descr="Ảnh có chứa biểu đồ, bản phác thảo, Bản vẽ kỹ thuật, hình vẽ&#10;&#10;Nội dung do AI tạo ra có thể không chính xác.">
            <a:extLst>
              <a:ext uri="{FF2B5EF4-FFF2-40B4-BE49-F238E27FC236}">
                <a16:creationId xmlns:a16="http://schemas.microsoft.com/office/drawing/2014/main" id="{25CF3204-00C2-4F84-64A0-2A72A52015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0" y="884651"/>
            <a:ext cx="5869832" cy="2971800"/>
          </a:xfrm>
          <a:prstGeom prst="rect">
            <a:avLst/>
          </a:prstGeom>
        </p:spPr>
      </p:pic>
      <p:sp>
        <p:nvSpPr>
          <p:cNvPr id="5" name="Hộp Văn bản 3">
            <a:extLst>
              <a:ext uri="{FF2B5EF4-FFF2-40B4-BE49-F238E27FC236}">
                <a16:creationId xmlns:a16="http://schemas.microsoft.com/office/drawing/2014/main" id="{1319D4AF-D16D-E57D-3FC4-BDEE25D111C1}"/>
              </a:ext>
            </a:extLst>
          </p:cNvPr>
          <p:cNvSpPr txBox="1"/>
          <p:nvPr/>
        </p:nvSpPr>
        <p:spPr>
          <a:xfrm>
            <a:off x="642160" y="3817833"/>
            <a:ext cx="45387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600" err="1">
                <a:effectLst/>
                <a:latin typeface="+mn-lt"/>
                <a:ea typeface="Times New Roman" panose="02020603050405020304" pitchFamily="18" charset="0"/>
              </a:rPr>
              <a:t>Binary</a:t>
            </a:r>
            <a:r>
              <a:rPr lang="vi-VN" sz="160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err="1">
                <a:effectLst/>
                <a:latin typeface="+mn-lt"/>
                <a:ea typeface="Times New Roman" panose="02020603050405020304" pitchFamily="18" charset="0"/>
              </a:rPr>
              <a:t>weighted</a:t>
            </a:r>
            <a:r>
              <a:rPr lang="vi-VN" sz="160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err="1">
                <a:effectLst/>
                <a:latin typeface="+mn-lt"/>
                <a:ea typeface="Times New Roman" panose="02020603050405020304" pitchFamily="18" charset="0"/>
              </a:rPr>
              <a:t>resistor</a:t>
            </a:r>
            <a:r>
              <a:rPr lang="vi-VN" sz="1600">
                <a:effectLst/>
                <a:latin typeface="+mn-lt"/>
                <a:ea typeface="Times New Roman" panose="02020603050405020304" pitchFamily="18" charset="0"/>
              </a:rPr>
              <a:t> DAC </a:t>
            </a:r>
            <a:r>
              <a:rPr lang="vi-VN" sz="1600" err="1">
                <a:effectLst/>
                <a:latin typeface="+mn-lt"/>
                <a:ea typeface="Times New Roman" panose="02020603050405020304" pitchFamily="18" charset="0"/>
              </a:rPr>
              <a:t>architecture</a:t>
            </a:r>
            <a:endParaRPr lang="vi-VN" sz="1600">
              <a:latin typeface="+mn-lt"/>
            </a:endParaRPr>
          </a:p>
        </p:txBody>
      </p:sp>
      <p:sp>
        <p:nvSpPr>
          <p:cNvPr id="6" name="Hộp Văn bản 7">
            <a:extLst>
              <a:ext uri="{FF2B5EF4-FFF2-40B4-BE49-F238E27FC236}">
                <a16:creationId xmlns:a16="http://schemas.microsoft.com/office/drawing/2014/main" id="{FE164A62-747E-A79F-6C78-D4BDF6AFFD22}"/>
              </a:ext>
            </a:extLst>
          </p:cNvPr>
          <p:cNvSpPr txBox="1"/>
          <p:nvPr/>
        </p:nvSpPr>
        <p:spPr>
          <a:xfrm>
            <a:off x="6197667" y="3787770"/>
            <a:ext cx="44386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600">
                <a:effectLst/>
                <a:latin typeface="+mn-lt"/>
                <a:ea typeface="Times New Roman" panose="02020603050405020304" pitchFamily="18" charset="0"/>
              </a:rPr>
              <a:t>R-2R </a:t>
            </a:r>
            <a:r>
              <a:rPr lang="vi-VN" sz="1600" err="1">
                <a:effectLst/>
                <a:latin typeface="+mn-lt"/>
                <a:ea typeface="Times New Roman" panose="02020603050405020304" pitchFamily="18" charset="0"/>
              </a:rPr>
              <a:t>resistor</a:t>
            </a:r>
            <a:r>
              <a:rPr lang="vi-VN" sz="160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err="1">
                <a:effectLst/>
                <a:latin typeface="+mn-lt"/>
                <a:ea typeface="Times New Roman" panose="02020603050405020304" pitchFamily="18" charset="0"/>
              </a:rPr>
              <a:t>ladder</a:t>
            </a:r>
            <a:r>
              <a:rPr lang="vi-VN" sz="1600">
                <a:effectLst/>
                <a:latin typeface="+mn-lt"/>
                <a:ea typeface="Times New Roman" panose="02020603050405020304" pitchFamily="18" charset="0"/>
              </a:rPr>
              <a:t> DAC </a:t>
            </a:r>
            <a:r>
              <a:rPr lang="vi-VN" sz="1600" err="1">
                <a:effectLst/>
                <a:latin typeface="+mn-lt"/>
                <a:ea typeface="Times New Roman" panose="02020603050405020304" pitchFamily="18" charset="0"/>
              </a:rPr>
              <a:t>architecture</a:t>
            </a:r>
            <a:endParaRPr lang="vi-VN" sz="1600">
              <a:latin typeface="+mn-lt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B5FB3C8-DD14-8F0E-57EE-70C25DBB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816" y="4291924"/>
            <a:ext cx="586983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vi-VN" sz="1800" b="1">
                <a:effectLst/>
                <a:latin typeface="+mn-lt"/>
                <a:ea typeface="Times New Roman" panose="02020603050405020304" pitchFamily="18" charset="0"/>
              </a:rPr>
              <a:t>Binary </a:t>
            </a:r>
            <a:r>
              <a:rPr lang="vi-VN" sz="1800" b="1" err="1">
                <a:effectLst/>
                <a:latin typeface="+mn-lt"/>
                <a:ea typeface="Times New Roman" panose="02020603050405020304" pitchFamily="18" charset="0"/>
              </a:rPr>
              <a:t>weighted</a:t>
            </a:r>
            <a:r>
              <a:rPr lang="vi-VN" sz="1800" b="1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800" b="1" err="1">
                <a:effectLst/>
                <a:latin typeface="+mn-lt"/>
                <a:ea typeface="Times New Roman" panose="02020603050405020304" pitchFamily="18" charset="0"/>
              </a:rPr>
              <a:t>resistor</a:t>
            </a:r>
            <a:endParaRPr kumimoji="0" lang="vi-VN" altLang="vi-V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resistors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weighted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significance</a:t>
            </a:r>
            <a:endParaRPr kumimoji="0" lang="vi-VN" altLang="vi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Analog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sum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bit-controlled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currents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impedance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 a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buffer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amplifier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-to-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voltage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conversion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Sensitive to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resistor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matching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especially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high-bit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resolutions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11">
                <a:extLst>
                  <a:ext uri="{FF2B5EF4-FFF2-40B4-BE49-F238E27FC236}">
                    <a16:creationId xmlns:a16="http://schemas.microsoft.com/office/drawing/2014/main" id="{17341BBE-7027-E6E7-84BA-76589ED44806}"/>
                  </a:ext>
                </a:extLst>
              </p:cNvPr>
              <p:cNvSpPr txBox="1"/>
              <p:nvPr/>
            </p:nvSpPr>
            <p:spPr>
              <a:xfrm>
                <a:off x="0" y="6323249"/>
                <a:ext cx="60975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 dirty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 dirty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  <m:r>
                        <a:rPr lang="vi-VN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vi-VN" sz="1800" i="1" dirty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vi-VN" sz="1800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vi-VN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 dirty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 dirty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  <m:r>
                        <a:rPr lang="vi-VN" sz="1800" i="1" dirty="0" smtClean="0">
                          <a:latin typeface="Cambria Math" panose="02040503050406030204" pitchFamily="18" charset="0"/>
                        </a:rPr>
                        <m:t>​ </m:t>
                      </m:r>
                    </m:oMath>
                  </m:oMathPara>
                </a14:m>
                <a:endParaRPr lang="vi-VN" sz="1800"/>
              </a:p>
            </p:txBody>
          </p:sp>
        </mc:Choice>
        <mc:Fallback xmlns="">
          <p:sp>
            <p:nvSpPr>
              <p:cNvPr id="8" name="Hộp Văn bản 11">
                <a:extLst>
                  <a:ext uri="{FF2B5EF4-FFF2-40B4-BE49-F238E27FC236}">
                    <a16:creationId xmlns:a16="http://schemas.microsoft.com/office/drawing/2014/main" id="{17341BBE-7027-E6E7-84BA-76589ED44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23249"/>
                <a:ext cx="609755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2">
            <a:extLst>
              <a:ext uri="{FF2B5EF4-FFF2-40B4-BE49-F238E27FC236}">
                <a16:creationId xmlns:a16="http://schemas.microsoft.com/office/drawing/2014/main" id="{96A28BEA-351A-E481-4064-49497DB17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7667" y="4272677"/>
            <a:ext cx="586983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vi-VN" sz="1800" b="1">
                <a:effectLst/>
                <a:latin typeface="+mn-lt"/>
                <a:ea typeface="Times New Roman" panose="02020603050405020304" pitchFamily="18" charset="0"/>
              </a:rPr>
              <a:t>R-2R </a:t>
            </a:r>
            <a:r>
              <a:rPr lang="vi-VN" sz="1800" b="1" err="1">
                <a:effectLst/>
                <a:latin typeface="+mn-lt"/>
                <a:ea typeface="Times New Roman" panose="02020603050405020304" pitchFamily="18" charset="0"/>
              </a:rPr>
              <a:t>Ladder</a:t>
            </a:r>
            <a:r>
              <a:rPr lang="vi-VN" sz="1800" b="1">
                <a:effectLst/>
                <a:latin typeface="+mn-lt"/>
                <a:ea typeface="Times New Roman" panose="02020603050405020304" pitchFamily="18" charset="0"/>
              </a:rPr>
              <a:t> DAC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two resistor values: R and 2R</a:t>
            </a:r>
            <a:r>
              <a:rPr kumimoji="0" lang="en-US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simplifying layout and improving matching.</a:t>
            </a:r>
            <a:endParaRPr kumimoji="0" lang="vi-VN" altLang="vi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Offers </a:t>
            </a:r>
            <a:r>
              <a:rPr kumimoji="0" lang="en-US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smaller area</a:t>
            </a:r>
            <a:r>
              <a:rPr kumimoji="0" lang="en-US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accuracy</a:t>
            </a:r>
            <a:r>
              <a:rPr kumimoji="0" lang="en-US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lower power </a:t>
            </a:r>
            <a:r>
              <a:rPr kumimoji="0" lang="en-US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 binary-weighted DACs.</a:t>
            </a:r>
            <a:endParaRPr kumimoji="0" lang="vi-VN" altLang="vi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Sensitive to switch resistance </a:t>
            </a:r>
            <a:r>
              <a:rPr kumimoji="0" lang="en-US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mismatch, limiting resolution.</a:t>
            </a:r>
            <a:endParaRPr kumimoji="0" lang="vi-VN" altLang="vi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Bandwidth of output buffer often </a:t>
            </a:r>
            <a:r>
              <a:rPr kumimoji="0" lang="en-US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limits speed </a:t>
            </a:r>
            <a:r>
              <a:rPr kumimoji="0" lang="en-US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best for low-cost, low-resolution applications.</a:t>
            </a:r>
            <a:endParaRPr kumimoji="0" lang="vi-VN" altLang="vi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9221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A7DBE-14A9-7E32-76AA-28344F7A3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2;p9">
            <a:extLst>
              <a:ext uri="{FF2B5EF4-FFF2-40B4-BE49-F238E27FC236}">
                <a16:creationId xmlns:a16="http://schemas.microsoft.com/office/drawing/2014/main" id="{93209B16-5C14-6C51-8966-97660FE6BC12}"/>
              </a:ext>
            </a:extLst>
          </p:cNvPr>
          <p:cNvSpPr txBox="1">
            <a:spLocks/>
          </p:cNvSpPr>
          <p:nvPr/>
        </p:nvSpPr>
        <p:spPr>
          <a:xfrm>
            <a:off x="239349" y="116632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n-US" sz="2800" b="1">
                <a:solidFill>
                  <a:srgbClr val="002060"/>
                </a:solidFill>
                <a:latin typeface="+mj-lt"/>
              </a:rPr>
              <a:t>Appendix</a:t>
            </a:r>
            <a:endParaRPr lang="en-GB" sz="1100" b="1">
              <a:solidFill>
                <a:srgbClr val="C00000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EF1A87-C4CA-54EA-8576-FF216B689A0A}"/>
              </a:ext>
            </a:extLst>
          </p:cNvPr>
          <p:cNvSpPr txBox="1"/>
          <p:nvPr/>
        </p:nvSpPr>
        <p:spPr>
          <a:xfrm>
            <a:off x="239349" y="65573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/>
              <a:t>Capacitor DAC</a:t>
            </a:r>
          </a:p>
        </p:txBody>
      </p:sp>
      <p:pic>
        <p:nvPicPr>
          <p:cNvPr id="2" name="Hình ảnh 1" descr="Ảnh có chứa biểu đồ, hàng, Bản vẽ kỹ thuật, Kế hoạch&#10;&#10;Nội dung do AI tạo ra có thể không chính xác.">
            <a:extLst>
              <a:ext uri="{FF2B5EF4-FFF2-40B4-BE49-F238E27FC236}">
                <a16:creationId xmlns:a16="http://schemas.microsoft.com/office/drawing/2014/main" id="{22A17CCB-C606-C1B9-D58B-925A2EB15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324" y="1324786"/>
            <a:ext cx="3570512" cy="436082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F29A8B1-6C09-23A4-A594-83F9C8B6E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2722" y="1935539"/>
            <a:ext cx="736885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capacitors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instead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resistors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analog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capacitors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equal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encoded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thermometer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binary-weighted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capacitors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Active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bits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switch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their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capacitors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GND to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Vref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voltage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charge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redistribution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No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current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consumption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Resilient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timing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jitter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charge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stays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constant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despite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delays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Capacitor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mismatch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causes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non-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linearity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ADCs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SAR </a:t>
            </a:r>
            <a:r>
              <a:rPr kumimoji="0" lang="vi-VN" altLang="vi-V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ADCs</a:t>
            </a:r>
            <a: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151773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2994</Words>
  <Application>Microsoft Office PowerPoint</Application>
  <PresentationFormat>Widescreen</PresentationFormat>
  <Paragraphs>568</Paragraphs>
  <Slides>60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60</vt:i4>
      </vt:variant>
    </vt:vector>
  </HeadingPairs>
  <TitlesOfParts>
    <vt:vector size="71" baseType="lpstr">
      <vt:lpstr>Arial</vt:lpstr>
      <vt:lpstr>Arial (Đầu đề)</vt:lpstr>
      <vt:lpstr>Calibri</vt:lpstr>
      <vt:lpstr>Cambria Math</vt:lpstr>
      <vt:lpstr>HelveticaNeue Regular</vt:lpstr>
      <vt:lpstr>T1</vt:lpstr>
      <vt:lpstr>Times New Roman</vt:lpstr>
      <vt:lpstr>Times-Roman</vt:lpstr>
      <vt:lpstr>2_Office Theme</vt:lpstr>
      <vt:lpstr>1_Office Theme</vt:lpstr>
      <vt:lpstr>Office Theme</vt:lpstr>
      <vt:lpstr>PowerPoint Presentation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HOANG Trang</dc:creator>
  <cp:lastModifiedBy>ngo viet</cp:lastModifiedBy>
  <cp:revision>1</cp:revision>
  <dcterms:created xsi:type="dcterms:W3CDTF">2010-08-18T20:21:10Z</dcterms:created>
  <dcterms:modified xsi:type="dcterms:W3CDTF">2026-01-08T07:52:22Z</dcterms:modified>
</cp:coreProperties>
</file>